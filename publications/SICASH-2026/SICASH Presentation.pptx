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2.jfif" ContentType="image/jpe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9" r:id="rId3"/>
    <p:sldId id="261" r:id="rId4"/>
    <p:sldId id="262" r:id="rId5"/>
    <p:sldId id="263" r:id="rId6"/>
    <p:sldId id="264" r:id="rId7"/>
    <p:sldId id="272" r:id="rId21"/>
    <p:sldId id="265" r:id="rId8"/>
    <p:sldId id="273" r:id="rId22"/>
    <p:sldId id="266" r:id="rId9"/>
    <p:sldId id="274" r:id="rId23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7.xml"/><Relationship Id="rId22" Type="http://schemas.openxmlformats.org/officeDocument/2006/relationships/slide" Target="slides/slide9.xml"/><Relationship Id="rId23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800" b="1">
                <a:latin typeface="Arial"/>
              </a:rPr>
              <a:t>Epoch share by sleep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Epochs (%)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1-D7B6-42D6-953E-DD38759F4724}"/>
              </c:ext>
            </c:extLst>
          </c:dPt>
          <c:dPt>
            <c:idx val="1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3-D7B6-42D6-953E-DD38759F4724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D7B6-42D6-953E-DD38759F4724}"/>
              </c:ext>
            </c:extLst>
          </c:dPt>
          <c:dPt>
            <c:idx val="3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7-D7B6-42D6-953E-DD38759F4724}"/>
              </c:ext>
            </c:extLst>
          </c:dPt>
          <c:dPt>
            <c:idx val="4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9-D7B6-42D6-953E-DD38759F4724}"/>
              </c:ext>
            </c:extLst>
          </c:dPt>
          <c:dPt>
            <c:idx val="5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B-D7B6-42D6-953E-DD38759F472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13.5</c:v>
                </c:pt>
                <c:pt idx="1">
                  <c:v>6.5</c:v>
                </c:pt>
                <c:pt idx="2">
                  <c:v>47.7</c:v>
                </c:pt>
                <c:pt idx="3">
                  <c:v>10.5</c:v>
                </c:pt>
                <c:pt idx="4">
                  <c:v>8.6</c:v>
                </c:pt>
                <c:pt idx="5">
                  <c:v>13.3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D7B6-42D6-953E-DD38759F47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6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E31A-449E-9C4D-97A31F60BE4C}"/>
              </c:ext>
            </c:extLst>
          </c:dPt>
          <c:dPt>
            <c:idx val="1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3-E31A-449E-9C4D-97A31F60BE4C}"/>
              </c:ext>
            </c:extLst>
          </c:dPt>
          <c:dPt>
            <c:idx val="2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5-E31A-449E-9C4D-97A31F60BE4C}"/>
              </c:ext>
            </c:extLst>
          </c:dPt>
          <c:dPt>
            <c:idx val="3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7-E31A-449E-9C4D-97A31F60BE4C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GASF</c:v>
                </c:pt>
                <c:pt idx="1">
                  <c:v>GADF</c:v>
                </c:pt>
                <c:pt idx="2">
                  <c:v>MTF</c:v>
                </c:pt>
                <c:pt idx="3">
                  <c:v>Spectrogram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78.5</c:v>
                </c:pt>
                <c:pt idx="1">
                  <c:v>77.2</c:v>
                </c:pt>
                <c:pt idx="2">
                  <c:v>75.8</c:v>
                </c:pt>
                <c:pt idx="3">
                  <c:v>74.099999999999994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E31A-449E-9C4D-97A31F60BE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2"/>
          <c:min val="6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DWT</c:v>
                </c:pt>
              </c:strCache>
            </c:strRef>
          </c:tx>
          <c:spPr>
            <a:ln w="44450">
              <a:solidFill>
                <a:srgbClr val="6A2C91"/>
              </a:solidFill>
            </a:ln>
          </c:spPr>
          <c:marker>
            <c:symbol val="diamond"/>
            <c:size val="9"/>
            <c:spPr>
              <a:solidFill>
                <a:srgbClr val="6A2C91"/>
              </a:solidFill>
              <a:ln>
                <a:solidFill>
                  <a:srgbClr val="6A2C91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64 Hz</c:v>
                </c:pt>
                <c:pt idx="1">
                  <c:v>128 Hz</c:v>
                </c:pt>
                <c:pt idx="2">
                  <c:v>256 Hz</c:v>
                </c:pt>
                <c:pt idx="3">
                  <c:v>512 Hz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75.900000000000006</c:v>
                </c:pt>
                <c:pt idx="1">
                  <c:v>80.3</c:v>
                </c:pt>
                <c:pt idx="2">
                  <c:v>79.099999999999994</c:v>
                </c:pt>
                <c:pt idx="3">
                  <c:v>78.5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BB-46E3-88D1-FEBADA9511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FFT</c:v>
                </c:pt>
              </c:strCache>
            </c:strRef>
          </c:tx>
          <c:spPr>
            <a:ln w="44450">
              <a:solidFill>
                <a:srgbClr val="B8B8C0"/>
              </a:solidFill>
            </a:ln>
          </c:spPr>
          <c:marker>
            <c:symbol val="square"/>
            <c:size val="9"/>
            <c:spPr>
              <a:solidFill>
                <a:srgbClr val="B8B8C0"/>
              </a:solidFill>
              <a:ln>
                <a:solidFill>
                  <a:srgbClr val="B8B8C0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64 Hz</c:v>
                </c:pt>
                <c:pt idx="1">
                  <c:v>128 Hz</c:v>
                </c:pt>
                <c:pt idx="2">
                  <c:v>256 Hz</c:v>
                </c:pt>
                <c:pt idx="3">
                  <c:v>512 Hz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73.5</c:v>
                </c:pt>
                <c:pt idx="1">
                  <c:v>76.2</c:v>
                </c:pt>
                <c:pt idx="2">
                  <c:v>77.8</c:v>
                </c:pt>
                <c:pt idx="3">
                  <c:v>78.5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BB-46E3-88D1-FEBADA95115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82"/>
          <c:min val="7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endParaRPr lang="en-US"/>
          </a:p>
        </c:txPr>
        <c:crossAx val="2118791784"/>
        <c:crosses val="autoZero"/>
        <c:crossBetween val="between"/>
        <c:majorUnit val="4"/>
      </c:valAx>
    </c:plotArea>
    <c:legend>
      <c:legendPos val="b"/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Pre-trained ViT-B/16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Balanced</c:v>
                </c:pt>
                <c:pt idx="1">
                  <c:v>Imbalanced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86.2</c:v>
                </c:pt>
                <c:pt idx="1">
                  <c:v>80.5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8F2-4F60-900E-49DE2B1A12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From scratch</c:v>
                </c:pt>
              </c:strCache>
            </c:strRef>
          </c:tx>
          <c:spPr>
            <a:solidFill>
              <a:srgbClr val="B8B8C0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Balanced</c:v>
                </c:pt>
                <c:pt idx="1">
                  <c:v>Imbalanced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74.8</c:v>
                </c:pt>
                <c:pt idx="1">
                  <c:v>68.3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8F2-4F60-900E-49DE2B1A12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2"/>
          <c:min val="5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10"/>
      </c:valAx>
    </c:plotArea>
    <c:legend>
      <c:legendPos val="b"/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1-B2B5-404B-924E-BC2C707EC10A}"/>
              </c:ext>
            </c:extLst>
          </c:dPt>
          <c:dPt>
            <c:idx val="1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3-B2B5-404B-924E-BC2C707EC10A}"/>
              </c:ext>
            </c:extLst>
          </c:dPt>
          <c:dPt>
            <c:idx val="2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5-B2B5-404B-924E-BC2C707EC10A}"/>
              </c:ext>
            </c:extLst>
          </c:dPt>
          <c:dPt>
            <c:idx val="3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7-B2B5-404B-924E-BC2C707EC10A}"/>
              </c:ext>
            </c:extLst>
          </c:dPt>
          <c:dPt>
            <c:idx val="4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9-B2B5-404B-924E-BC2C707EC10A}"/>
              </c:ext>
            </c:extLst>
          </c:dPt>
          <c:dPt>
            <c:idx val="5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B-B2B5-404B-924E-BC2C707EC10A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B2B5-404B-924E-BC2C707EC10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ResNet-50</c:v>
                </c:pt>
                <c:pt idx="1">
                  <c:v>PVT-Small</c:v>
                </c:pt>
                <c:pt idx="2">
                  <c:v>ViT-B/32</c:v>
                </c:pt>
                <c:pt idx="3">
                  <c:v>DeiT-B</c:v>
                </c:pt>
                <c:pt idx="4">
                  <c:v>BEiT-B</c:v>
                </c:pt>
                <c:pt idx="5">
                  <c:v>Swin-B</c:v>
                </c:pt>
                <c:pt idx="6">
                  <c:v>ViT-B/16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76.2</c:v>
                </c:pt>
                <c:pt idx="1">
                  <c:v>81.8</c:v>
                </c:pt>
                <c:pt idx="2">
                  <c:v>83.2</c:v>
                </c:pt>
                <c:pt idx="3">
                  <c:v>84.3</c:v>
                </c:pt>
                <c:pt idx="4">
                  <c:v>84.6</c:v>
                </c:pt>
                <c:pt idx="5">
                  <c:v>85.1</c:v>
                </c:pt>
                <c:pt idx="6">
                  <c:v>86.2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E-B2B5-404B-924E-BC2C707EC1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0"/>
          <c:min val="70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800" b="1">
                <a:latin typeface="Arial"/>
              </a:rPr>
              <a:t>Per-class F1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Balanced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0.90500000000000003</c:v>
                </c:pt>
                <c:pt idx="1">
                  <c:v>0.72099999999999997</c:v>
                </c:pt>
                <c:pt idx="2">
                  <c:v>0.92200000000000004</c:v>
                </c:pt>
                <c:pt idx="3">
                  <c:v>0.8</c:v>
                </c:pt>
                <c:pt idx="4">
                  <c:v>0.78400000000000003</c:v>
                </c:pt>
                <c:pt idx="5">
                  <c:v>0.79500000000000004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030-4E08-A552-41F681A924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Imbalanced</c:v>
                </c:pt>
              </c:strCache>
            </c:strRef>
          </c:tx>
          <c:spPr>
            <a:solidFill>
              <a:srgbClr val="B8B8C0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0.85199999999999998</c:v>
                </c:pt>
                <c:pt idx="1">
                  <c:v>0.51200000000000001</c:v>
                </c:pt>
                <c:pt idx="2">
                  <c:v>0.88700000000000001</c:v>
                </c:pt>
                <c:pt idx="3">
                  <c:v>0.66700000000000004</c:v>
                </c:pt>
                <c:pt idx="4">
                  <c:v>0.64700000000000002</c:v>
                </c:pt>
                <c:pt idx="5">
                  <c:v>0.85099999999999998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030-4E08-A552-41F681A924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4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0.25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223329-03F0-FF8F-B36F-125319C66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AE4C0-6C13-ACE3-E4D0-367369B332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30534-A088-416E-A2F9-35D140DE51C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4B510-C6C8-FC79-60AA-55D1C9A048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B21A2-5BE4-97DB-6582-2D288265E5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4FF4C-B3CD-4FE6-A436-84C841BE6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13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C05B-51E2-45C0-825E-6D2B9E51675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2BBA8-BED4-4509-B761-494B8FCD1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1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1CBE5-77A0-4FDD-85F7-FC2D1852FEF2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9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F44A-77D3-4BB8-9A23-DA098C140D0C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22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C2B9-7629-4850-85D5-711B31CBC5B4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3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5A0E-08F7-45F6-B9C3-BFE3E108BB1A}" type="datetime1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74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8671-6C49-4FB4-B44C-0EF2DF8CC272}" type="datetime1">
              <a:rPr lang="en-GB" smtClean="0"/>
              <a:t>07/10/2026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46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6E87-C810-4AA2-A0C3-D9F9E17DC1BA}" type="datetime1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09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574A-20FB-4D1F-BE5E-DEF165510D6A}" type="datetime1">
              <a:rPr lang="en-GB" smtClean="0"/>
              <a:t>07/10/2026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77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6B1B-D984-4E94-893A-04A31792E094}" type="datetime1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5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DF240-5094-4DA6-BEA6-75E5E377CA15}" type="datetime1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36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D2B9-55BA-4BF0-819B-00B31A404040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7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5255-AC07-47F9-AA41-C5403224B816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335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7C2D0-045A-4468-98A8-AC6B66F93128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44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fif"/><Relationship Id="rId4" Type="http://schemas.openxmlformats.org/officeDocument/2006/relationships/image" Target="../media/image3.jpeg"/><Relationship Id="rId5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4.xml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6.xml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fif"/><Relationship Id="rId4" Type="http://schemas.openxmlformats.org/officeDocument/2006/relationships/image" Target="../media/image3.jpe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ctrTitle"/>
          </p:nvPr>
        </p:nvSpPr>
        <p:spPr>
          <a:xfrm>
            <a:off x="1280160" y="2850000"/>
            <a:ext cx="9966960" cy="1828800"/>
          </a:xfrm>
        </p:spPr>
        <p:txBody>
          <a:bodyPr anchor="ctr">
            <a:noAutofit/>
          </a:bodyPr>
          <a:lstStyle/>
          <a:p>
            <a:r>
              <a:rPr sz="3400" b="1" i="0">
                <a:solidFill>
                  <a:srgbClr val="222222"/>
                </a:solidFill>
                <a:latin typeface="Arial"/>
              </a:rPr>
              <a:t>Systematic Evaluation of Signal-to-Image Transformation Pipelines for Vision Transformer-based Sleep Stage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A496-4F77-3583-3F8B-718D9DBA80B5}"/>
              </a:ext>
            </a:extLst>
          </p:cNvPr>
          <p:cNvSpPr txBox="1"/>
          <p:nvPr/>
        </p:nvSpPr>
        <p:spPr>
          <a:xfrm>
            <a:off x="639297" y="32826"/>
            <a:ext cx="715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BioMed Frontiers 2026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International Conference on Biomedical Innovation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D04B73-364B-763C-6356-6B65E41FDF88}"/>
              </a:ext>
            </a:extLst>
          </p:cNvPr>
          <p:cNvSpPr txBox="1">
            <a:spLocks/>
          </p:cNvSpPr>
          <p:nvPr/>
        </p:nvSpPr>
        <p:spPr>
          <a:xfrm>
            <a:off x="1280160" y="4800000"/>
            <a:ext cx="996696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400" b="0" i="0">
                <a:solidFill>
                  <a:srgbClr val="222222"/>
                </a:solidFill>
                <a:latin typeface="Arial"/>
              </a:rPr>
              <a:t>Janith R.R.H. Ramanayakage and Chandima N.P.G. Arachchige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Arial"/>
              </a:rPr>
              <a:t>Department of Statistics, Faculty of Science, University of Colombo, Sri Lanka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7911C-0848-35C2-F1D9-7C0729DF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51" y="160642"/>
            <a:ext cx="1393723" cy="480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B16FE5-67AF-EC55-1026-D554106B541F}"/>
              </a:ext>
            </a:extLst>
          </p:cNvPr>
          <p:cNvSpPr txBox="1"/>
          <p:nvPr/>
        </p:nvSpPr>
        <p:spPr>
          <a:xfrm>
            <a:off x="639297" y="617537"/>
            <a:ext cx="6626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Paper ID: 45 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627C2F-1A9D-9FB5-8032-6FE0A548C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94" y="-60006"/>
            <a:ext cx="712435" cy="6947502"/>
          </a:xfrm>
          <a:prstGeom prst="rect">
            <a:avLst/>
          </a:prstGeom>
        </p:spPr>
      </p:pic>
      <p:pic>
        <p:nvPicPr>
          <p:cNvPr id="3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5E5E8475-DC2F-14D7-48F2-CF6706CC06D3}"/>
              </a:ext>
            </a:extLst>
          </p:cNvPr>
          <p:cNvPicPr>
            <a:picLocks/>
          </p:cNvPicPr>
          <p:nvPr/>
        </p:nvPicPr>
        <p:blipFill>
          <a:blip r:embed="rId4" cstate="print"/>
          <a:srcRect r="55514"/>
          <a:stretch>
            <a:fillRect/>
          </a:stretch>
        </p:blipFill>
        <p:spPr>
          <a:xfrm>
            <a:off x="6877516" y="106423"/>
            <a:ext cx="2109170" cy="711201"/>
          </a:xfrm>
          <a:prstGeom prst="rect">
            <a:avLst/>
          </a:prstGeom>
        </p:spPr>
      </p:pic>
      <p:pic>
        <p:nvPicPr>
          <p:cNvPr id="7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CFBF7450-3208-9B32-2482-51B84D6C3A78}"/>
              </a:ext>
            </a:extLst>
          </p:cNvPr>
          <p:cNvPicPr>
            <a:picLocks/>
          </p:cNvPicPr>
          <p:nvPr/>
        </p:nvPicPr>
        <p:blipFill>
          <a:blip r:embed="rId4" cstate="print"/>
          <a:srcRect l="72390" t="24311"/>
          <a:stretch>
            <a:fillRect/>
          </a:stretch>
        </p:blipFill>
        <p:spPr>
          <a:xfrm>
            <a:off x="9045683" y="170912"/>
            <a:ext cx="1393723" cy="711201"/>
          </a:xfrm>
          <a:prstGeom prst="rect">
            <a:avLst/>
          </a:prstGeom>
        </p:spPr>
      </p:pic>
      <p:pic>
        <p:nvPicPr>
          <p:cNvPr id="23" name="University of Colombo logo" descr="Universityof-colomb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8433" y="1450000"/>
            <a:ext cx="1090415" cy="12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49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8EE59B51-D589-9B48-9902-466A83A53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>
            <a:normAutofit/>
          </a:bodyPr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Why automate sleep staging?</a:t>
            </a:r>
          </a:p>
        </p:txBody>
      </p: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8" name="Icon badge"/>
          <p:cNvSpPr/>
          <p:nvPr/>
        </p:nvSpPr>
        <p:spPr>
          <a:xfrm>
            <a:off x="841248" y="1691640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 moon" descr="mo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847088"/>
            <a:ext cx="466344" cy="466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1645920"/>
            <a:ext cx="493776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Sleep disorders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(insomnia, apnoea, narcolepsy) are widespread</a:t>
            </a:r>
          </a:p>
        </p:txBody>
      </p:sp>
      <p:sp>
        <p:nvSpPr>
          <p:cNvPr id="11" name="Icon badge"/>
          <p:cNvSpPr/>
          <p:nvPr/>
        </p:nvSpPr>
        <p:spPr>
          <a:xfrm>
            <a:off x="841248" y="2770632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 wave" descr="wav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926080"/>
            <a:ext cx="466344" cy="4663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83080" y="2724912"/>
            <a:ext cx="493776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Gold standard: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manual scoring of polysomnography (PSG)</a:t>
            </a:r>
          </a:p>
        </p:txBody>
      </p:sp>
      <p:sp>
        <p:nvSpPr>
          <p:cNvPr id="14" name="Icon badge"/>
          <p:cNvSpPr/>
          <p:nvPr/>
        </p:nvSpPr>
        <p:spPr>
          <a:xfrm>
            <a:off x="841248" y="3849624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 clock" descr="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005072"/>
            <a:ext cx="466344" cy="466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83080" y="3803904"/>
            <a:ext cx="493776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Slow and subjective: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hours per night; experts disagree</a:t>
            </a:r>
          </a:p>
        </p:txBody>
      </p:sp>
      <p:sp>
        <p:nvSpPr>
          <p:cNvPr id="17" name="Icon badge"/>
          <p:cNvSpPr/>
          <p:nvPr/>
        </p:nvSpPr>
        <p:spPr>
          <a:xfrm>
            <a:off x="841248" y="4928616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con brain" descr="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084064"/>
            <a:ext cx="466344" cy="4663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83080" y="4882896"/>
            <a:ext cx="493776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Deep learning: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CNN/RNN → Vision Transformers (ViTs)</a:t>
            </a:r>
          </a:p>
        </p:txBody>
      </p:sp>
      <p:sp>
        <p:nvSpPr>
          <p:cNvPr id="20" name="Stat card"/>
          <p:cNvSpPr/>
          <p:nvPr/>
        </p:nvSpPr>
        <p:spPr>
          <a:xfrm>
            <a:off x="6949440" y="16916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at value"/>
          <p:cNvSpPr txBox="1"/>
          <p:nvPr/>
        </p:nvSpPr>
        <p:spPr>
          <a:xfrm>
            <a:off x="6949440" y="1764792"/>
            <a:ext cx="228600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6A2C91"/>
                </a:solidFill>
                <a:latin typeface="Arial"/>
              </a:rPr>
              <a:t>1–3 h</a:t>
            </a:r>
          </a:p>
        </p:txBody>
      </p:sp>
      <p:sp>
        <p:nvSpPr>
          <p:cNvPr id="22" name="Stat label"/>
          <p:cNvSpPr txBox="1"/>
          <p:nvPr/>
        </p:nvSpPr>
        <p:spPr>
          <a:xfrm>
            <a:off x="7040879" y="2715768"/>
            <a:ext cx="2103120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to score one full-night recording</a:t>
            </a:r>
          </a:p>
        </p:txBody>
      </p:sp>
      <p:sp>
        <p:nvSpPr>
          <p:cNvPr id="23" name="Stat card"/>
          <p:cNvSpPr/>
          <p:nvPr/>
        </p:nvSpPr>
        <p:spPr>
          <a:xfrm>
            <a:off x="9418320" y="16916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tat value"/>
          <p:cNvSpPr txBox="1"/>
          <p:nvPr/>
        </p:nvSpPr>
        <p:spPr>
          <a:xfrm>
            <a:off x="9418320" y="1764792"/>
            <a:ext cx="228600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6A2C91"/>
                </a:solidFill>
                <a:latin typeface="Arial"/>
              </a:rPr>
              <a:t>82.6%</a:t>
            </a:r>
          </a:p>
        </p:txBody>
      </p:sp>
      <p:sp>
        <p:nvSpPr>
          <p:cNvPr id="25" name="Stat label"/>
          <p:cNvSpPr txBox="1"/>
          <p:nvPr/>
        </p:nvSpPr>
        <p:spPr>
          <a:xfrm>
            <a:off x="9509760" y="2715768"/>
            <a:ext cx="2103120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inter-scorer agreement, experienced experts</a:t>
            </a:r>
          </a:p>
        </p:txBody>
      </p:sp>
      <p:sp>
        <p:nvSpPr>
          <p:cNvPr id="26" name="Stat card"/>
          <p:cNvSpPr/>
          <p:nvPr/>
        </p:nvSpPr>
        <p:spPr>
          <a:xfrm>
            <a:off x="6949440" y="3703320"/>
            <a:ext cx="4754880" cy="105000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tat value"/>
          <p:cNvSpPr txBox="1"/>
          <p:nvPr/>
        </p:nvSpPr>
        <p:spPr>
          <a:xfrm>
            <a:off x="6949440" y="3730000"/>
            <a:ext cx="4754880" cy="6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50–70 M</a:t>
            </a:r>
          </a:p>
        </p:txBody>
      </p:sp>
      <p:sp>
        <p:nvSpPr>
          <p:cNvPr id="28" name="Stat label"/>
          <p:cNvSpPr txBox="1"/>
          <p:nvPr/>
        </p:nvSpPr>
        <p:spPr>
          <a:xfrm>
            <a:off x="7040879" y="4300000"/>
            <a:ext cx="457200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US adults living with a sleep disorder</a:t>
            </a:r>
          </a:p>
        </p:txBody>
      </p:sp>
      <p:sp>
        <p:nvSpPr>
          <p:cNvPr id="20" name="Scoring card"/>
          <p:cNvSpPr/>
          <p:nvPr/>
        </p:nvSpPr>
        <p:spPr>
          <a:xfrm>
            <a:off x="6949440" y="4950000"/>
            <a:ext cx="4754880" cy="10000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coring text"/>
          <p:cNvSpPr txBox="1"/>
          <p:nvPr/>
        </p:nvSpPr>
        <p:spPr>
          <a:xfrm>
            <a:off x="7040879" y="5030000"/>
            <a:ext cx="4572000" cy="8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Two scoring standards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R&amp;K: Wake, S1, S2, S3, S4, REM (used here)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AASM: W, N1, N2, N3, R (S3 + S4 merged)</a:t>
            </a:r>
          </a:p>
        </p:txBody>
      </p:sp>
    </p:spTree>
    <p:extLst>
      <p:ext uri="{BB962C8B-B14F-4D97-AF65-F5344CB8AC3E}">
        <p14:creationId xmlns:p14="http://schemas.microsoft.com/office/powerpoint/2010/main" val="4236368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Research gap and objectives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3</a:t>
            </a:fld>
            <a:endParaRPr lang="en-GB"/>
          </a:p>
        </p:txBody>
      </p:sp>
      <p:sp>
        <p:nvSpPr>
          <p:cNvPr id="8" name="Gap card"/>
          <p:cNvSpPr/>
          <p:nvPr/>
        </p:nvSpPr>
        <p:spPr>
          <a:xfrm>
            <a:off x="841248" y="1645920"/>
            <a:ext cx="5029200" cy="420624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con badge"/>
          <p:cNvSpPr/>
          <p:nvPr/>
        </p:nvSpPr>
        <p:spPr>
          <a:xfrm>
            <a:off x="1005840" y="173736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search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4708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737360"/>
            <a:ext cx="39319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The gap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1005840" y="25146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Prior ViT work uses spectrograms or raw signals only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GASF, GADF and MTF never compared for ViTs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Best sampling rate before imaging unknown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Pre-training value on PSG images unclear</a:t>
            </a:r>
          </a:p>
        </p:txBody>
      </p:sp>
      <p:sp>
        <p:nvSpPr>
          <p:cNvPr id="13" name="Icon badge"/>
          <p:cNvSpPr/>
          <p:nvPr/>
        </p:nvSpPr>
        <p:spPr>
          <a:xfrm>
            <a:off x="6355080" y="173736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 flask" descr="flas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84708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1737360"/>
            <a:ext cx="42976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Four experiments</a:t>
            </a:r>
          </a:p>
        </p:txBody>
      </p:sp>
      <p:sp>
        <p:nvSpPr>
          <p:cNvPr id="16" name="Number badge"/>
          <p:cNvSpPr/>
          <p:nvPr/>
        </p:nvSpPr>
        <p:spPr>
          <a:xfrm>
            <a:off x="6355080" y="251460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468880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Image transformation: GASF, GADF, MTF, spectrogram</a:t>
            </a:r>
          </a:p>
        </p:txBody>
      </p:sp>
      <p:sp>
        <p:nvSpPr>
          <p:cNvPr id="18" name="Number badge"/>
          <p:cNvSpPr/>
          <p:nvPr/>
        </p:nvSpPr>
        <p:spPr>
          <a:xfrm>
            <a:off x="6355080" y="333756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291840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Sampling rate: 512 / 256 / 128 / 64 Hz, FFT vs DWT</a:t>
            </a:r>
          </a:p>
        </p:txBody>
      </p:sp>
      <p:sp>
        <p:nvSpPr>
          <p:cNvPr id="20" name="Number badge"/>
          <p:cNvSpPr/>
          <p:nvPr/>
        </p:nvSpPr>
        <p:spPr>
          <a:xfrm>
            <a:off x="6355080" y="416052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114800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Pre-trained vs from-scratch ViT, balanced vs imbalanced</a:t>
            </a:r>
          </a:p>
        </p:txBody>
      </p:sp>
      <p:sp>
        <p:nvSpPr>
          <p:cNvPr id="22" name="Number badge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937760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Seven architectures incl. ResNet-50 baseline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Dataset: CAP Sleep Database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4</a:t>
            </a:fld>
            <a:endParaRPr lang="en-GB"/>
          </a:p>
        </p:txBody>
      </p:sp>
      <p:sp>
        <p:nvSpPr>
          <p:cNvPr id="8" name="Stat card"/>
          <p:cNvSpPr/>
          <p:nvPr/>
        </p:nvSpPr>
        <p:spPr>
          <a:xfrm>
            <a:off x="841248" y="16459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t value"/>
          <p:cNvSpPr txBox="1"/>
          <p:nvPr/>
        </p:nvSpPr>
        <p:spPr>
          <a:xfrm>
            <a:off x="841248" y="1719072"/>
            <a:ext cx="246888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80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932688" y="2414016"/>
            <a:ext cx="228600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recordings (6 healthy, 74 patients)</a:t>
            </a:r>
          </a:p>
        </p:txBody>
      </p:sp>
      <p:sp>
        <p:nvSpPr>
          <p:cNvPr id="11" name="Stat card"/>
          <p:cNvSpPr/>
          <p:nvPr/>
        </p:nvSpPr>
        <p:spPr>
          <a:xfrm>
            <a:off x="3474720" y="16459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value"/>
          <p:cNvSpPr txBox="1"/>
          <p:nvPr/>
        </p:nvSpPr>
        <p:spPr>
          <a:xfrm>
            <a:off x="3474720" y="1719072"/>
            <a:ext cx="246888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80,667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3566160" y="2414016"/>
            <a:ext cx="228600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30-second epochs</a:t>
            </a:r>
          </a:p>
        </p:txBody>
      </p:sp>
      <p:sp>
        <p:nvSpPr>
          <p:cNvPr id="14" name="Stat card"/>
          <p:cNvSpPr/>
          <p:nvPr/>
        </p:nvSpPr>
        <p:spPr>
          <a:xfrm>
            <a:off x="841248" y="3200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at value"/>
          <p:cNvSpPr txBox="1"/>
          <p:nvPr/>
        </p:nvSpPr>
        <p:spPr>
          <a:xfrm>
            <a:off x="841248" y="3273552"/>
            <a:ext cx="246888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16</a:t>
            </a:r>
          </a:p>
        </p:txBody>
      </p:sp>
      <p:sp>
        <p:nvSpPr>
          <p:cNvPr id="16" name="Stat label"/>
          <p:cNvSpPr txBox="1"/>
          <p:nvPr/>
        </p:nvSpPr>
        <p:spPr>
          <a:xfrm>
            <a:off x="932688" y="3968496"/>
            <a:ext cx="228600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channels at 512 Hz</a:t>
            </a:r>
          </a:p>
        </p:txBody>
      </p:sp>
      <p:sp>
        <p:nvSpPr>
          <p:cNvPr id="17" name="Stat card"/>
          <p:cNvSpPr/>
          <p:nvPr/>
        </p:nvSpPr>
        <p:spPr>
          <a:xfrm>
            <a:off x="3474720" y="3200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at value"/>
          <p:cNvSpPr txBox="1"/>
          <p:nvPr/>
        </p:nvSpPr>
        <p:spPr>
          <a:xfrm>
            <a:off x="3474720" y="3273552"/>
            <a:ext cx="246888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6</a:t>
            </a:r>
          </a:p>
        </p:txBody>
      </p:sp>
      <p:sp>
        <p:nvSpPr>
          <p:cNvPr id="19" name="Stat label"/>
          <p:cNvSpPr txBox="1"/>
          <p:nvPr/>
        </p:nvSpPr>
        <p:spPr>
          <a:xfrm>
            <a:off x="3566160" y="3968496"/>
            <a:ext cx="228600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stages: Wake, S1–S4, REM</a:t>
            </a:r>
          </a:p>
        </p:txBody>
      </p:sp>
      <p:sp>
        <p:nvSpPr>
          <p:cNvPr id="20" name="Validation note"/>
          <p:cNvSpPr/>
          <p:nvPr/>
        </p:nvSpPr>
        <p:spPr>
          <a:xfrm>
            <a:off x="841248" y="4754880"/>
            <a:ext cx="5102352" cy="109728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800600"/>
            <a:ext cx="48920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6A2C91"/>
                </a:solidFill>
                <a:latin typeface="Arial"/>
              </a:rPr>
              <a:t>Subject-wise 5-fold CV: </a:t>
            </a:r>
            <a:r>
              <a:rPr sz="1800" b="0" i="0">
                <a:solidFill>
                  <a:srgbClr val="222222"/>
                </a:solidFill>
                <a:latin typeface="Arial"/>
              </a:rPr>
              <a:t>no subject in both train and test</a:t>
            </a:r>
          </a:p>
        </p:txBody>
      </p:sp>
      <p:graphicFrame>
        <p:nvGraphicFramePr>
          <p:cNvPr id="22" name="Chart"/>
          <p:cNvGraphicFramePr>
            <a:graphicFrameLocks noGrp="1"/>
          </p:cNvGraphicFramePr>
          <p:nvPr/>
        </p:nvGraphicFramePr>
        <p:xfrm>
          <a:off x="6217920" y="160020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 dirty="0">
                <a:solidFill>
                  <a:srgbClr val="222222"/>
                </a:solidFill>
                <a:latin typeface="Arial"/>
              </a:rPr>
              <a:t>Proposed </a:t>
            </a:r>
            <a:r>
              <a:rPr lang="en-US" sz="4000" b="1" i="0" dirty="0">
                <a:solidFill>
                  <a:srgbClr val="222222"/>
                </a:solidFill>
                <a:latin typeface="Arial"/>
              </a:rPr>
              <a:t>P</a:t>
            </a:r>
            <a:r>
              <a:rPr sz="4000" b="1" i="0" dirty="0">
                <a:solidFill>
                  <a:srgbClr val="222222"/>
                </a:solidFill>
                <a:latin typeface="Arial"/>
              </a:rPr>
              <a:t>ipeline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5</a:t>
            </a:fld>
            <a:endParaRPr lang="en-GB"/>
          </a:p>
        </p:txBody>
      </p:sp>
      <p:sp>
        <p:nvSpPr>
          <p:cNvPr id="8" name="Figure backing"/>
          <p:cNvSpPr/>
          <p:nvPr/>
        </p:nvSpPr>
        <p:spPr>
          <a:xfrm>
            <a:off x="1794248" y="1371600"/>
            <a:ext cx="8603197" cy="429768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Figure 1 pipeline" descr="new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408" y="1543586"/>
            <a:ext cx="8328877" cy="3953707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841248" y="5760720"/>
            <a:ext cx="7680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66666"/>
                </a:solidFill>
                <a:latin typeface="Arial"/>
              </a:rPr>
              <a:t>Figure 1. Overall five-stage pipeline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wipe dir="r"/>
      </p:transition>
    </mc:Choice>
    <mc:Fallback>
      <p:transition spd="med">
        <p:wipe dir="r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Four </a:t>
            </a:r>
            <a:r>
              <a:rPr lang="en-US" sz="4000" b="1" i="0">
                <a:solidFill>
                  <a:srgbClr val="222222"/>
                </a:solidFill>
                <a:latin typeface="Arial"/>
              </a:rPr>
              <a:t>S</a:t>
            </a:r>
            <a:r>
              <a:rPr sz="4000" b="1" i="0">
                <a:solidFill>
                  <a:srgbClr val="222222"/>
                </a:solidFill>
                <a:latin typeface="Arial"/>
              </a:rPr>
              <a:t>ignal-</a:t>
            </a:r>
            <a:r>
              <a:rPr lang="en-US" sz="4000" b="1">
                <a:solidFill>
                  <a:srgbClr val="222222"/>
                </a:solidFill>
                <a:latin typeface="Arial"/>
              </a:rPr>
              <a:t>t</a:t>
            </a:r>
            <a:r>
              <a:rPr sz="4000" b="1" i="0">
                <a:solidFill>
                  <a:srgbClr val="222222"/>
                </a:solidFill>
                <a:latin typeface="Arial"/>
              </a:rPr>
              <a:t>o-</a:t>
            </a:r>
            <a:r>
              <a:rPr lang="en-US" sz="4000" b="1" i="0">
                <a:solidFill>
                  <a:srgbClr val="222222"/>
                </a:solidFill>
                <a:latin typeface="Arial"/>
              </a:rPr>
              <a:t>I</a:t>
            </a:r>
            <a:r>
              <a:rPr sz="4000" b="1" i="0">
                <a:solidFill>
                  <a:srgbClr val="222222"/>
                </a:solidFill>
                <a:latin typeface="Arial"/>
              </a:rPr>
              <a:t>mage </a:t>
            </a:r>
            <a:r>
              <a:rPr sz="4000" b="1" i="0" dirty="0">
                <a:solidFill>
                  <a:srgbClr val="222222"/>
                </a:solidFill>
                <a:latin typeface="Arial"/>
              </a:rPr>
              <a:t>transformations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6</a:t>
            </a:fld>
            <a:endParaRPr lang="en-GB"/>
          </a:p>
        </p:txBody>
      </p:sp>
      <p:sp>
        <p:nvSpPr>
          <p:cNvPr id="8" name="Method card"/>
          <p:cNvSpPr/>
          <p:nvPr/>
        </p:nvSpPr>
        <p:spPr>
          <a:xfrm>
            <a:off x="84124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con badge"/>
          <p:cNvSpPr/>
          <p:nvPr/>
        </p:nvSpPr>
        <p:spPr>
          <a:xfrm>
            <a:off x="1709928" y="18288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img" descr="im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2" y="1975104"/>
            <a:ext cx="43891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" y="2606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GASF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0"/>
            <a:ext cx="22860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Gramian Angular Summation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840480"/>
            <a:ext cx="2194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Summed angles; preserves global temporal correlation</a:t>
            </a:r>
          </a:p>
        </p:txBody>
      </p:sp>
      <p:sp>
        <p:nvSpPr>
          <p:cNvPr id="14" name="Method card"/>
          <p:cNvSpPr/>
          <p:nvPr/>
        </p:nvSpPr>
        <p:spPr>
          <a:xfrm>
            <a:off x="349300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con badge"/>
          <p:cNvSpPr/>
          <p:nvPr/>
        </p:nvSpPr>
        <p:spPr>
          <a:xfrm>
            <a:off x="4361688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layer" descr="lay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975104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84448" y="2606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GADF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3108960"/>
            <a:ext cx="22860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Gramian Angular Difference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840480"/>
            <a:ext cx="2194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Difference of angles; less globally coherent</a:t>
            </a:r>
          </a:p>
        </p:txBody>
      </p:sp>
      <p:sp>
        <p:nvSpPr>
          <p:cNvPr id="20" name="Method card"/>
          <p:cNvSpPr/>
          <p:nvPr/>
        </p:nvSpPr>
        <p:spPr>
          <a:xfrm>
            <a:off x="614476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con badge"/>
          <p:cNvSpPr/>
          <p:nvPr/>
        </p:nvSpPr>
        <p:spPr>
          <a:xfrm>
            <a:off x="7013448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cogs" descr="co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975104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36207" y="2606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MTF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3108960"/>
            <a:ext cx="22860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Markov Transition 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840480"/>
            <a:ext cx="2194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32 bins; quantisation loss, slow (5 s/epoch)</a:t>
            </a:r>
          </a:p>
        </p:txBody>
      </p:sp>
      <p:sp>
        <p:nvSpPr>
          <p:cNvPr id="26" name="Method card"/>
          <p:cNvSpPr/>
          <p:nvPr/>
        </p:nvSpPr>
        <p:spPr>
          <a:xfrm>
            <a:off x="879652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con badge"/>
          <p:cNvSpPr/>
          <p:nvPr/>
        </p:nvSpPr>
        <p:spPr>
          <a:xfrm>
            <a:off x="9665207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 wave" descr="wav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975104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87967" y="2606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Spectrogram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7" y="3108960"/>
            <a:ext cx="22860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STFT, Hamming 256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3840480"/>
            <a:ext cx="2194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Fixed time–frequency resolution</a:t>
            </a:r>
          </a:p>
        </p:txBody>
      </p:sp>
      <p:sp>
        <p:nvSpPr>
          <p:cNvPr id="32" name="!!Takeaway card"/>
          <p:cNvSpPr/>
          <p:nvPr/>
        </p:nvSpPr>
        <p:spPr>
          <a:xfrm>
            <a:off x="841248" y="516636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!!Icon bolt" descr="bo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330952"/>
            <a:ext cx="493776" cy="493776"/>
          </a:xfrm>
          <a:prstGeom prst="rect">
            <a:avLst/>
          </a:prstGeom>
        </p:spPr>
      </p:pic>
      <p:sp>
        <p:nvSpPr>
          <p:cNvPr id="34" name="!!Takeaway"/>
          <p:cNvSpPr txBox="1"/>
          <p:nvPr/>
        </p:nvSpPr>
        <p:spPr>
          <a:xfrm>
            <a:off x="1728216" y="5166360"/>
            <a:ext cx="93268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16 images → 4×4 grid → 224×224×3 → ViT-B/16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wipe dir="r"/>
      </p:transition>
    </mc:Choice>
    <mc:Fallback>
      <p:transition spd="med">
        <p:wipe dir="r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Same epoch, four images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6</a:t>
            </a:fld>
            <a:endParaRPr lang="en-GB"/>
          </a:p>
        </p:txBody>
      </p:sp>
      <p:sp>
        <p:nvSpPr>
          <p:cNvPr id="14" name="Method card"/>
          <p:cNvSpPr/>
          <p:nvPr/>
        </p:nvSpPr>
        <p:spPr>
          <a:xfrm>
            <a:off x="841248" y="1554480"/>
            <a:ext cx="10515600" cy="39000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248" y="1640000"/>
            <a:ext cx="10315600" cy="380000"/>
          </a:xfrm>
          <a:prstGeom prst="rect">
            <a:avLst/>
          </a:prstGeom>
          <a:noFill/>
        </p:spPr>
        <p:txBody>
          <a:bodyPr wrap="non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One subject, one 30 s epoch, original 512 Hz: 16 channels tiled into a 4×4 composite</a:t>
            </a:r>
          </a:p>
        </p:txBody>
      </p:sp>
      <p:pic>
        <p:nvPicPr>
          <p:cNvPr id="15" name="Picture 14" descr="ts2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248" y="2080000"/>
            <a:ext cx="10115600" cy="27479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1248" y="4887972"/>
            <a:ext cx="2528900" cy="380000"/>
          </a:xfrm>
          <a:prstGeom prst="rect">
            <a:avLst/>
          </a:prstGeom>
          <a:noFill/>
        </p:spPr>
        <p:txBody>
          <a:bodyPr wrap="non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Angle difference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0148" y="4887972"/>
            <a:ext cx="2528900" cy="380000"/>
          </a:xfrm>
          <a:prstGeom prst="rect">
            <a:avLst/>
          </a:prstGeom>
          <a:noFill/>
        </p:spPr>
        <p:txBody>
          <a:bodyPr wrap="non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Angle 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4887972"/>
            <a:ext cx="2528900" cy="380000"/>
          </a:xfrm>
          <a:prstGeom prst="rect">
            <a:avLst/>
          </a:prstGeom>
          <a:noFill/>
        </p:spPr>
        <p:txBody>
          <a:bodyPr wrap="non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Time–frequency (STFT)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7948" y="4887972"/>
            <a:ext cx="2528900" cy="380000"/>
          </a:xfrm>
          <a:prstGeom prst="rect">
            <a:avLst/>
          </a:prstGeom>
          <a:noFill/>
        </p:spPr>
        <p:txBody>
          <a:bodyPr wrap="non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Transition probabilities</a:t>
            </a:r>
          </a:p>
        </p:txBody>
      </p:sp>
      <p:sp>
        <p:nvSpPr>
          <p:cNvPr id="32" name="!!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!!Icon bol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34" name="!!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The encoding changes the texture the ViT sees; GASF keeps rich structure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GASF performs best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7</a:t>
            </a:fld>
            <a:endParaRPr lang="en-GB"/>
          </a:p>
        </p:txBody>
      </p:sp>
      <p:sp>
        <p:nvSpPr>
          <p:cNvPr id="8" name="!!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!!Progress dot 1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Progress dot 2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Progress dot 3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rogress dot 4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!!Stat card A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Stat value A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78.5%</a:t>
            </a:r>
          </a:p>
        </p:txBody>
      </p:sp>
      <p:sp>
        <p:nvSpPr>
          <p:cNvPr id="17" name="!!Stat label A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GASF accuracy (macro-F1 0.773)</a:t>
            </a:r>
          </a:p>
        </p:txBody>
      </p:sp>
      <p:sp>
        <p:nvSpPr>
          <p:cNvPr id="18" name="!!Stat card B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tat value B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5.0 s</a:t>
            </a:r>
          </a:p>
        </p:txBody>
      </p:sp>
      <p:sp>
        <p:nvSpPr>
          <p:cNvPr id="20" name="!!Stat label B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MTF time per epoch vs 0.2 s for GASF</a:t>
            </a:r>
          </a:p>
        </p:txBody>
      </p:sp>
      <p:sp>
        <p:nvSpPr>
          <p:cNvPr id="21" name="!!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!!Icon bolt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!!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GASF ≈ GADF; both clearly beat MTF and spectrogram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Downsampling: FFT vs DWT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6</a:t>
            </a:fld>
            <a:endParaRPr lang="en-GB"/>
          </a:p>
        </p:txBody>
      </p:sp>
      <p:sp>
        <p:nvSpPr>
          <p:cNvPr id="14" name="Method card"/>
          <p:cNvSpPr/>
          <p:nvPr/>
        </p:nvSpPr>
        <p:spPr>
          <a:xfrm>
            <a:off x="841248" y="1554480"/>
            <a:ext cx="7000000" cy="40500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248" y="1680000"/>
            <a:ext cx="6100000" cy="1657106"/>
          </a:xfrm>
          <a:prstGeom prst="rect">
            <a:avLst/>
          </a:prstGeom>
        </p:spPr>
      </p:pic>
      <p:pic>
        <p:nvPicPr>
          <p:cNvPr id="16" name="Picture 15" descr="dw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248" y="3487106"/>
            <a:ext cx="6100000" cy="16571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1248" y="2318553"/>
            <a:ext cx="680000" cy="380000"/>
          </a:xfrm>
          <a:prstGeom prst="rect">
            <a:avLst/>
          </a:prstGeom>
          <a:noFill/>
        </p:spPr>
        <p:txBody>
          <a:bodyPr wrap="non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FFT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248" y="4125659"/>
            <a:ext cx="680000" cy="380000"/>
          </a:xfrm>
          <a:prstGeom prst="rect">
            <a:avLst/>
          </a:prstGeom>
          <a:noFill/>
        </p:spPr>
        <p:txBody>
          <a:bodyPr wrap="non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Arial"/>
              </a:rPr>
              <a:t>DWT</a:t>
            </a:r>
          </a:p>
        </p:txBody>
      </p:sp>
      <p:sp>
        <p:nvSpPr>
          <p:cNvPr id="15" name="!!Stat card A"/>
          <p:cNvSpPr/>
          <p:nvPr/>
        </p:nvSpPr>
        <p:spPr>
          <a:xfrm>
            <a:off x="8238160" y="1645920"/>
            <a:ext cx="3118840" cy="400000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Stat label A"/>
          <p:cNvSpPr txBox="1"/>
          <p:nvPr/>
        </p:nvSpPr>
        <p:spPr>
          <a:xfrm>
            <a:off x="8318160" y="1750000"/>
            <a:ext cx="3000000" cy="37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What to look for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GASF images of the same epoch, resampled to 64, 128, 256 Hz and the 512 Hz original.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FFT: image structure stays almost the same at every rate.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DWT: images change visibly below 256 Hz; 128 Hz is the sweet spot for accuracy (next slide).</a:t>
            </a:r>
          </a:p>
        </p:txBody>
      </p:sp>
      <p:sp>
        <p:nvSpPr>
          <p:cNvPr id="32" name="!!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!!Icon bol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34" name="!!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Same epoch, same GASF encoding; only the resampling method differs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DWT at 128 Hz is optimal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8</a:t>
            </a:fld>
            <a:endParaRPr lang="en-GB"/>
          </a:p>
        </p:txBody>
      </p:sp>
      <p:sp>
        <p:nvSpPr>
          <p:cNvPr id="8" name="!!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!!Progress dot 1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Progress dot 2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Progress dot 3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rogress dot 4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!!Stat card A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Stat value A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80.3%</a:t>
            </a:r>
          </a:p>
        </p:txBody>
      </p:sp>
      <p:sp>
        <p:nvSpPr>
          <p:cNvPr id="17" name="!!Stat label A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DWT @ 128 Hz (macro-F1 0.791)</a:t>
            </a:r>
          </a:p>
        </p:txBody>
      </p:sp>
      <p:sp>
        <p:nvSpPr>
          <p:cNvPr id="18" name="!!Stat card B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tat value B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+1.8 pp</a:t>
            </a:r>
          </a:p>
        </p:txBody>
      </p:sp>
      <p:sp>
        <p:nvSpPr>
          <p:cNvPr id="20" name="!!Stat label B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over original 512 Hz signals</a:t>
            </a:r>
          </a:p>
        </p:txBody>
      </p:sp>
      <p:sp>
        <p:nvSpPr>
          <p:cNvPr id="21" name="!!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!!Icon bolt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!!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DWT beats FFT at every reduced rate; peak at 128 Hz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Class balancing with DCGAN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6</a:t>
            </a:fld>
            <a:endParaRPr lang="en-GB"/>
          </a:p>
        </p:txBody>
      </p:sp>
      <p:sp>
        <p:nvSpPr>
          <p:cNvPr id="14" name="Method card"/>
          <p:cNvSpPr/>
          <p:nvPr/>
        </p:nvSpPr>
        <p:spPr>
          <a:xfrm>
            <a:off x="841248" y="1554480"/>
            <a:ext cx="7000000" cy="40500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angene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248" y="1680000"/>
            <a:ext cx="6000000" cy="31280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1248" y="4898072"/>
            <a:ext cx="6800000" cy="380000"/>
          </a:xfrm>
          <a:prstGeom prst="rect">
            <a:avLst/>
          </a:prstGeom>
          <a:noFill/>
        </p:spPr>
        <p:txBody>
          <a:bodyPr wrap="non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Real GASF composite vs DCGAN-generated sample, same class</a:t>
            </a:r>
          </a:p>
        </p:txBody>
      </p:sp>
      <p:sp>
        <p:nvSpPr>
          <p:cNvPr id="15" name="!!Stat card A"/>
          <p:cNvSpPr/>
          <p:nvPr/>
        </p:nvSpPr>
        <p:spPr>
          <a:xfrm>
            <a:off x="8238160" y="1645920"/>
            <a:ext cx="3118840" cy="400000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Stat label A"/>
          <p:cNvSpPr txBox="1"/>
          <p:nvPr/>
        </p:nvSpPr>
        <p:spPr>
          <a:xfrm>
            <a:off x="8318160" y="1750000"/>
            <a:ext cx="3000000" cy="37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How it works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A DCGAN learns the GASF composites of each under-represented class.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Synthetic images are added to training folds only.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Test folds stay 100% real, so there is no leakage.</a:t>
            </a:r>
          </a:p>
        </p:txBody>
      </p:sp>
      <p:sp>
        <p:nvSpPr>
          <p:cNvPr id="32" name="!!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!!Icon bol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34" name="!!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Synthetic samples keep the 4×4 channel layout and balance the classes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Pre-training adds 11+ points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9</a:t>
            </a:fld>
            <a:endParaRPr lang="en-GB"/>
          </a:p>
        </p:txBody>
      </p:sp>
      <p:sp>
        <p:nvSpPr>
          <p:cNvPr id="8" name="!!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!!Progress dot 1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Progress dot 2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Progress dot 3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rogress dot 4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!!Stat card A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Stat value A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+11.4 pp</a:t>
            </a:r>
          </a:p>
        </p:txBody>
      </p:sp>
      <p:sp>
        <p:nvSpPr>
          <p:cNvPr id="17" name="!!Stat label A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balanced: 86.2% vs 74.8%</a:t>
            </a:r>
          </a:p>
        </p:txBody>
      </p:sp>
      <p:sp>
        <p:nvSpPr>
          <p:cNvPr id="18" name="!!Stat card B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tat value B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+12.2 pp</a:t>
            </a:r>
          </a:p>
        </p:txBody>
      </p:sp>
      <p:sp>
        <p:nvSpPr>
          <p:cNvPr id="20" name="!!Stat label B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imbalanced: 80.5% vs 68.3%</a:t>
            </a:r>
          </a:p>
        </p:txBody>
      </p:sp>
      <p:sp>
        <p:nvSpPr>
          <p:cNvPr id="21" name="!!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!!Icon bolt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!!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Balancing (DCGAN, training folds only) adds ≈ 5.7 pp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ViT-B/16 beats other models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10</a:t>
            </a:fld>
            <a:endParaRPr lang="en-GB"/>
          </a:p>
        </p:txBody>
      </p:sp>
      <p:sp>
        <p:nvSpPr>
          <p:cNvPr id="8" name="!!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!!Progress dot 1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Progress dot 2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Progress dot 3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rogress dot 4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!!Stat card A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Stat value A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86.2%</a:t>
            </a:r>
          </a:p>
        </p:txBody>
      </p:sp>
      <p:sp>
        <p:nvSpPr>
          <p:cNvPr id="17" name="!!Stat label A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ViT-B/16 (macro-F1 0.853)</a:t>
            </a:r>
          </a:p>
        </p:txBody>
      </p:sp>
      <p:sp>
        <p:nvSpPr>
          <p:cNvPr id="18" name="!!Stat card B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tat value B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+10.0 pp</a:t>
            </a:r>
          </a:p>
        </p:txBody>
      </p:sp>
      <p:sp>
        <p:nvSpPr>
          <p:cNvPr id="20" name="!!Stat label B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over ResNet-50 CNN baseline</a:t>
            </a:r>
          </a:p>
        </p:txBody>
      </p:sp>
      <p:sp>
        <p:nvSpPr>
          <p:cNvPr id="21" name="!!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!!Icon bolt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!!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Transformers outperform the CNN; PVT-Small is the efficient option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Class-wise results and limitations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8" name="Chart"/>
          <p:cNvGraphicFramePr>
            <a:graphicFrameLocks noGrp="1"/>
          </p:cNvGraphicFramePr>
          <p:nvPr/>
        </p:nvGraphicFramePr>
        <p:xfrm>
          <a:off x="548640" y="155448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Icon badge"/>
          <p:cNvSpPr/>
          <p:nvPr/>
        </p:nvSpPr>
        <p:spPr>
          <a:xfrm>
            <a:off x="7498079" y="164592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warn" descr="war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7" y="175564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1645920"/>
            <a:ext cx="32918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Limitations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7498079" y="23774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S1 (6.5% of data) is weakest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Single database; no cross-dataset test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R&amp;K labels, not AASM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No formal significance tests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4×4 channel layout not ablated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Conclusions and future work</a:t>
            </a:r>
          </a:p>
        </p:txBody>
      </p:sp>
      <p:grpSp>
        <p:nvGrpSpPr>
          <p:cNvPr id="5" name="!!Header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!!Slide number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12</a:t>
            </a:fld>
            <a:endParaRPr lang="en-GB"/>
          </a:p>
        </p:txBody>
      </p:sp>
      <p:sp>
        <p:nvSpPr>
          <p:cNvPr id="8" name="Conclusion card"/>
          <p:cNvSpPr/>
          <p:nvPr/>
        </p:nvSpPr>
        <p:spPr>
          <a:xfrm>
            <a:off x="841248" y="1645920"/>
            <a:ext cx="6400800" cy="438912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5852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Best pipeline</a:t>
            </a:r>
          </a:p>
        </p:txBody>
      </p:sp>
      <p:sp>
        <p:nvSpPr>
          <p:cNvPr id="10" name="Icon badge"/>
          <p:cNvSpPr/>
          <p:nvPr/>
        </p:nvSpPr>
        <p:spPr>
          <a:xfrm>
            <a:off x="1097280" y="25603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 img" descr="im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65" y="2673705"/>
            <a:ext cx="340156" cy="3401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2514600"/>
            <a:ext cx="52120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GASF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image encoding</a:t>
            </a:r>
          </a:p>
        </p:txBody>
      </p:sp>
      <p:sp>
        <p:nvSpPr>
          <p:cNvPr id="13" name="Icon badge"/>
          <p:cNvSpPr/>
          <p:nvPr/>
        </p:nvSpPr>
        <p:spPr>
          <a:xfrm>
            <a:off x="1097280" y="342900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 filter" descr="filter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665" y="3542385"/>
            <a:ext cx="340156" cy="340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28800" y="3383280"/>
            <a:ext cx="52120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DWT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resampling to 128 Hz</a:t>
            </a:r>
          </a:p>
        </p:txBody>
      </p:sp>
      <p:sp>
        <p:nvSpPr>
          <p:cNvPr id="16" name="Icon badge"/>
          <p:cNvSpPr/>
          <p:nvPr/>
        </p:nvSpPr>
        <p:spPr>
          <a:xfrm>
            <a:off x="1097280" y="4297679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 brain" descr="brain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665" y="4411065"/>
            <a:ext cx="340156" cy="3401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0" y="4251959"/>
            <a:ext cx="52120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Fine-tuned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ImageNet ViT-B/16</a:t>
            </a:r>
          </a:p>
        </p:txBody>
      </p:sp>
      <p:sp>
        <p:nvSpPr>
          <p:cNvPr id="19" name="Icon badge"/>
          <p:cNvSpPr/>
          <p:nvPr/>
        </p:nvSpPr>
        <p:spPr>
          <a:xfrm>
            <a:off x="1097280" y="5166359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con medal" descr="medal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665" y="5279745"/>
            <a:ext cx="340156" cy="3401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0" y="5120640"/>
            <a:ext cx="52120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86.2%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accuracy, 0.853 macro-F1</a:t>
            </a:r>
          </a:p>
        </p:txBody>
      </p:sp>
      <p:sp>
        <p:nvSpPr>
          <p:cNvPr id="22" name="Future card"/>
          <p:cNvSpPr/>
          <p:nvPr/>
        </p:nvSpPr>
        <p:spPr>
          <a:xfrm>
            <a:off x="7498079" y="1645920"/>
            <a:ext cx="3858768" cy="438912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1737360"/>
            <a:ext cx="34747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6A2C91"/>
                </a:solidFill>
                <a:latin typeface="Arial"/>
              </a:rPr>
              <a:t>Future work</a:t>
            </a:r>
          </a:p>
        </p:txBody>
      </p:sp>
      <p:sp>
        <p:nvSpPr>
          <p:cNvPr id="24" name="Icon badge"/>
          <p:cNvSpPr/>
          <p:nvPr/>
        </p:nvSpPr>
        <p:spPr>
          <a:xfrm>
            <a:off x="7726679" y="2651760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 layer" descr="lay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065" y="2765145"/>
            <a:ext cx="340156" cy="3401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2480" y="2560320"/>
            <a:ext cx="283464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Multimodal fusion</a:t>
            </a:r>
          </a:p>
        </p:txBody>
      </p:sp>
      <p:sp>
        <p:nvSpPr>
          <p:cNvPr id="27" name="Icon badge"/>
          <p:cNvSpPr/>
          <p:nvPr/>
        </p:nvSpPr>
        <p:spPr>
          <a:xfrm>
            <a:off x="7726679" y="3749039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 bolt" descr="bo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065" y="3862425"/>
            <a:ext cx="340156" cy="3401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12480" y="3657599"/>
            <a:ext cx="283464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Lightweight ViTs for edge use</a:t>
            </a:r>
          </a:p>
        </p:txBody>
      </p:sp>
      <p:sp>
        <p:nvSpPr>
          <p:cNvPr id="30" name="Icon badge"/>
          <p:cNvSpPr/>
          <p:nvPr/>
        </p:nvSpPr>
        <p:spPr>
          <a:xfrm>
            <a:off x="7726679" y="4846320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 db" descr="d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065" y="4959705"/>
            <a:ext cx="340156" cy="3401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12480" y="4754880"/>
            <a:ext cx="283464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Cross-dataset validation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ctrTitle"/>
          </p:nvPr>
        </p:nvSpPr>
        <p:spPr>
          <a:xfrm>
            <a:off x="1280160" y="1100000"/>
            <a:ext cx="9966960" cy="1828800"/>
          </a:xfrm>
        </p:spPr>
        <p:txBody>
          <a:bodyPr anchor="ctr">
            <a:noAutofit/>
          </a:bodyPr>
          <a:lstStyle/>
          <a:p>
            <a:r>
              <a:rPr sz="6000" b="1" i="0">
                <a:solidFill>
                  <a:srgbClr val="6A2C91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A496-4F77-3583-3F8B-718D9DBA80B5}"/>
              </a:ext>
            </a:extLst>
          </p:cNvPr>
          <p:cNvSpPr txBox="1"/>
          <p:nvPr/>
        </p:nvSpPr>
        <p:spPr>
          <a:xfrm>
            <a:off x="639297" y="32826"/>
            <a:ext cx="715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BioMed Frontiers 2026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International Conference on Biomedical Innovation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D04B73-364B-763C-6356-6B65E41FDF88}"/>
              </a:ext>
            </a:extLst>
          </p:cNvPr>
          <p:cNvSpPr txBox="1">
            <a:spLocks/>
          </p:cNvSpPr>
          <p:nvPr/>
        </p:nvSpPr>
        <p:spPr>
          <a:xfrm>
            <a:off x="1280160" y="3000000"/>
            <a:ext cx="996696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0" i="0">
                <a:solidFill>
                  <a:srgbClr val="222222"/>
                </a:solidFill>
                <a:latin typeface="Arial"/>
              </a:rPr>
              <a:t>Questions?</a:t>
            </a:r>
          </a:p>
          <a:p>
            <a:pPr algn="ctr">
              <a:spcBef>
                <a:spcPts val="1400"/>
              </a:spcBef>
            </a:pPr>
            <a:r>
              <a:rPr sz="2000" b="0" i="0">
                <a:solidFill>
                  <a:srgbClr val="666666"/>
                </a:solidFill>
                <a:latin typeface="Arial"/>
              </a:rPr>
              <a:t>janithramanayake523@gmail.com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7911C-0848-35C2-F1D9-7C0729DF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51" y="160642"/>
            <a:ext cx="1393723" cy="480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B16FE5-67AF-EC55-1026-D554106B541F}"/>
              </a:ext>
            </a:extLst>
          </p:cNvPr>
          <p:cNvSpPr txBox="1"/>
          <p:nvPr/>
        </p:nvSpPr>
        <p:spPr>
          <a:xfrm>
            <a:off x="639297" y="617537"/>
            <a:ext cx="6626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Paper ID: 45 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627C2F-1A9D-9FB5-8032-6FE0A548C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94" y="-60006"/>
            <a:ext cx="712435" cy="6947502"/>
          </a:xfrm>
          <a:prstGeom prst="rect">
            <a:avLst/>
          </a:prstGeom>
        </p:spPr>
      </p:pic>
      <p:pic>
        <p:nvPicPr>
          <p:cNvPr id="3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5E5E8475-DC2F-14D7-48F2-CF6706CC06D3}"/>
              </a:ext>
            </a:extLst>
          </p:cNvPr>
          <p:cNvPicPr>
            <a:picLocks/>
          </p:cNvPicPr>
          <p:nvPr/>
        </p:nvPicPr>
        <p:blipFill>
          <a:blip r:embed="rId4" cstate="print"/>
          <a:srcRect r="55514"/>
          <a:stretch>
            <a:fillRect/>
          </a:stretch>
        </p:blipFill>
        <p:spPr>
          <a:xfrm>
            <a:off x="6877516" y="106423"/>
            <a:ext cx="2109170" cy="711201"/>
          </a:xfrm>
          <a:prstGeom prst="rect">
            <a:avLst/>
          </a:prstGeom>
        </p:spPr>
      </p:pic>
      <p:pic>
        <p:nvPicPr>
          <p:cNvPr id="7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CFBF7450-3208-9B32-2482-51B84D6C3A78}"/>
              </a:ext>
            </a:extLst>
          </p:cNvPr>
          <p:cNvPicPr>
            <a:picLocks/>
          </p:cNvPicPr>
          <p:nvPr/>
        </p:nvPicPr>
        <p:blipFill>
          <a:blip r:embed="rId4" cstate="print"/>
          <a:srcRect l="72390" t="24311"/>
          <a:stretch>
            <a:fillRect/>
          </a:stretch>
        </p:blipFill>
        <p:spPr>
          <a:xfrm>
            <a:off x="9045683" y="170912"/>
            <a:ext cx="1393723" cy="711201"/>
          </a:xfrm>
          <a:prstGeom prst="rect">
            <a:avLst/>
          </a:prstGeom>
        </p:spPr>
      </p:pic>
      <p:pic>
        <p:nvPicPr>
          <p:cNvPr id="23" name="GitHub QR" descr="git repo 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640" y="4250000"/>
            <a:ext cx="1650000" cy="1650000"/>
          </a:xfrm>
          <a:prstGeom prst="rect">
            <a:avLst/>
          </a:prstGeom>
        </p:spPr>
      </p:pic>
      <p:sp>
        <p:nvSpPr>
          <p:cNvPr id="13" name="GitHub QR label">
            <a:extLst>
              <a:ext uri="{FF2B5EF4-FFF2-40B4-BE49-F238E27FC236}">
                <a16:creationId xmlns:a16="http://schemas.microsoft.com/office/drawing/2014/main" id="{6FB16FE5-67AF-EC55-1026-D554106B541F}"/>
              </a:ext>
            </a:extLst>
          </p:cNvPr>
          <p:cNvSpPr txBox="1"/>
          <p:nvPr/>
        </p:nvSpPr>
        <p:spPr>
          <a:xfrm>
            <a:off x="5113640" y="5930000"/>
            <a:ext cx="23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Code on GitHub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</TotalTime>
  <Words>685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Systematic Evaluation of Signal-to-Image Transformation Pipelines for Vision Transformer-based Sleep Stage Classification</vt:lpstr>
      <vt:lpstr>Why automate sleep staging?</vt:lpstr>
      <vt:lpstr>Research gap and objectives</vt:lpstr>
      <vt:lpstr>Dataset: CAP Sleep Database</vt:lpstr>
      <vt:lpstr>Proposed Pipeline</vt:lpstr>
      <vt:lpstr>Four Signal-to-Image transformations</vt:lpstr>
      <vt:lpstr>GASF performs best</vt:lpstr>
      <vt:lpstr>DWT at 128 Hz is optimal</vt:lpstr>
      <vt:lpstr>Pre-training adds 11+ points</vt:lpstr>
      <vt:lpstr>ViT-B/16 beats other models</vt:lpstr>
      <vt:lpstr>Class-wise results and limitations</vt:lpstr>
      <vt:lpstr>Conclusions and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AP02  BIOMOLECULES</dc:title>
  <dc:creator>Suvini Karunaratne</dc:creator>
  <cp:lastModifiedBy>1399</cp:lastModifiedBy>
  <cp:revision>46</cp:revision>
  <dcterms:created xsi:type="dcterms:W3CDTF">2020-02-23T10:07:47Z</dcterms:created>
  <dcterms:modified xsi:type="dcterms:W3CDTF">2026-10-07T17:09:32Z</dcterms:modified>
</cp:coreProperties>
</file>