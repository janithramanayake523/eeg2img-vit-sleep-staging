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Amaranth Bold" charset="1" panose="02000500000000020004"/>
      <p:regular r:id="rId45"/>
    </p:embeddedFont>
    <p:embeddedFont>
      <p:font typeface="Arimo" charset="1" panose="020B0604020202020204"/>
      <p:regular r:id="rId46"/>
    </p:embeddedFont>
    <p:embeddedFont>
      <p:font typeface="Arimo Bold" charset="1" panose="020B0704020202020204"/>
      <p:regular r:id="rId47"/>
    </p:embeddedFont>
    <p:embeddedFont>
      <p:font typeface="Amaranth" charset="1" panose="02000503050000020004"/>
      <p:regular r:id="rId49"/>
    </p:embeddedFont>
    <p:embeddedFont>
      <p:font typeface="Arial MT Pro Bold" charset="1" panose="020B0802020202020204"/>
      <p:regular r:id="rId50"/>
    </p:embeddedFont>
    <p:embeddedFont>
      <p:font typeface="Inter Bold" charset="1" panose="020B0802030000000004"/>
      <p:regular r:id="rId51"/>
    </p:embeddedFont>
    <p:embeddedFont>
      <p:font typeface="Inter" charset="1" panose="020B0502030000000004"/>
      <p:regular r:id="rId52"/>
    </p:embeddedFont>
    <p:embeddedFont>
      <p:font typeface="Noto Sans Bold" charset="1" panose="020B0802040504020204"/>
      <p:regular r:id="rId53"/>
    </p:embeddedFont>
    <p:embeddedFont>
      <p:font typeface="Noto Sans" charset="1" panose="020B0502040504020204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notesMasters/notesMaster1.xml" Type="http://schemas.openxmlformats.org/officeDocument/2006/relationships/notesMaster"/><Relationship Id="rId43" Target="theme/theme2.xml" Type="http://schemas.openxmlformats.org/officeDocument/2006/relationships/theme"/><Relationship Id="rId44" Target="notesSlides/notesSlide1.xml" Type="http://schemas.openxmlformats.org/officeDocument/2006/relationships/notesSlide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notesSlides/notesSlide2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notesSlides/notesSlide3.xml" Type="http://schemas.openxmlformats.org/officeDocument/2006/relationships/notesSlide"/><Relationship Id="rId56" Target="notesSlides/notesSlide4.xml" Type="http://schemas.openxmlformats.org/officeDocument/2006/relationships/notesSlide"/><Relationship Id="rId57" Target="notesSlides/notesSlide5.xml" Type="http://schemas.openxmlformats.org/officeDocument/2006/relationships/notesSlide"/><Relationship Id="rId58" Target="notesSlides/notesSlide6.xml" Type="http://schemas.openxmlformats.org/officeDocument/2006/relationships/notesSlide"/><Relationship Id="rId59" Target="notesSlides/notesSlide7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8.xml" Type="http://schemas.openxmlformats.org/officeDocument/2006/relationships/notesSlide"/><Relationship Id="rId61" Target="notesSlides/notesSlide9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4.pn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49.pn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56.pn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01683" y="-4163642"/>
            <a:ext cx="26314083" cy="18722362"/>
          </a:xfrm>
          <a:custGeom>
            <a:avLst/>
            <a:gdLst/>
            <a:ahLst/>
            <a:cxnLst/>
            <a:rect r="r" b="b" t="t" l="l"/>
            <a:pathLst>
              <a:path h="18722362" w="26314083">
                <a:moveTo>
                  <a:pt x="0" y="0"/>
                </a:moveTo>
                <a:lnTo>
                  <a:pt x="26314083" y="0"/>
                </a:lnTo>
                <a:lnTo>
                  <a:pt x="26314083" y="18722362"/>
                </a:lnTo>
                <a:lnTo>
                  <a:pt x="0" y="18722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6004200"/>
            <a:chOff x="0" y="0"/>
            <a:chExt cx="21640800" cy="800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40800" cy="8005600"/>
            </a:xfrm>
            <a:custGeom>
              <a:avLst/>
              <a:gdLst/>
              <a:ahLst/>
              <a:cxnLst/>
              <a:rect r="r" b="b" t="t" l="l"/>
              <a:pathLst>
                <a:path h="80056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8005600"/>
                  </a:lnTo>
                  <a:lnTo>
                    <a:pt x="0" y="80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640800" cy="8005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400"/>
                </a:lnSpc>
              </a:pPr>
              <a:r>
                <a:rPr lang="en-US" sz="7000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Enhancing Sleep Stage Classification with Vision Transformers: </a:t>
              </a:r>
              <a:r>
                <a:rPr lang="en-US" sz="7000" b="true">
                  <a:solidFill>
                    <a:srgbClr val="196475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A Study on Image Transformations, Data Augmentation, and Model Optimization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38987" y="7032900"/>
            <a:ext cx="11010026" cy="1822078"/>
            <a:chOff x="0" y="0"/>
            <a:chExt cx="14680035" cy="24294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80036" cy="2429437"/>
            </a:xfrm>
            <a:custGeom>
              <a:avLst/>
              <a:gdLst/>
              <a:ahLst/>
              <a:cxnLst/>
              <a:rect r="r" b="b" t="t" l="l"/>
              <a:pathLst>
                <a:path h="2429437" w="14680036">
                  <a:moveTo>
                    <a:pt x="0" y="0"/>
                  </a:moveTo>
                  <a:lnTo>
                    <a:pt x="14680036" y="0"/>
                  </a:lnTo>
                  <a:lnTo>
                    <a:pt x="14680036" y="2429437"/>
                  </a:lnTo>
                  <a:lnTo>
                    <a:pt x="0" y="24294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680035" cy="24484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03866"/>
                  </a:solidFill>
                  <a:latin typeface="Arimo"/>
                  <a:ea typeface="Arimo"/>
                  <a:cs typeface="Arimo"/>
                  <a:sym typeface="Arimo"/>
                </a:rPr>
                <a:t>By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20386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Janith Ramanayake</a:t>
              </a:r>
            </a:p>
            <a:p>
              <a:pPr algn="ctr">
                <a:lnSpc>
                  <a:spcPts val="33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03866"/>
                  </a:solidFill>
                  <a:latin typeface="Arimo"/>
                  <a:ea typeface="Arimo"/>
                  <a:cs typeface="Arimo"/>
                  <a:sym typeface="Arimo"/>
                </a:rPr>
                <a:t>Supervisor: </a:t>
              </a:r>
              <a:r>
                <a:rPr lang="en-US" b="true" sz="2799">
                  <a:solidFill>
                    <a:srgbClr val="20386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Dr. G.A.C.N. Priyadarshani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43854" y="-3498491"/>
            <a:ext cx="13331917" cy="20393142"/>
          </a:xfrm>
          <a:custGeom>
            <a:avLst/>
            <a:gdLst/>
            <a:ahLst/>
            <a:cxnLst/>
            <a:rect r="r" b="b" t="t" l="l"/>
            <a:pathLst>
              <a:path h="20393142" w="13331917">
                <a:moveTo>
                  <a:pt x="0" y="0"/>
                </a:moveTo>
                <a:lnTo>
                  <a:pt x="13331916" y="0"/>
                </a:lnTo>
                <a:lnTo>
                  <a:pt x="13331916" y="20393142"/>
                </a:lnTo>
                <a:lnTo>
                  <a:pt x="0" y="20393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0000" y="1001969"/>
            <a:ext cx="7087200" cy="1083182"/>
            <a:chOff x="0" y="0"/>
            <a:chExt cx="9449600" cy="14442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449600" cy="1444242"/>
            </a:xfrm>
            <a:custGeom>
              <a:avLst/>
              <a:gdLst/>
              <a:ahLst/>
              <a:cxnLst/>
              <a:rect r="r" b="b" t="t" l="l"/>
              <a:pathLst>
                <a:path h="1444242" w="9449600">
                  <a:moveTo>
                    <a:pt x="0" y="0"/>
                  </a:moveTo>
                  <a:lnTo>
                    <a:pt x="9449600" y="0"/>
                  </a:lnTo>
                  <a:lnTo>
                    <a:pt x="9449600" y="1444242"/>
                  </a:lnTo>
                  <a:lnTo>
                    <a:pt x="0" y="14442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9449600" cy="1434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b="true" sz="5999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Contents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8940" y="2772642"/>
            <a:ext cx="5670260" cy="889860"/>
            <a:chOff x="0" y="0"/>
            <a:chExt cx="7560347" cy="118648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518747" y="8697"/>
              <a:ext cx="6041600" cy="1027572"/>
              <a:chOff x="0" y="0"/>
              <a:chExt cx="6041600" cy="102757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041600" cy="1027572"/>
              </a:xfrm>
              <a:custGeom>
                <a:avLst/>
                <a:gdLst/>
                <a:ahLst/>
                <a:cxnLst/>
                <a:rect r="r" b="b" t="t" l="l"/>
                <a:pathLst>
                  <a:path h="1027572" w="6041600">
                    <a:moveTo>
                      <a:pt x="0" y="0"/>
                    </a:moveTo>
                    <a:lnTo>
                      <a:pt x="6041600" y="0"/>
                    </a:lnTo>
                    <a:lnTo>
                      <a:pt x="6041600" y="1027572"/>
                    </a:lnTo>
                    <a:lnTo>
                      <a:pt x="0" y="10275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6041600" cy="1027572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Background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01</a:t>
                </a: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9050" y="9921328"/>
            <a:ext cx="4620600" cy="679962"/>
            <a:chOff x="0" y="0"/>
            <a:chExt cx="6160800" cy="90661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02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7917898" y="2772642"/>
            <a:ext cx="5670260" cy="889860"/>
            <a:chOff x="0" y="0"/>
            <a:chExt cx="7560347" cy="118648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1518747" y="8697"/>
              <a:ext cx="6041600" cy="1027572"/>
              <a:chOff x="0" y="0"/>
              <a:chExt cx="6041600" cy="102757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041600" cy="1027572"/>
              </a:xfrm>
              <a:custGeom>
                <a:avLst/>
                <a:gdLst/>
                <a:ahLst/>
                <a:cxnLst/>
                <a:rect r="r" b="b" t="t" l="l"/>
                <a:pathLst>
                  <a:path h="1027572" w="6041600">
                    <a:moveTo>
                      <a:pt x="0" y="0"/>
                    </a:moveTo>
                    <a:lnTo>
                      <a:pt x="6041600" y="0"/>
                    </a:lnTo>
                    <a:lnTo>
                      <a:pt x="6041600" y="1027572"/>
                    </a:lnTo>
                    <a:lnTo>
                      <a:pt x="0" y="10275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6041600" cy="1027572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Research Gap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02</a:t>
                </a: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578940" y="4348302"/>
            <a:ext cx="5670260" cy="889860"/>
            <a:chOff x="0" y="0"/>
            <a:chExt cx="7560347" cy="118648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1518747" y="8697"/>
              <a:ext cx="6041600" cy="1027572"/>
              <a:chOff x="0" y="0"/>
              <a:chExt cx="6041600" cy="102757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041600" cy="1027572"/>
              </a:xfrm>
              <a:custGeom>
                <a:avLst/>
                <a:gdLst/>
                <a:ahLst/>
                <a:cxnLst/>
                <a:rect r="r" b="b" t="t" l="l"/>
                <a:pathLst>
                  <a:path h="1027572" w="6041600">
                    <a:moveTo>
                      <a:pt x="0" y="0"/>
                    </a:moveTo>
                    <a:lnTo>
                      <a:pt x="6041600" y="0"/>
                    </a:lnTo>
                    <a:lnTo>
                      <a:pt x="6041600" y="1027572"/>
                    </a:lnTo>
                    <a:lnTo>
                      <a:pt x="0" y="10275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0"/>
                <a:ext cx="6041600" cy="1027572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Obje</a:t>
                </a: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ctives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03</a:t>
                </a: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7917898" y="4348302"/>
            <a:ext cx="5670260" cy="889860"/>
            <a:chOff x="0" y="0"/>
            <a:chExt cx="7560347" cy="118648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1518747" y="8697"/>
              <a:ext cx="6041600" cy="1027572"/>
              <a:chOff x="0" y="0"/>
              <a:chExt cx="6041600" cy="1027572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6041600" cy="1027572"/>
              </a:xfrm>
              <a:custGeom>
                <a:avLst/>
                <a:gdLst/>
                <a:ahLst/>
                <a:cxnLst/>
                <a:rect r="r" b="b" t="t" l="l"/>
                <a:pathLst>
                  <a:path h="1027572" w="6041600">
                    <a:moveTo>
                      <a:pt x="0" y="0"/>
                    </a:moveTo>
                    <a:lnTo>
                      <a:pt x="6041600" y="0"/>
                    </a:lnTo>
                    <a:lnTo>
                      <a:pt x="6041600" y="1027572"/>
                    </a:lnTo>
                    <a:lnTo>
                      <a:pt x="0" y="10275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0"/>
                <a:ext cx="6041600" cy="1027572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Methodology &amp; Results</a:t>
                </a: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52" id="52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04</a:t>
                </a:r>
              </a:p>
            </p:txBody>
          </p:sp>
        </p:grpSp>
      </p:grpSp>
      <p:grpSp>
        <p:nvGrpSpPr>
          <p:cNvPr name="Group 55" id="55"/>
          <p:cNvGrpSpPr/>
          <p:nvPr/>
        </p:nvGrpSpPr>
        <p:grpSpPr>
          <a:xfrm rot="0">
            <a:off x="1578940" y="5923962"/>
            <a:ext cx="5670260" cy="889860"/>
            <a:chOff x="0" y="0"/>
            <a:chExt cx="7560347" cy="118648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1518747" y="8697"/>
              <a:ext cx="6041600" cy="1027572"/>
              <a:chOff x="0" y="0"/>
              <a:chExt cx="6041600" cy="1027572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6041600" cy="1027572"/>
              </a:xfrm>
              <a:custGeom>
                <a:avLst/>
                <a:gdLst/>
                <a:ahLst/>
                <a:cxnLst/>
                <a:rect r="r" b="b" t="t" l="l"/>
                <a:pathLst>
                  <a:path h="1027572" w="6041600">
                    <a:moveTo>
                      <a:pt x="0" y="0"/>
                    </a:moveTo>
                    <a:lnTo>
                      <a:pt x="6041600" y="0"/>
                    </a:lnTo>
                    <a:lnTo>
                      <a:pt x="6041600" y="1027572"/>
                    </a:lnTo>
                    <a:lnTo>
                      <a:pt x="0" y="10275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0"/>
                <a:ext cx="6041600" cy="1027572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Final Model</a:t>
                </a: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05</a:t>
                </a:r>
              </a:p>
            </p:txBody>
          </p:sp>
        </p:grpSp>
      </p:grpSp>
      <p:grpSp>
        <p:nvGrpSpPr>
          <p:cNvPr name="Group 64" id="64"/>
          <p:cNvGrpSpPr/>
          <p:nvPr/>
        </p:nvGrpSpPr>
        <p:grpSpPr>
          <a:xfrm rot="0">
            <a:off x="1578940" y="7499622"/>
            <a:ext cx="5670260" cy="889860"/>
            <a:chOff x="0" y="0"/>
            <a:chExt cx="7560347" cy="1186480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1518747" y="8697"/>
              <a:ext cx="6041600" cy="1027572"/>
              <a:chOff x="0" y="0"/>
              <a:chExt cx="6041600" cy="1027572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6041600" cy="1027572"/>
              </a:xfrm>
              <a:custGeom>
                <a:avLst/>
                <a:gdLst/>
                <a:ahLst/>
                <a:cxnLst/>
                <a:rect r="r" b="b" t="t" l="l"/>
                <a:pathLst>
                  <a:path h="1027572" w="6041600">
                    <a:moveTo>
                      <a:pt x="0" y="0"/>
                    </a:moveTo>
                    <a:lnTo>
                      <a:pt x="6041600" y="0"/>
                    </a:lnTo>
                    <a:lnTo>
                      <a:pt x="6041600" y="1027572"/>
                    </a:lnTo>
                    <a:lnTo>
                      <a:pt x="0" y="10275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0"/>
                <a:ext cx="6041600" cy="1027572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Limitation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07</a:t>
                </a:r>
              </a:p>
            </p:txBody>
          </p:sp>
        </p:grpSp>
      </p:grpSp>
      <p:grpSp>
        <p:nvGrpSpPr>
          <p:cNvPr name="Group 73" id="73"/>
          <p:cNvGrpSpPr/>
          <p:nvPr/>
        </p:nvGrpSpPr>
        <p:grpSpPr>
          <a:xfrm rot="0">
            <a:off x="7943854" y="5923962"/>
            <a:ext cx="5670260" cy="889860"/>
            <a:chOff x="0" y="0"/>
            <a:chExt cx="7560347" cy="1186480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1518747" y="8697"/>
              <a:ext cx="6041600" cy="1027572"/>
              <a:chOff x="0" y="0"/>
              <a:chExt cx="6041600" cy="1027572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6041600" cy="1027572"/>
              </a:xfrm>
              <a:custGeom>
                <a:avLst/>
                <a:gdLst/>
                <a:ahLst/>
                <a:cxnLst/>
                <a:rect r="r" b="b" t="t" l="l"/>
                <a:pathLst>
                  <a:path h="1027572" w="6041600">
                    <a:moveTo>
                      <a:pt x="0" y="0"/>
                    </a:moveTo>
                    <a:lnTo>
                      <a:pt x="6041600" y="0"/>
                    </a:lnTo>
                    <a:lnTo>
                      <a:pt x="6041600" y="1027572"/>
                    </a:lnTo>
                    <a:lnTo>
                      <a:pt x="0" y="10275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0"/>
                <a:ext cx="6041600" cy="1027572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>
                    <a:solidFill>
                      <a:srgbClr val="203866"/>
                    </a:solidFill>
                    <a:latin typeface="Amaranth"/>
                    <a:ea typeface="Amaranth"/>
                    <a:cs typeface="Amaranth"/>
                    <a:sym typeface="Amaranth"/>
                  </a:rPr>
                  <a:t>Conclusion</a:t>
                </a: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79" id="79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06</a:t>
                </a:r>
              </a:p>
            </p:txBody>
          </p:sp>
        </p:grpSp>
      </p:grpSp>
      <p:grpSp>
        <p:nvGrpSpPr>
          <p:cNvPr name="Group 82" id="82"/>
          <p:cNvGrpSpPr/>
          <p:nvPr/>
        </p:nvGrpSpPr>
        <p:grpSpPr>
          <a:xfrm rot="0">
            <a:off x="9082914" y="7506145"/>
            <a:ext cx="4531200" cy="770679"/>
            <a:chOff x="0" y="0"/>
            <a:chExt cx="6041600" cy="10275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41600" cy="1027572"/>
            </a:xfrm>
            <a:custGeom>
              <a:avLst/>
              <a:gdLst/>
              <a:ahLst/>
              <a:cxnLst/>
              <a:rect r="r" b="b" t="t" l="l"/>
              <a:pathLst>
                <a:path h="1027572" w="6041600">
                  <a:moveTo>
                    <a:pt x="0" y="0"/>
                  </a:moveTo>
                  <a:lnTo>
                    <a:pt x="6041600" y="0"/>
                  </a:lnTo>
                  <a:lnTo>
                    <a:pt x="6041600" y="1027572"/>
                  </a:lnTo>
                  <a:lnTo>
                    <a:pt x="0" y="1027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6041600" cy="102757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203866"/>
                  </a:solidFill>
                  <a:latin typeface="Amaranth"/>
                  <a:ea typeface="Amaranth"/>
                  <a:cs typeface="Amaranth"/>
                  <a:sym typeface="Amaranth"/>
                </a:rPr>
                <a:t>Further Works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943854" y="7499622"/>
            <a:ext cx="889860" cy="889860"/>
            <a:chOff x="0" y="0"/>
            <a:chExt cx="1186480" cy="1186480"/>
          </a:xfrm>
        </p:grpSpPr>
        <p:grpSp>
          <p:nvGrpSpPr>
            <p:cNvPr name="Group 86" id="86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88" id="88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08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58148" y="-1871736"/>
            <a:ext cx="15676268" cy="17919968"/>
          </a:xfrm>
          <a:custGeom>
            <a:avLst/>
            <a:gdLst/>
            <a:ahLst/>
            <a:cxnLst/>
            <a:rect r="r" b="b" t="t" l="l"/>
            <a:pathLst>
              <a:path h="17919968" w="15676268">
                <a:moveTo>
                  <a:pt x="0" y="0"/>
                </a:moveTo>
                <a:lnTo>
                  <a:pt x="15676268" y="0"/>
                </a:lnTo>
                <a:lnTo>
                  <a:pt x="15676268" y="17919969"/>
                </a:lnTo>
                <a:lnTo>
                  <a:pt x="0" y="17919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8101" y="3101662"/>
            <a:ext cx="10451613" cy="2831932"/>
            <a:chOff x="0" y="0"/>
            <a:chExt cx="13935484" cy="377590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3935484" cy="3775909"/>
              <a:chOff x="0" y="0"/>
              <a:chExt cx="12547899" cy="339993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547944" cy="3399980"/>
              </a:xfrm>
              <a:custGeom>
                <a:avLst/>
                <a:gdLst/>
                <a:ahLst/>
                <a:cxnLst/>
                <a:rect r="r" b="b" t="t" l="l"/>
                <a:pathLst>
                  <a:path h="3399980" w="12547944">
                    <a:moveTo>
                      <a:pt x="0" y="1326441"/>
                    </a:moveTo>
                    <a:cubicBezTo>
                      <a:pt x="0" y="593857"/>
                      <a:pt x="2191707" y="0"/>
                      <a:pt x="4895401" y="0"/>
                    </a:cubicBezTo>
                    <a:lnTo>
                      <a:pt x="7652710" y="0"/>
                    </a:lnTo>
                    <a:cubicBezTo>
                      <a:pt x="10356405" y="0"/>
                      <a:pt x="12547944" y="593857"/>
                      <a:pt x="12547944" y="1326441"/>
                    </a:cubicBezTo>
                    <a:lnTo>
                      <a:pt x="12547944" y="2073551"/>
                    </a:lnTo>
                    <a:cubicBezTo>
                      <a:pt x="12547944" y="2806135"/>
                      <a:pt x="10356405" y="3399980"/>
                      <a:pt x="7652710" y="3399980"/>
                    </a:cubicBezTo>
                    <a:lnTo>
                      <a:pt x="4895401" y="3399980"/>
                    </a:lnTo>
                    <a:cubicBezTo>
                      <a:pt x="2191707" y="3399980"/>
                      <a:pt x="0" y="2806135"/>
                      <a:pt x="0" y="2073551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621239" y="361470"/>
              <a:ext cx="11140659" cy="2708435"/>
              <a:chOff x="0" y="0"/>
              <a:chExt cx="11140659" cy="270843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140659" cy="2708435"/>
              </a:xfrm>
              <a:custGeom>
                <a:avLst/>
                <a:gdLst/>
                <a:ahLst/>
                <a:cxnLst/>
                <a:rect r="r" b="b" t="t" l="l"/>
                <a:pathLst>
                  <a:path h="2708435" w="11140659">
                    <a:moveTo>
                      <a:pt x="0" y="0"/>
                    </a:moveTo>
                    <a:lnTo>
                      <a:pt x="11140659" y="0"/>
                    </a:lnTo>
                    <a:lnTo>
                      <a:pt x="11140659" y="2708435"/>
                    </a:lnTo>
                    <a:lnTo>
                      <a:pt x="0" y="270843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11140659" cy="27084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14400"/>
                  </a:lnSpc>
                </a:pPr>
                <a:r>
                  <a:rPr lang="en-US" sz="12000" b="true">
                    <a:solidFill>
                      <a:srgbClr val="203866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Background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0234" y="-5514595"/>
            <a:ext cx="27831514" cy="16884741"/>
          </a:xfrm>
          <a:custGeom>
            <a:avLst/>
            <a:gdLst/>
            <a:ahLst/>
            <a:cxnLst/>
            <a:rect r="r" b="b" t="t" l="l"/>
            <a:pathLst>
              <a:path h="16884741" w="27831514">
                <a:moveTo>
                  <a:pt x="0" y="0"/>
                </a:moveTo>
                <a:lnTo>
                  <a:pt x="27831514" y="0"/>
                </a:lnTo>
                <a:lnTo>
                  <a:pt x="27831514" y="16884740"/>
                </a:lnTo>
                <a:lnTo>
                  <a:pt x="0" y="1688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20600" y="1028700"/>
            <a:ext cx="10473830" cy="1092708"/>
            <a:chOff x="0" y="0"/>
            <a:chExt cx="13965107" cy="1456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65107" cy="1456944"/>
            </a:xfrm>
            <a:custGeom>
              <a:avLst/>
              <a:gdLst/>
              <a:ahLst/>
              <a:cxnLst/>
              <a:rect r="r" b="b" t="t" l="l"/>
              <a:pathLst>
                <a:path h="1456944" w="13965107">
                  <a:moveTo>
                    <a:pt x="0" y="0"/>
                  </a:moveTo>
                  <a:lnTo>
                    <a:pt x="13965107" y="0"/>
                  </a:lnTo>
                  <a:lnTo>
                    <a:pt x="13965107" y="1456944"/>
                  </a:lnTo>
                  <a:lnTo>
                    <a:pt x="0" y="14569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965107" cy="1456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What are Sleep Stages?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958666" y="2285464"/>
            <a:ext cx="14300634" cy="868045"/>
            <a:chOff x="0" y="0"/>
            <a:chExt cx="19067512" cy="11573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67512" cy="1157394"/>
            </a:xfrm>
            <a:custGeom>
              <a:avLst/>
              <a:gdLst/>
              <a:ahLst/>
              <a:cxnLst/>
              <a:rect r="r" b="b" t="t" l="l"/>
              <a:pathLst>
                <a:path h="1157394" w="19067512">
                  <a:moveTo>
                    <a:pt x="0" y="0"/>
                  </a:moveTo>
                  <a:lnTo>
                    <a:pt x="19067512" y="0"/>
                  </a:lnTo>
                  <a:lnTo>
                    <a:pt x="19067512" y="1157394"/>
                  </a:lnTo>
                  <a:lnTo>
                    <a:pt x="0" y="11573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067512" cy="1195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b="true" sz="2200" spc="-22">
                  <a:solidFill>
                    <a:srgbClr val="1B386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Sleep stages</a:t>
              </a:r>
              <a:r>
                <a:rPr lang="en-US" b="true" sz="2200" spc="-22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b="true" sz="2200" spc="-22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are the different phases of sleep that the brain goes through during a sleep cycle</a:t>
              </a:r>
              <a:r>
                <a:rPr lang="en-US" sz="2200" spc="-22">
                  <a:solidFill>
                    <a:srgbClr val="196475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r>
                <a:rPr lang="en-US" sz="2200" spc="-22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They repeat in a cycle throughout the night, helping the body and mind rest, recover, and process information.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04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144000" y="3530799"/>
            <a:ext cx="8115300" cy="1258570"/>
            <a:chOff x="0" y="0"/>
            <a:chExt cx="10820400" cy="16780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20400" cy="1678094"/>
            </a:xfrm>
            <a:custGeom>
              <a:avLst/>
              <a:gdLst/>
              <a:ahLst/>
              <a:cxnLst/>
              <a:rect r="r" b="b" t="t" l="l"/>
              <a:pathLst>
                <a:path h="1678094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1678094"/>
                  </a:lnTo>
                  <a:lnTo>
                    <a:pt x="0" y="1678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820400" cy="171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According to the </a:t>
              </a:r>
              <a:r>
                <a:rPr lang="en-US" b="true" sz="2200" spc="-22">
                  <a:solidFill>
                    <a:srgbClr val="1B386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Rechtschaffen and Kales (R&amp;K) method</a:t>
              </a:r>
              <a:r>
                <a:rPr lang="en-US" sz="2200" spc="-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b="true" sz="2200" spc="-22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sleep can be classified into five stages</a:t>
              </a:r>
              <a:r>
                <a:rPr lang="en-US" sz="2200" spc="-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that occur in a sleep cycle.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10497" y="3530799"/>
            <a:ext cx="7317175" cy="5727501"/>
          </a:xfrm>
          <a:custGeom>
            <a:avLst/>
            <a:gdLst/>
            <a:ahLst/>
            <a:cxnLst/>
            <a:rect r="r" b="b" t="t" l="l"/>
            <a:pathLst>
              <a:path h="5727501" w="7317175">
                <a:moveTo>
                  <a:pt x="0" y="0"/>
                </a:moveTo>
                <a:lnTo>
                  <a:pt x="7317176" y="0"/>
                </a:lnTo>
                <a:lnTo>
                  <a:pt x="7317176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708336" y="5389444"/>
            <a:ext cx="6240773" cy="3868856"/>
            <a:chOff x="0" y="0"/>
            <a:chExt cx="8321031" cy="5158475"/>
          </a:xfrm>
        </p:grpSpPr>
        <p:grpSp>
          <p:nvGrpSpPr>
            <p:cNvPr name="Group 27" id="27"/>
            <p:cNvGrpSpPr/>
            <p:nvPr/>
          </p:nvGrpSpPr>
          <p:grpSpPr>
            <a:xfrm rot="-5400000">
              <a:off x="-881667" y="881667"/>
              <a:ext cx="3649126" cy="1885793"/>
              <a:chOff x="0" y="0"/>
              <a:chExt cx="720815" cy="37250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20815" cy="372502"/>
              </a:xfrm>
              <a:custGeom>
                <a:avLst/>
                <a:gdLst/>
                <a:ahLst/>
                <a:cxnLst/>
                <a:rect r="r" b="b" t="t" l="l"/>
                <a:pathLst>
                  <a:path h="372502" w="720815">
                    <a:moveTo>
                      <a:pt x="0" y="0"/>
                    </a:moveTo>
                    <a:lnTo>
                      <a:pt x="720815" y="0"/>
                    </a:lnTo>
                    <a:lnTo>
                      <a:pt x="720815" y="372502"/>
                    </a:lnTo>
                    <a:lnTo>
                      <a:pt x="0" y="372502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720815" cy="3725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Non REM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2152472" y="959623"/>
              <a:ext cx="6168559" cy="761034"/>
              <a:chOff x="0" y="0"/>
              <a:chExt cx="1218481" cy="15032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218481" cy="150328"/>
              </a:xfrm>
              <a:custGeom>
                <a:avLst/>
                <a:gdLst/>
                <a:ahLst/>
                <a:cxnLst/>
                <a:rect r="r" b="b" t="t" l="l"/>
                <a:pathLst>
                  <a:path h="150328" w="1218481">
                    <a:moveTo>
                      <a:pt x="0" y="0"/>
                    </a:moveTo>
                    <a:lnTo>
                      <a:pt x="1218481" y="0"/>
                    </a:lnTo>
                    <a:lnTo>
                      <a:pt x="1218481" y="150328"/>
                    </a:lnTo>
                    <a:lnTo>
                      <a:pt x="0" y="150328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218481" cy="159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Stage 2</a:t>
                </a: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(Light Sleep)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152472" y="1923857"/>
              <a:ext cx="6168559" cy="761034"/>
              <a:chOff x="0" y="0"/>
              <a:chExt cx="1218481" cy="15032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218481" cy="150328"/>
              </a:xfrm>
              <a:custGeom>
                <a:avLst/>
                <a:gdLst/>
                <a:ahLst/>
                <a:cxnLst/>
                <a:rect r="r" b="b" t="t" l="l"/>
                <a:pathLst>
                  <a:path h="150328" w="1218481">
                    <a:moveTo>
                      <a:pt x="0" y="0"/>
                    </a:moveTo>
                    <a:lnTo>
                      <a:pt x="1218481" y="0"/>
                    </a:lnTo>
                    <a:lnTo>
                      <a:pt x="1218481" y="150328"/>
                    </a:lnTo>
                    <a:lnTo>
                      <a:pt x="0" y="150328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218481" cy="159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Stage 3</a:t>
                </a: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(Moderate Sleep)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152472" y="0"/>
              <a:ext cx="6168559" cy="761034"/>
              <a:chOff x="0" y="0"/>
              <a:chExt cx="1218481" cy="150328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218481" cy="150328"/>
              </a:xfrm>
              <a:custGeom>
                <a:avLst/>
                <a:gdLst/>
                <a:ahLst/>
                <a:cxnLst/>
                <a:rect r="r" b="b" t="t" l="l"/>
                <a:pathLst>
                  <a:path h="150328" w="1218481">
                    <a:moveTo>
                      <a:pt x="0" y="0"/>
                    </a:moveTo>
                    <a:lnTo>
                      <a:pt x="1218481" y="0"/>
                    </a:lnTo>
                    <a:lnTo>
                      <a:pt x="1218481" y="150328"/>
                    </a:lnTo>
                    <a:lnTo>
                      <a:pt x="0" y="150328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218481" cy="159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Stage 1</a:t>
                </a: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(Drowsy)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2152472" y="2888092"/>
              <a:ext cx="6168559" cy="761034"/>
              <a:chOff x="0" y="0"/>
              <a:chExt cx="1218481" cy="15032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218481" cy="150328"/>
              </a:xfrm>
              <a:custGeom>
                <a:avLst/>
                <a:gdLst/>
                <a:ahLst/>
                <a:cxnLst/>
                <a:rect r="r" b="b" t="t" l="l"/>
                <a:pathLst>
                  <a:path h="150328" w="1218481">
                    <a:moveTo>
                      <a:pt x="0" y="0"/>
                    </a:moveTo>
                    <a:lnTo>
                      <a:pt x="1218481" y="0"/>
                    </a:lnTo>
                    <a:lnTo>
                      <a:pt x="1218481" y="150328"/>
                    </a:lnTo>
                    <a:lnTo>
                      <a:pt x="0" y="150328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218481" cy="159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Stage 4</a:t>
                </a: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(Deep Sleep)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152472" y="3852326"/>
              <a:ext cx="6168559" cy="1306149"/>
              <a:chOff x="0" y="0"/>
              <a:chExt cx="1218481" cy="25800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218481" cy="258005"/>
              </a:xfrm>
              <a:custGeom>
                <a:avLst/>
                <a:gdLst/>
                <a:ahLst/>
                <a:cxnLst/>
                <a:rect r="r" b="b" t="t" l="l"/>
                <a:pathLst>
                  <a:path h="258005" w="1218481">
                    <a:moveTo>
                      <a:pt x="0" y="0"/>
                    </a:moveTo>
                    <a:lnTo>
                      <a:pt x="1218481" y="0"/>
                    </a:lnTo>
                    <a:lnTo>
                      <a:pt x="1218481" y="258005"/>
                    </a:lnTo>
                    <a:lnTo>
                      <a:pt x="0" y="25800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1218481" cy="2675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REM </a:t>
                </a:r>
                <a:r>
                  <a:rPr lang="en-US" sz="2000">
                    <a:solidFill>
                      <a:srgbClr val="FFFFFF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(Rapid Eye Movement)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-5400000">
              <a:off x="289822" y="3562504"/>
              <a:ext cx="1306149" cy="1885793"/>
              <a:chOff x="0" y="0"/>
              <a:chExt cx="258005" cy="37250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58005" cy="372502"/>
              </a:xfrm>
              <a:custGeom>
                <a:avLst/>
                <a:gdLst/>
                <a:ahLst/>
                <a:cxnLst/>
                <a:rect r="r" b="b" t="t" l="l"/>
                <a:pathLst>
                  <a:path h="372502" w="258005">
                    <a:moveTo>
                      <a:pt x="0" y="0"/>
                    </a:moveTo>
                    <a:lnTo>
                      <a:pt x="258005" y="0"/>
                    </a:lnTo>
                    <a:lnTo>
                      <a:pt x="258005" y="372502"/>
                    </a:lnTo>
                    <a:lnTo>
                      <a:pt x="0" y="372502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0"/>
                <a:ext cx="258005" cy="3725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9"/>
                  </a:lnSpc>
                </a:pPr>
                <a:r>
                  <a:rPr lang="en-US" b="true" sz="2199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REM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3662" y="0"/>
            <a:ext cx="7232136" cy="11679323"/>
          </a:xfrm>
          <a:custGeom>
            <a:avLst/>
            <a:gdLst/>
            <a:ahLst/>
            <a:cxnLst/>
            <a:rect r="r" b="b" t="t" l="l"/>
            <a:pathLst>
              <a:path h="11679323" w="7232136">
                <a:moveTo>
                  <a:pt x="0" y="0"/>
                </a:moveTo>
                <a:lnTo>
                  <a:pt x="7232136" y="0"/>
                </a:lnTo>
                <a:lnTo>
                  <a:pt x="7232136" y="11679323"/>
                </a:lnTo>
                <a:lnTo>
                  <a:pt x="0" y="1167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53787" y="1028700"/>
            <a:ext cx="14613660" cy="1083182"/>
            <a:chOff x="0" y="0"/>
            <a:chExt cx="19484880" cy="1444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Sleep Cycles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05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2310300" y="2402198"/>
            <a:ext cx="14300634" cy="1258570"/>
            <a:chOff x="0" y="0"/>
            <a:chExt cx="19067512" cy="16780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67512" cy="1678094"/>
            </a:xfrm>
            <a:custGeom>
              <a:avLst/>
              <a:gdLst/>
              <a:ahLst/>
              <a:cxnLst/>
              <a:rect r="r" b="b" t="t" l="l"/>
              <a:pathLst>
                <a:path h="1678094" w="19067512">
                  <a:moveTo>
                    <a:pt x="0" y="0"/>
                  </a:moveTo>
                  <a:lnTo>
                    <a:pt x="19067512" y="0"/>
                  </a:lnTo>
                  <a:lnTo>
                    <a:pt x="19067512" y="1678094"/>
                  </a:lnTo>
                  <a:lnTo>
                    <a:pt x="0" y="1678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067512" cy="171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 </a:t>
              </a:r>
              <a:r>
                <a:rPr lang="en-US" b="true" sz="2200" spc="-22">
                  <a:solidFill>
                    <a:srgbClr val="1B386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sleep cycle</a:t>
              </a:r>
              <a:r>
                <a:rPr lang="en-US" b="true" sz="2200" spc="-22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b="true" sz="2200" spc="-22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is a complete progression through the different stages of sleep, including Non-Rapid Eye Movement (NREM) sleep and Rapid Eye Movement (REM) sleep.</a:t>
              </a:r>
              <a:r>
                <a:rPr lang="en-US" sz="2200" spc="-22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Each cycle typically lasts about 90 minutes and repeats 4-6 times throughout the night.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3951084"/>
            <a:ext cx="6812937" cy="5268999"/>
          </a:xfrm>
          <a:custGeom>
            <a:avLst/>
            <a:gdLst/>
            <a:ahLst/>
            <a:cxnLst/>
            <a:rect r="r" b="b" t="t" l="l"/>
            <a:pathLst>
              <a:path h="5268999" w="6812937">
                <a:moveTo>
                  <a:pt x="0" y="0"/>
                </a:moveTo>
                <a:lnTo>
                  <a:pt x="6812937" y="0"/>
                </a:lnTo>
                <a:lnTo>
                  <a:pt x="6812937" y="5268998"/>
                </a:lnTo>
                <a:lnTo>
                  <a:pt x="0" y="526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943" r="0" b="-3366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353422" y="3952500"/>
            <a:ext cx="3905878" cy="3867792"/>
          </a:xfrm>
          <a:custGeom>
            <a:avLst/>
            <a:gdLst/>
            <a:ahLst/>
            <a:cxnLst/>
            <a:rect r="r" b="b" t="t" l="l"/>
            <a:pathLst>
              <a:path h="3867792" w="3905878">
                <a:moveTo>
                  <a:pt x="0" y="0"/>
                </a:moveTo>
                <a:lnTo>
                  <a:pt x="3905878" y="0"/>
                </a:lnTo>
                <a:lnTo>
                  <a:pt x="3905878" y="3867792"/>
                </a:lnTo>
                <a:lnTo>
                  <a:pt x="0" y="38677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53" t="-13756" r="-13622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470864" y="3951084"/>
            <a:ext cx="4599566" cy="4100209"/>
            <a:chOff x="0" y="0"/>
            <a:chExt cx="6132755" cy="546694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32755" cy="5466945"/>
            </a:xfrm>
            <a:custGeom>
              <a:avLst/>
              <a:gdLst/>
              <a:ahLst/>
              <a:cxnLst/>
              <a:rect r="r" b="b" t="t" l="l"/>
              <a:pathLst>
                <a:path h="5466945" w="6132755">
                  <a:moveTo>
                    <a:pt x="0" y="0"/>
                  </a:moveTo>
                  <a:lnTo>
                    <a:pt x="6132755" y="0"/>
                  </a:lnTo>
                  <a:lnTo>
                    <a:pt x="6132755" y="5466945"/>
                  </a:lnTo>
                  <a:lnTo>
                    <a:pt x="0" y="54669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132755" cy="5505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 a sleep cycle, the duration of each sleep stage varies. </a:t>
              </a:r>
              <a:r>
                <a:rPr lang="en-US" b="true" sz="2200" spc="-22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By examining the total time spent in each stage throughout the night, we can evaluate sleep quality, identify abnormalities, and measure overall sleep efficiency.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06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028700" y="1028700"/>
            <a:ext cx="14613660" cy="1083182"/>
            <a:chOff x="0" y="0"/>
            <a:chExt cx="19484880" cy="14442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How To Classify Sleep Stages?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997800" y="4417300"/>
            <a:ext cx="7261500" cy="4841000"/>
          </a:xfrm>
          <a:custGeom>
            <a:avLst/>
            <a:gdLst/>
            <a:ahLst/>
            <a:cxnLst/>
            <a:rect r="r" b="b" t="t" l="l"/>
            <a:pathLst>
              <a:path h="4841000" w="7261500">
                <a:moveTo>
                  <a:pt x="0" y="0"/>
                </a:moveTo>
                <a:lnTo>
                  <a:pt x="7261500" y="0"/>
                </a:lnTo>
                <a:lnTo>
                  <a:pt x="7261500" y="4841000"/>
                </a:lnTo>
                <a:lnTo>
                  <a:pt x="0" y="484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8700" y="2491979"/>
            <a:ext cx="16230600" cy="868045"/>
            <a:chOff x="0" y="0"/>
            <a:chExt cx="21640800" cy="11573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40800" cy="1157394"/>
            </a:xfrm>
            <a:custGeom>
              <a:avLst/>
              <a:gdLst/>
              <a:ahLst/>
              <a:cxnLst/>
              <a:rect r="r" b="b" t="t" l="l"/>
              <a:pathLst>
                <a:path h="1157394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157394"/>
                  </a:lnTo>
                  <a:lnTo>
                    <a:pt x="0" y="11573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640800" cy="1195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sz="2200" spc="-22" b="true">
                  <a:solidFill>
                    <a:srgbClr val="1B386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Polysomnography (PSG)</a:t>
              </a:r>
              <a:r>
                <a:rPr lang="en-US" sz="2200" spc="-22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is used for sleep stage classification because it provides detailed measurements of physiological signals during sleep, which are crucial for accurately identifying different sleep stages.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3706188"/>
            <a:ext cx="8716875" cy="1258570"/>
            <a:chOff x="0" y="0"/>
            <a:chExt cx="11622500" cy="16780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22500" cy="1678094"/>
            </a:xfrm>
            <a:custGeom>
              <a:avLst/>
              <a:gdLst/>
              <a:ahLst/>
              <a:cxnLst/>
              <a:rect r="r" b="b" t="t" l="l"/>
              <a:pathLst>
                <a:path h="1678094" w="11622500">
                  <a:moveTo>
                    <a:pt x="0" y="0"/>
                  </a:moveTo>
                  <a:lnTo>
                    <a:pt x="11622500" y="0"/>
                  </a:lnTo>
                  <a:lnTo>
                    <a:pt x="11622500" y="1678094"/>
                  </a:lnTo>
                  <a:lnTo>
                    <a:pt x="0" y="1678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622500" cy="171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sz="2200" spc="-22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These PSG signals are typically gathered in sleep labs using overnight sleep study setups in a controlled environment. The signals recorded in PSG include: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8140963"/>
            <a:ext cx="8716875" cy="1258570"/>
            <a:chOff x="0" y="0"/>
            <a:chExt cx="11622500" cy="16780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22500" cy="1678094"/>
            </a:xfrm>
            <a:custGeom>
              <a:avLst/>
              <a:gdLst/>
              <a:ahLst/>
              <a:cxnLst/>
              <a:rect r="r" b="b" t="t" l="l"/>
              <a:pathLst>
                <a:path h="1678094" w="11622500">
                  <a:moveTo>
                    <a:pt x="0" y="0"/>
                  </a:moveTo>
                  <a:lnTo>
                    <a:pt x="11622500" y="0"/>
                  </a:lnTo>
                  <a:lnTo>
                    <a:pt x="11622500" y="1678094"/>
                  </a:lnTo>
                  <a:lnTo>
                    <a:pt x="0" y="1678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622500" cy="171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0"/>
                </a:lnSpc>
              </a:pPr>
              <a:r>
                <a:rPr lang="en-US" sz="2200" spc="-22" b="true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Manually classifying sleep stages is slow, subjective, and prone to errors.</a:t>
              </a:r>
              <a:r>
                <a:rPr lang="en-US" sz="2200" spc="-22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 Therefore, machine learning techniques are used for a faster and more reliable approach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8700" y="5380595"/>
            <a:ext cx="8115300" cy="476425"/>
            <a:chOff x="0" y="0"/>
            <a:chExt cx="10820400" cy="635233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803392" cy="635233"/>
              <a:chOff x="0" y="0"/>
              <a:chExt cx="553756" cy="12547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53756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553756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EEG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803392" y="0"/>
              <a:ext cx="8017008" cy="635233"/>
              <a:chOff x="0" y="0"/>
              <a:chExt cx="1583607" cy="12547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583607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1583607">
                    <a:moveTo>
                      <a:pt x="0" y="0"/>
                    </a:moveTo>
                    <a:lnTo>
                      <a:pt x="1583607" y="0"/>
                    </a:lnTo>
                    <a:lnTo>
                      <a:pt x="1583607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583607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Measures brain wave activity 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028700" y="5971863"/>
            <a:ext cx="8115300" cy="472901"/>
            <a:chOff x="0" y="0"/>
            <a:chExt cx="10820400" cy="630535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2803392" cy="630535"/>
              <a:chOff x="0" y="0"/>
              <a:chExt cx="553756" cy="12455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553756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9525"/>
                <a:ext cx="553756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ECG 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803392" y="0"/>
              <a:ext cx="8017008" cy="630535"/>
              <a:chOff x="0" y="0"/>
              <a:chExt cx="1583607" cy="12455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583607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1583607">
                    <a:moveTo>
                      <a:pt x="0" y="0"/>
                    </a:moveTo>
                    <a:lnTo>
                      <a:pt x="1583607" y="0"/>
                    </a:lnTo>
                    <a:lnTo>
                      <a:pt x="1583607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1583607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Monitors heart rate and rhythm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1028700" y="6559065"/>
            <a:ext cx="8115300" cy="472901"/>
            <a:chOff x="0" y="0"/>
            <a:chExt cx="10820400" cy="630535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2803392" cy="630535"/>
              <a:chOff x="0" y="0"/>
              <a:chExt cx="553756" cy="12455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553756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9525"/>
                <a:ext cx="553756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EOG 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2803392" y="0"/>
              <a:ext cx="8017008" cy="630535"/>
              <a:chOff x="0" y="0"/>
              <a:chExt cx="1583607" cy="12455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583607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1583607">
                    <a:moveTo>
                      <a:pt x="0" y="0"/>
                    </a:moveTo>
                    <a:lnTo>
                      <a:pt x="1583607" y="0"/>
                    </a:lnTo>
                    <a:lnTo>
                      <a:pt x="1583607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9525"/>
                <a:ext cx="1583607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Tracks eye movements</a:t>
                </a:r>
              </a:p>
            </p:txBody>
          </p:sp>
        </p:grpSp>
      </p:grpSp>
      <p:grpSp>
        <p:nvGrpSpPr>
          <p:cNvPr name="Group 50" id="50"/>
          <p:cNvGrpSpPr/>
          <p:nvPr/>
        </p:nvGrpSpPr>
        <p:grpSpPr>
          <a:xfrm rot="0">
            <a:off x="1028700" y="7146266"/>
            <a:ext cx="8115300" cy="472901"/>
            <a:chOff x="0" y="0"/>
            <a:chExt cx="10820400" cy="630535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2803392" cy="630535"/>
              <a:chOff x="0" y="0"/>
              <a:chExt cx="553756" cy="12455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53756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553756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EMG 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2803392" y="0"/>
              <a:ext cx="8017008" cy="630535"/>
              <a:chOff x="0" y="0"/>
              <a:chExt cx="1583607" cy="12455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583607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1583607">
                    <a:moveTo>
                      <a:pt x="0" y="0"/>
                    </a:moveTo>
                    <a:lnTo>
                      <a:pt x="1583607" y="0"/>
                    </a:lnTo>
                    <a:lnTo>
                      <a:pt x="1583607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9525"/>
                <a:ext cx="1583607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Measures muscle activity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58148" y="-1871736"/>
            <a:ext cx="15676268" cy="17919968"/>
          </a:xfrm>
          <a:custGeom>
            <a:avLst/>
            <a:gdLst/>
            <a:ahLst/>
            <a:cxnLst/>
            <a:rect r="r" b="b" t="t" l="l"/>
            <a:pathLst>
              <a:path h="17919968" w="15676268">
                <a:moveTo>
                  <a:pt x="0" y="0"/>
                </a:moveTo>
                <a:lnTo>
                  <a:pt x="15676268" y="0"/>
                </a:lnTo>
                <a:lnTo>
                  <a:pt x="15676268" y="17919969"/>
                </a:lnTo>
                <a:lnTo>
                  <a:pt x="0" y="17919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2341" y="2736089"/>
            <a:ext cx="10451613" cy="4814822"/>
            <a:chOff x="0" y="0"/>
            <a:chExt cx="13935484" cy="641976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3935484" cy="6419763"/>
              <a:chOff x="0" y="0"/>
              <a:chExt cx="12547899" cy="57805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547944" cy="5780579"/>
              </a:xfrm>
              <a:custGeom>
                <a:avLst/>
                <a:gdLst/>
                <a:ahLst/>
                <a:cxnLst/>
                <a:rect r="r" b="b" t="t" l="l"/>
                <a:pathLst>
                  <a:path h="5780579" w="12547944">
                    <a:moveTo>
                      <a:pt x="0" y="2255201"/>
                    </a:moveTo>
                    <a:cubicBezTo>
                      <a:pt x="0" y="1009670"/>
                      <a:pt x="2191707" y="0"/>
                      <a:pt x="4895401" y="0"/>
                    </a:cubicBezTo>
                    <a:lnTo>
                      <a:pt x="7652710" y="0"/>
                    </a:lnTo>
                    <a:cubicBezTo>
                      <a:pt x="10356405" y="0"/>
                      <a:pt x="12547944" y="1009670"/>
                      <a:pt x="12547944" y="2255201"/>
                    </a:cubicBezTo>
                    <a:lnTo>
                      <a:pt x="12547944" y="3525431"/>
                    </a:lnTo>
                    <a:cubicBezTo>
                      <a:pt x="12547944" y="4770962"/>
                      <a:pt x="10356405" y="5780579"/>
                      <a:pt x="7652710" y="5780579"/>
                    </a:cubicBezTo>
                    <a:lnTo>
                      <a:pt x="4895401" y="5780579"/>
                    </a:lnTo>
                    <a:cubicBezTo>
                      <a:pt x="2191707" y="5780579"/>
                      <a:pt x="0" y="4770962"/>
                      <a:pt x="0" y="3525431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621239" y="361470"/>
              <a:ext cx="11140659" cy="5352288"/>
              <a:chOff x="0" y="0"/>
              <a:chExt cx="11140659" cy="53522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140659" cy="5352288"/>
              </a:xfrm>
              <a:custGeom>
                <a:avLst/>
                <a:gdLst/>
                <a:ahLst/>
                <a:cxnLst/>
                <a:rect r="r" b="b" t="t" l="l"/>
                <a:pathLst>
                  <a:path h="5352288" w="11140659">
                    <a:moveTo>
                      <a:pt x="0" y="0"/>
                    </a:moveTo>
                    <a:lnTo>
                      <a:pt x="11140659" y="0"/>
                    </a:lnTo>
                    <a:lnTo>
                      <a:pt x="11140659" y="5352288"/>
                    </a:lnTo>
                    <a:lnTo>
                      <a:pt x="0" y="535228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11140659" cy="5352288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14400"/>
                  </a:lnSpc>
                </a:pPr>
                <a:r>
                  <a:rPr lang="en-US" sz="12000" b="true">
                    <a:solidFill>
                      <a:srgbClr val="203866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Research</a:t>
                </a:r>
              </a:p>
              <a:p>
                <a:pPr algn="ctr">
                  <a:lnSpc>
                    <a:spcPts val="14400"/>
                  </a:lnSpc>
                </a:pPr>
                <a:r>
                  <a:rPr lang="en-US" sz="12000" b="true">
                    <a:solidFill>
                      <a:srgbClr val="203866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Gap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595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07085" y="1028700"/>
            <a:ext cx="10473830" cy="1092708"/>
            <a:chOff x="0" y="0"/>
            <a:chExt cx="13965107" cy="1456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65107" cy="1456944"/>
            </a:xfrm>
            <a:custGeom>
              <a:avLst/>
              <a:gdLst/>
              <a:ahLst/>
              <a:cxnLst/>
              <a:rect r="r" b="b" t="t" l="l"/>
              <a:pathLst>
                <a:path h="1456944" w="13965107">
                  <a:moveTo>
                    <a:pt x="0" y="0"/>
                  </a:moveTo>
                  <a:lnTo>
                    <a:pt x="13965107" y="0"/>
                  </a:lnTo>
                  <a:lnTo>
                    <a:pt x="13965107" y="1456944"/>
                  </a:lnTo>
                  <a:lnTo>
                    <a:pt x="0" y="14569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965107" cy="1456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Research Gap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77738" y="3180865"/>
            <a:ext cx="6763487" cy="941423"/>
            <a:chOff x="0" y="0"/>
            <a:chExt cx="9017982" cy="12552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5230" cy="1255230"/>
            </a:xfrm>
            <a:custGeom>
              <a:avLst/>
              <a:gdLst/>
              <a:ahLst/>
              <a:cxnLst/>
              <a:rect r="r" b="b" t="t" l="l"/>
              <a:pathLst>
                <a:path h="1255230" w="1255230">
                  <a:moveTo>
                    <a:pt x="0" y="0"/>
                  </a:moveTo>
                  <a:lnTo>
                    <a:pt x="1255230" y="0"/>
                  </a:lnTo>
                  <a:lnTo>
                    <a:pt x="1255230" y="1255230"/>
                  </a:lnTo>
                  <a:lnTo>
                    <a:pt x="0" y="1255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1549416" y="0"/>
              <a:ext cx="4114800" cy="1255230"/>
              <a:chOff x="0" y="0"/>
              <a:chExt cx="812800" cy="24794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247947"/>
              </a:xfrm>
              <a:custGeom>
                <a:avLst/>
                <a:gdLst/>
                <a:ahLst/>
                <a:cxnLst/>
                <a:rect r="r" b="b" t="t" l="l"/>
                <a:pathLst>
                  <a:path h="24794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47947"/>
                    </a:lnTo>
                    <a:lnTo>
                      <a:pt x="0" y="247947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812800" cy="2574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742903" y="0"/>
              <a:ext cx="7275079" cy="1255230"/>
              <a:chOff x="0" y="0"/>
              <a:chExt cx="1437053" cy="24794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37053" cy="247947"/>
              </a:xfrm>
              <a:custGeom>
                <a:avLst/>
                <a:gdLst/>
                <a:ahLst/>
                <a:cxnLst/>
                <a:rect r="r" b="b" t="t" l="l"/>
                <a:pathLst>
                  <a:path h="247947" w="1437053">
                    <a:moveTo>
                      <a:pt x="1233853" y="0"/>
                    </a:moveTo>
                    <a:lnTo>
                      <a:pt x="0" y="0"/>
                    </a:lnTo>
                    <a:lnTo>
                      <a:pt x="0" y="247947"/>
                    </a:lnTo>
                    <a:lnTo>
                      <a:pt x="1233853" y="247947"/>
                    </a:lnTo>
                    <a:lnTo>
                      <a:pt x="1437053" y="123973"/>
                    </a:lnTo>
                    <a:lnTo>
                      <a:pt x="1233853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9525"/>
                <a:ext cx="1322753" cy="2574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Limited Use of Pre-Trained Vision Transformers</a:t>
                </a:r>
              </a:p>
            </p:txBody>
          </p:sp>
        </p:grpSp>
      </p:grpSp>
      <p:grpSp>
        <p:nvGrpSpPr>
          <p:cNvPr name="Group 14" id="14"/>
          <p:cNvGrpSpPr/>
          <p:nvPr/>
        </p:nvGrpSpPr>
        <p:grpSpPr>
          <a:xfrm rot="0">
            <a:off x="9144000" y="2907183"/>
            <a:ext cx="8300882" cy="1488787"/>
            <a:chOff x="0" y="0"/>
            <a:chExt cx="11067843" cy="19850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67842" cy="1985050"/>
            </a:xfrm>
            <a:custGeom>
              <a:avLst/>
              <a:gdLst/>
              <a:ahLst/>
              <a:cxnLst/>
              <a:rect r="r" b="b" t="t" l="l"/>
              <a:pathLst>
                <a:path h="1985050" w="11067842">
                  <a:moveTo>
                    <a:pt x="0" y="0"/>
                  </a:moveTo>
                  <a:lnTo>
                    <a:pt x="11067842" y="0"/>
                  </a:lnTo>
                  <a:lnTo>
                    <a:pt x="11067842" y="1985050"/>
                  </a:lnTo>
                  <a:lnTo>
                    <a:pt x="0" y="1985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1067843" cy="2032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Most studies train Transformers from scratch, demanding large datasets and high computation. The potential of pre-trained ViTs for PSG sleep classification, with better generalization and efficiency, remains underexplored.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77738" y="5536691"/>
            <a:ext cx="6763487" cy="941423"/>
            <a:chOff x="0" y="0"/>
            <a:chExt cx="9017982" cy="12552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5230" cy="1255230"/>
            </a:xfrm>
            <a:custGeom>
              <a:avLst/>
              <a:gdLst/>
              <a:ahLst/>
              <a:cxnLst/>
              <a:rect r="r" b="b" t="t" l="l"/>
              <a:pathLst>
                <a:path h="1255230" w="1255230">
                  <a:moveTo>
                    <a:pt x="0" y="0"/>
                  </a:moveTo>
                  <a:lnTo>
                    <a:pt x="1255230" y="0"/>
                  </a:lnTo>
                  <a:lnTo>
                    <a:pt x="1255230" y="1255230"/>
                  </a:lnTo>
                  <a:lnTo>
                    <a:pt x="0" y="1255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1549416" y="0"/>
              <a:ext cx="4114800" cy="1255230"/>
              <a:chOff x="0" y="0"/>
              <a:chExt cx="812800" cy="24794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247947"/>
              </a:xfrm>
              <a:custGeom>
                <a:avLst/>
                <a:gdLst/>
                <a:ahLst/>
                <a:cxnLst/>
                <a:rect r="r" b="b" t="t" l="l"/>
                <a:pathLst>
                  <a:path h="24794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47947"/>
                    </a:lnTo>
                    <a:lnTo>
                      <a:pt x="0" y="247947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812800" cy="2574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2903" y="0"/>
              <a:ext cx="7275079" cy="1255230"/>
              <a:chOff x="0" y="0"/>
              <a:chExt cx="1437053" cy="24794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437053" cy="247947"/>
              </a:xfrm>
              <a:custGeom>
                <a:avLst/>
                <a:gdLst/>
                <a:ahLst/>
                <a:cxnLst/>
                <a:rect r="r" b="b" t="t" l="l"/>
                <a:pathLst>
                  <a:path h="247947" w="1437053">
                    <a:moveTo>
                      <a:pt x="1233853" y="0"/>
                    </a:moveTo>
                    <a:lnTo>
                      <a:pt x="0" y="0"/>
                    </a:lnTo>
                    <a:lnTo>
                      <a:pt x="0" y="247947"/>
                    </a:lnTo>
                    <a:lnTo>
                      <a:pt x="1233853" y="247947"/>
                    </a:lnTo>
                    <a:lnTo>
                      <a:pt x="1437053" y="123973"/>
                    </a:lnTo>
                    <a:lnTo>
                      <a:pt x="1233853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1322753" cy="2574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Underexplored Comparisons of Image Representation Techniques</a:t>
                </a: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9144000" y="5086796"/>
            <a:ext cx="8300882" cy="1841212"/>
            <a:chOff x="0" y="0"/>
            <a:chExt cx="11067843" cy="24549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67842" cy="2454950"/>
            </a:xfrm>
            <a:custGeom>
              <a:avLst/>
              <a:gdLst/>
              <a:ahLst/>
              <a:cxnLst/>
              <a:rect r="r" b="b" t="t" l="l"/>
              <a:pathLst>
                <a:path h="2454950" w="11067842">
                  <a:moveTo>
                    <a:pt x="0" y="0"/>
                  </a:moveTo>
                  <a:lnTo>
                    <a:pt x="11067842" y="0"/>
                  </a:lnTo>
                  <a:lnTo>
                    <a:pt x="11067842" y="2454950"/>
                  </a:lnTo>
                  <a:lnTo>
                    <a:pt x="0" y="2454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1067843" cy="25025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While various studies have explored transforming PSG signals into image representations, there is no consensus on the most effective method for Transformer-based models. A systematic comparison of these techniques, particularly in the context of ViTs, is needed to optimize feature extraction and model performance.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77738" y="7897015"/>
            <a:ext cx="6763487" cy="941423"/>
            <a:chOff x="0" y="0"/>
            <a:chExt cx="9017982" cy="12552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5230" cy="1255230"/>
            </a:xfrm>
            <a:custGeom>
              <a:avLst/>
              <a:gdLst/>
              <a:ahLst/>
              <a:cxnLst/>
              <a:rect r="r" b="b" t="t" l="l"/>
              <a:pathLst>
                <a:path h="1255230" w="1255230">
                  <a:moveTo>
                    <a:pt x="0" y="0"/>
                  </a:moveTo>
                  <a:lnTo>
                    <a:pt x="1255230" y="0"/>
                  </a:lnTo>
                  <a:lnTo>
                    <a:pt x="1255230" y="1255230"/>
                  </a:lnTo>
                  <a:lnTo>
                    <a:pt x="0" y="1255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1549416" y="0"/>
              <a:ext cx="4114800" cy="1255230"/>
              <a:chOff x="0" y="0"/>
              <a:chExt cx="812800" cy="24794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247947"/>
              </a:xfrm>
              <a:custGeom>
                <a:avLst/>
                <a:gdLst/>
                <a:ahLst/>
                <a:cxnLst/>
                <a:rect r="r" b="b" t="t" l="l"/>
                <a:pathLst>
                  <a:path h="24794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47947"/>
                    </a:lnTo>
                    <a:lnTo>
                      <a:pt x="0" y="247947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812800" cy="2574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742903" y="0"/>
              <a:ext cx="7275079" cy="1255230"/>
              <a:chOff x="0" y="0"/>
              <a:chExt cx="1437053" cy="24794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437053" cy="247947"/>
              </a:xfrm>
              <a:custGeom>
                <a:avLst/>
                <a:gdLst/>
                <a:ahLst/>
                <a:cxnLst/>
                <a:rect r="r" b="b" t="t" l="l"/>
                <a:pathLst>
                  <a:path h="247947" w="1437053">
                    <a:moveTo>
                      <a:pt x="1233853" y="0"/>
                    </a:moveTo>
                    <a:lnTo>
                      <a:pt x="0" y="0"/>
                    </a:lnTo>
                    <a:lnTo>
                      <a:pt x="0" y="247947"/>
                    </a:lnTo>
                    <a:lnTo>
                      <a:pt x="1233853" y="247947"/>
                    </a:lnTo>
                    <a:lnTo>
                      <a:pt x="1437053" y="123973"/>
                    </a:lnTo>
                    <a:lnTo>
                      <a:pt x="1233853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1322753" cy="2574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Limited Use of GAN-Based Data Augmentation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9144000" y="7623333"/>
            <a:ext cx="8300882" cy="1488787"/>
            <a:chOff x="0" y="0"/>
            <a:chExt cx="11067843" cy="19850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67842" cy="1985050"/>
            </a:xfrm>
            <a:custGeom>
              <a:avLst/>
              <a:gdLst/>
              <a:ahLst/>
              <a:cxnLst/>
              <a:rect r="r" b="b" t="t" l="l"/>
              <a:pathLst>
                <a:path h="1985050" w="11067842">
                  <a:moveTo>
                    <a:pt x="0" y="0"/>
                  </a:moveTo>
                  <a:lnTo>
                    <a:pt x="11067842" y="0"/>
                  </a:lnTo>
                  <a:lnTo>
                    <a:pt x="11067842" y="1985050"/>
                  </a:lnTo>
                  <a:lnTo>
                    <a:pt x="0" y="1985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1067843" cy="2032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0"/>
                </a:lnSpc>
              </a:pPr>
              <a:r>
                <a:rPr lang="en-US" sz="2000" spc="-2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The use of GANs for generating synthetic data in time series-to-image transformed data is rarely explored. Investigating its impact on ViT models could help address class imbalance and improve performance in low-data scenarios.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08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83908" y="-1903983"/>
            <a:ext cx="15676268" cy="17919968"/>
          </a:xfrm>
          <a:custGeom>
            <a:avLst/>
            <a:gdLst/>
            <a:ahLst/>
            <a:cxnLst/>
            <a:rect r="r" b="b" t="t" l="l"/>
            <a:pathLst>
              <a:path h="17919968" w="15676268">
                <a:moveTo>
                  <a:pt x="0" y="0"/>
                </a:moveTo>
                <a:lnTo>
                  <a:pt x="15676268" y="0"/>
                </a:lnTo>
                <a:lnTo>
                  <a:pt x="15676268" y="17919968"/>
                </a:lnTo>
                <a:lnTo>
                  <a:pt x="0" y="17919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8101" y="3101662"/>
            <a:ext cx="10451613" cy="2986022"/>
            <a:chOff x="0" y="0"/>
            <a:chExt cx="13935484" cy="398136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3935484" cy="3981363"/>
              <a:chOff x="0" y="0"/>
              <a:chExt cx="12547899" cy="358493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547944" cy="3584976"/>
              </a:xfrm>
              <a:custGeom>
                <a:avLst/>
                <a:gdLst/>
                <a:ahLst/>
                <a:cxnLst/>
                <a:rect r="r" b="b" t="t" l="l"/>
                <a:pathLst>
                  <a:path h="3584976" w="12547944">
                    <a:moveTo>
                      <a:pt x="0" y="1398614"/>
                    </a:moveTo>
                    <a:cubicBezTo>
                      <a:pt x="0" y="626170"/>
                      <a:pt x="2191707" y="0"/>
                      <a:pt x="4895401" y="0"/>
                    </a:cubicBezTo>
                    <a:lnTo>
                      <a:pt x="7652710" y="0"/>
                    </a:lnTo>
                    <a:cubicBezTo>
                      <a:pt x="10356405" y="0"/>
                      <a:pt x="12547944" y="626170"/>
                      <a:pt x="12547944" y="1398614"/>
                    </a:cubicBezTo>
                    <a:lnTo>
                      <a:pt x="12547944" y="2186377"/>
                    </a:lnTo>
                    <a:cubicBezTo>
                      <a:pt x="12547944" y="2958821"/>
                      <a:pt x="10356405" y="3584976"/>
                      <a:pt x="7652710" y="3584976"/>
                    </a:cubicBezTo>
                    <a:lnTo>
                      <a:pt x="4895401" y="3584976"/>
                    </a:lnTo>
                    <a:cubicBezTo>
                      <a:pt x="2191707" y="3584976"/>
                      <a:pt x="0" y="2958821"/>
                      <a:pt x="0" y="2186377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2332597" y="533737"/>
              <a:ext cx="9270289" cy="2913888"/>
              <a:chOff x="0" y="0"/>
              <a:chExt cx="9270289" cy="29138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270289" cy="2913888"/>
              </a:xfrm>
              <a:custGeom>
                <a:avLst/>
                <a:gdLst/>
                <a:ahLst/>
                <a:cxnLst/>
                <a:rect r="r" b="b" t="t" l="l"/>
                <a:pathLst>
                  <a:path h="2913888" w="9270289">
                    <a:moveTo>
                      <a:pt x="0" y="0"/>
                    </a:moveTo>
                    <a:lnTo>
                      <a:pt x="9270289" y="0"/>
                    </a:lnTo>
                    <a:lnTo>
                      <a:pt x="9270289" y="2913888"/>
                    </a:lnTo>
                    <a:lnTo>
                      <a:pt x="0" y="291388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9270289" cy="2913888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14400"/>
                  </a:lnSpc>
                </a:pPr>
                <a:r>
                  <a:rPr lang="en-US" sz="12000" b="true">
                    <a:solidFill>
                      <a:srgbClr val="203866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Objectives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595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07085" y="1028700"/>
            <a:ext cx="10473830" cy="1092708"/>
            <a:chOff x="0" y="0"/>
            <a:chExt cx="13965107" cy="1456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65107" cy="1456944"/>
            </a:xfrm>
            <a:custGeom>
              <a:avLst/>
              <a:gdLst/>
              <a:ahLst/>
              <a:cxnLst/>
              <a:rect r="r" b="b" t="t" l="l"/>
              <a:pathLst>
                <a:path h="1456944" w="13965107">
                  <a:moveTo>
                    <a:pt x="0" y="0"/>
                  </a:moveTo>
                  <a:lnTo>
                    <a:pt x="13965107" y="0"/>
                  </a:lnTo>
                  <a:lnTo>
                    <a:pt x="13965107" y="1456944"/>
                  </a:lnTo>
                  <a:lnTo>
                    <a:pt x="0" y="14569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965107" cy="1456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Research Objectives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10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2795470" y="2891000"/>
            <a:ext cx="12697061" cy="1219658"/>
            <a:chOff x="0" y="0"/>
            <a:chExt cx="16929414" cy="1626211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4114800" y="0"/>
              <a:ext cx="12814614" cy="1626211"/>
              <a:chOff x="0" y="0"/>
              <a:chExt cx="2531282" cy="32122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31282" cy="321227"/>
              </a:xfrm>
              <a:custGeom>
                <a:avLst/>
                <a:gdLst/>
                <a:ahLst/>
                <a:cxnLst/>
                <a:rect r="r" b="b" t="t" l="l"/>
                <a:pathLst>
                  <a:path h="321227" w="2531282">
                    <a:moveTo>
                      <a:pt x="0" y="0"/>
                    </a:moveTo>
                    <a:lnTo>
                      <a:pt x="2531282" y="0"/>
                    </a:lnTo>
                    <a:lnTo>
                      <a:pt x="2531282" y="321227"/>
                    </a:lnTo>
                    <a:lnTo>
                      <a:pt x="0" y="321227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2531282" cy="3307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523271" y="0"/>
              <a:ext cx="12019170" cy="1626211"/>
              <a:chOff x="0" y="0"/>
              <a:chExt cx="12019170" cy="162621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019169" cy="1626211"/>
              </a:xfrm>
              <a:custGeom>
                <a:avLst/>
                <a:gdLst/>
                <a:ahLst/>
                <a:cxnLst/>
                <a:rect r="r" b="b" t="t" l="l"/>
                <a:pathLst>
                  <a:path h="1626211" w="12019169">
                    <a:moveTo>
                      <a:pt x="0" y="0"/>
                    </a:moveTo>
                    <a:lnTo>
                      <a:pt x="12019169" y="0"/>
                    </a:lnTo>
                    <a:lnTo>
                      <a:pt x="12019169" y="1626211"/>
                    </a:lnTo>
                    <a:lnTo>
                      <a:pt x="0" y="16262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2019170" cy="167383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800"/>
                  </a:lnSpc>
                </a:pPr>
                <a:r>
                  <a:rPr lang="en-US" b="true" sz="2000" spc="-20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Develop an accurate Vision Trans formers (ViTs) based model for automatic sleep stage classification using Polysomnog raphy (PSG) data. 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4114800" cy="1626211"/>
              <a:chOff x="0" y="0"/>
              <a:chExt cx="812800" cy="32122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321227"/>
              </a:xfrm>
              <a:custGeom>
                <a:avLst/>
                <a:gdLst/>
                <a:ahLst/>
                <a:cxnLst/>
                <a:rect r="r" b="b" t="t" l="l"/>
                <a:pathLst>
                  <a:path h="32122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21227"/>
                    </a:lnTo>
                    <a:lnTo>
                      <a:pt x="0" y="321227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812800" cy="3307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Primary Objective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2795470" y="4882183"/>
            <a:ext cx="3086100" cy="308610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9647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Secondary Objectives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881570" y="4882183"/>
            <a:ext cx="9610961" cy="909377"/>
            <a:chOff x="0" y="0"/>
            <a:chExt cx="2531282" cy="23950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31282" cy="239507"/>
            </a:xfrm>
            <a:custGeom>
              <a:avLst/>
              <a:gdLst/>
              <a:ahLst/>
              <a:cxnLst/>
              <a:rect r="r" b="b" t="t" l="l"/>
              <a:pathLst>
                <a:path h="239507" w="2531282">
                  <a:moveTo>
                    <a:pt x="0" y="0"/>
                  </a:moveTo>
                  <a:lnTo>
                    <a:pt x="2531282" y="0"/>
                  </a:lnTo>
                  <a:lnTo>
                    <a:pt x="2531282" y="239507"/>
                  </a:lnTo>
                  <a:lnTo>
                    <a:pt x="0" y="239507"/>
                  </a:lnTo>
                  <a:close/>
                </a:path>
              </a:pathLst>
            </a:custGeom>
            <a:solidFill>
              <a:srgbClr val="CDF0E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2531282" cy="24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Investigate different image transformation techniques for PSG signals.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881570" y="5970544"/>
            <a:ext cx="9610961" cy="909377"/>
            <a:chOff x="0" y="0"/>
            <a:chExt cx="2531282" cy="2395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31282" cy="239507"/>
            </a:xfrm>
            <a:custGeom>
              <a:avLst/>
              <a:gdLst/>
              <a:ahLst/>
              <a:cxnLst/>
              <a:rect r="r" b="b" t="t" l="l"/>
              <a:pathLst>
                <a:path h="239507" w="2531282">
                  <a:moveTo>
                    <a:pt x="0" y="0"/>
                  </a:moveTo>
                  <a:lnTo>
                    <a:pt x="2531282" y="0"/>
                  </a:lnTo>
                  <a:lnTo>
                    <a:pt x="2531282" y="239507"/>
                  </a:lnTo>
                  <a:lnTo>
                    <a:pt x="0" y="239507"/>
                  </a:lnTo>
                  <a:close/>
                </a:path>
              </a:pathLst>
            </a:custGeom>
            <a:solidFill>
              <a:srgbClr val="CDF0E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531282" cy="24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Identify the most effective frequency representations for PSG-based image transformations.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881570" y="7060896"/>
            <a:ext cx="9610961" cy="909377"/>
            <a:chOff x="0" y="0"/>
            <a:chExt cx="2531282" cy="2395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31282" cy="239507"/>
            </a:xfrm>
            <a:custGeom>
              <a:avLst/>
              <a:gdLst/>
              <a:ahLst/>
              <a:cxnLst/>
              <a:rect r="r" b="b" t="t" l="l"/>
              <a:pathLst>
                <a:path h="239507" w="2531282">
                  <a:moveTo>
                    <a:pt x="0" y="0"/>
                  </a:moveTo>
                  <a:lnTo>
                    <a:pt x="2531282" y="0"/>
                  </a:lnTo>
                  <a:lnTo>
                    <a:pt x="2531282" y="239507"/>
                  </a:lnTo>
                  <a:lnTo>
                    <a:pt x="0" y="239507"/>
                  </a:lnTo>
                  <a:close/>
                </a:path>
              </a:pathLst>
            </a:custGeom>
            <a:solidFill>
              <a:srgbClr val="CDF0E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531282" cy="24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Explore GAN-based data augmentation methods to improve model performance.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4232746" y="6231746"/>
            <a:ext cx="4055254" cy="4055254"/>
          </a:xfrm>
          <a:custGeom>
            <a:avLst/>
            <a:gdLst/>
            <a:ahLst/>
            <a:cxnLst/>
            <a:rect r="r" b="b" t="t" l="l"/>
            <a:pathLst>
              <a:path h="4055254" w="4055254">
                <a:moveTo>
                  <a:pt x="0" y="0"/>
                </a:moveTo>
                <a:lnTo>
                  <a:pt x="4055254" y="0"/>
                </a:lnTo>
                <a:lnTo>
                  <a:pt x="4055254" y="4055254"/>
                </a:lnTo>
                <a:lnTo>
                  <a:pt x="0" y="4055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58148" y="-1871736"/>
            <a:ext cx="15676268" cy="17919968"/>
          </a:xfrm>
          <a:custGeom>
            <a:avLst/>
            <a:gdLst/>
            <a:ahLst/>
            <a:cxnLst/>
            <a:rect r="r" b="b" t="t" l="l"/>
            <a:pathLst>
              <a:path h="17919968" w="15676268">
                <a:moveTo>
                  <a:pt x="0" y="0"/>
                </a:moveTo>
                <a:lnTo>
                  <a:pt x="15676268" y="0"/>
                </a:lnTo>
                <a:lnTo>
                  <a:pt x="15676268" y="17919969"/>
                </a:lnTo>
                <a:lnTo>
                  <a:pt x="0" y="179199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8101" y="3101662"/>
            <a:ext cx="11451293" cy="2986022"/>
            <a:chOff x="0" y="0"/>
            <a:chExt cx="15268391" cy="398136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5268391" cy="3981363"/>
              <a:chOff x="0" y="0"/>
              <a:chExt cx="13748085" cy="358493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3748131" cy="3584976"/>
              </a:xfrm>
              <a:custGeom>
                <a:avLst/>
                <a:gdLst/>
                <a:ahLst/>
                <a:cxnLst/>
                <a:rect r="r" b="b" t="t" l="l"/>
                <a:pathLst>
                  <a:path h="3584976" w="13748131">
                    <a:moveTo>
                      <a:pt x="0" y="1398614"/>
                    </a:moveTo>
                    <a:cubicBezTo>
                      <a:pt x="0" y="626170"/>
                      <a:pt x="2401340" y="0"/>
                      <a:pt x="5363639" y="0"/>
                    </a:cubicBezTo>
                    <a:lnTo>
                      <a:pt x="8384680" y="0"/>
                    </a:lnTo>
                    <a:cubicBezTo>
                      <a:pt x="11346979" y="0"/>
                      <a:pt x="13748131" y="626170"/>
                      <a:pt x="13748131" y="1398614"/>
                    </a:cubicBezTo>
                    <a:lnTo>
                      <a:pt x="13748131" y="2186377"/>
                    </a:lnTo>
                    <a:cubicBezTo>
                      <a:pt x="13748131" y="2958821"/>
                      <a:pt x="11346979" y="3584976"/>
                      <a:pt x="8384680" y="3584976"/>
                    </a:cubicBezTo>
                    <a:lnTo>
                      <a:pt x="5363639" y="3584976"/>
                    </a:lnTo>
                    <a:cubicBezTo>
                      <a:pt x="2401340" y="3584976"/>
                      <a:pt x="0" y="2958821"/>
                      <a:pt x="0" y="2186377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776308" y="361470"/>
              <a:ext cx="12206245" cy="2913888"/>
              <a:chOff x="0" y="0"/>
              <a:chExt cx="12206245" cy="29138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206245" cy="2913888"/>
              </a:xfrm>
              <a:custGeom>
                <a:avLst/>
                <a:gdLst/>
                <a:ahLst/>
                <a:cxnLst/>
                <a:rect r="r" b="b" t="t" l="l"/>
                <a:pathLst>
                  <a:path h="2913888" w="12206245">
                    <a:moveTo>
                      <a:pt x="0" y="0"/>
                    </a:moveTo>
                    <a:lnTo>
                      <a:pt x="12206245" y="0"/>
                    </a:lnTo>
                    <a:lnTo>
                      <a:pt x="12206245" y="2913888"/>
                    </a:lnTo>
                    <a:lnTo>
                      <a:pt x="0" y="291388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12206245" cy="2913888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14400"/>
                  </a:lnSpc>
                </a:pPr>
                <a:r>
                  <a:rPr lang="en-US" sz="12000" b="true">
                    <a:solidFill>
                      <a:srgbClr val="203866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Meth</a:t>
                </a:r>
                <a:r>
                  <a:rPr lang="en-US" sz="12000" b="true">
                    <a:solidFill>
                      <a:srgbClr val="203866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odology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37170" y="1028700"/>
            <a:ext cx="14613660" cy="1083182"/>
            <a:chOff x="0" y="0"/>
            <a:chExt cx="19484880" cy="1444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Methodology Overview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68761" y="7592946"/>
            <a:ext cx="11654240" cy="1665354"/>
            <a:chOff x="0" y="0"/>
            <a:chExt cx="15538987" cy="22204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39000" cy="2220491"/>
            </a:xfrm>
            <a:custGeom>
              <a:avLst/>
              <a:gdLst/>
              <a:ahLst/>
              <a:cxnLst/>
              <a:rect r="r" b="b" t="t" l="l"/>
              <a:pathLst>
                <a:path h="2220491" w="15539000">
                  <a:moveTo>
                    <a:pt x="0" y="0"/>
                  </a:moveTo>
                  <a:lnTo>
                    <a:pt x="15539000" y="0"/>
                  </a:lnTo>
                  <a:lnTo>
                    <a:pt x="15539000" y="2220491"/>
                  </a:lnTo>
                  <a:lnTo>
                    <a:pt x="0" y="2220491"/>
                  </a:lnTo>
                  <a:close/>
                </a:path>
              </a:pathLst>
            </a:custGeom>
            <a:solidFill>
              <a:srgbClr val="40AD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5538987" cy="2229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</a:p>
            <a:p>
              <a:pPr algn="just">
                <a:lnSpc>
                  <a:spcPts val="2400"/>
                </a:lnSpc>
              </a:pPr>
            </a:p>
            <a:p>
              <a:pPr algn="just">
                <a:lnSpc>
                  <a:spcPts val="24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087113" y="7592946"/>
            <a:ext cx="3788737" cy="1675074"/>
            <a:chOff x="0" y="0"/>
            <a:chExt cx="5051650" cy="22334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51606" cy="2233466"/>
            </a:xfrm>
            <a:custGeom>
              <a:avLst/>
              <a:gdLst/>
              <a:ahLst/>
              <a:cxnLst/>
              <a:rect r="r" b="b" t="t" l="l"/>
              <a:pathLst>
                <a:path h="2233466" w="5051606">
                  <a:moveTo>
                    <a:pt x="0" y="0"/>
                  </a:moveTo>
                  <a:lnTo>
                    <a:pt x="5051606" y="0"/>
                  </a:lnTo>
                  <a:lnTo>
                    <a:pt x="5051606" y="2233466"/>
                  </a:lnTo>
                  <a:lnTo>
                    <a:pt x="0" y="2233466"/>
                  </a:lnTo>
                  <a:close/>
                </a:path>
              </a:pathLst>
            </a:custGeom>
            <a:solidFill>
              <a:srgbClr val="FFFFFF">
                <a:alpha val="25098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051650" cy="2233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Final Model Selection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537740"/>
            <a:ext cx="3484428" cy="6720560"/>
            <a:chOff x="0" y="0"/>
            <a:chExt cx="4645904" cy="896074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645904" cy="8960747"/>
              <a:chOff x="0" y="0"/>
              <a:chExt cx="4645904" cy="896074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645917" cy="8960761"/>
              </a:xfrm>
              <a:custGeom>
                <a:avLst/>
                <a:gdLst/>
                <a:ahLst/>
                <a:cxnLst/>
                <a:rect r="r" b="b" t="t" l="l"/>
                <a:pathLst>
                  <a:path h="8960761" w="4645917">
                    <a:moveTo>
                      <a:pt x="0" y="0"/>
                    </a:moveTo>
                    <a:lnTo>
                      <a:pt x="4645917" y="0"/>
                    </a:lnTo>
                    <a:lnTo>
                      <a:pt x="4645917" y="8960761"/>
                    </a:lnTo>
                    <a:lnTo>
                      <a:pt x="0" y="8960761"/>
                    </a:lnTo>
                    <a:close/>
                  </a:path>
                </a:pathLst>
              </a:custGeom>
              <a:solidFill>
                <a:srgbClr val="ACE6D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9525"/>
                <a:ext cx="4645904" cy="895122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160"/>
                  </a:lnSpc>
                </a:pPr>
              </a:p>
              <a:p>
                <a:pPr algn="l">
                  <a:lnSpc>
                    <a:spcPts val="2160"/>
                  </a:lnSpc>
                </a:pPr>
              </a:p>
              <a:p>
                <a:pPr algn="just">
                  <a:lnSpc>
                    <a:spcPts val="2160"/>
                  </a:lnSpc>
                </a:pPr>
              </a:p>
              <a:p>
                <a:pPr algn="just">
                  <a:lnSpc>
                    <a:spcPts val="2160"/>
                  </a:lnSpc>
                </a:pPr>
              </a:p>
              <a:p>
                <a:pPr algn="just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4224" y="0"/>
              <a:ext cx="4621680" cy="1592800"/>
              <a:chOff x="0" y="0"/>
              <a:chExt cx="4621680" cy="159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621640" cy="1592834"/>
              </a:xfrm>
              <a:custGeom>
                <a:avLst/>
                <a:gdLst/>
                <a:ahLst/>
                <a:cxnLst/>
                <a:rect r="r" b="b" t="t" l="l"/>
                <a:pathLst>
                  <a:path h="1592834" w="4621640">
                    <a:moveTo>
                      <a:pt x="0" y="0"/>
                    </a:moveTo>
                    <a:lnTo>
                      <a:pt x="4621640" y="0"/>
                    </a:lnTo>
                    <a:lnTo>
                      <a:pt x="4621640" y="1592834"/>
                    </a:lnTo>
                    <a:lnTo>
                      <a:pt x="0" y="1592834"/>
                    </a:lnTo>
                    <a:close/>
                  </a:path>
                </a:pathLst>
              </a:custGeom>
              <a:solidFill>
                <a:srgbClr val="FFFFFF">
                  <a:alpha val="25098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4621680" cy="15928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Signal Pre Processing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63964" y="4165106"/>
              <a:ext cx="4342199" cy="630535"/>
              <a:chOff x="0" y="0"/>
              <a:chExt cx="857718" cy="1245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57718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857718">
                    <a:moveTo>
                      <a:pt x="0" y="0"/>
                    </a:moveTo>
                    <a:lnTo>
                      <a:pt x="857718" y="0"/>
                    </a:lnTo>
                    <a:lnTo>
                      <a:pt x="857718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857718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Low-Pass Filtering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63964" y="5671941"/>
              <a:ext cx="4342199" cy="630535"/>
              <a:chOff x="0" y="0"/>
              <a:chExt cx="857718" cy="12455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57718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857718">
                    <a:moveTo>
                      <a:pt x="0" y="0"/>
                    </a:moveTo>
                    <a:lnTo>
                      <a:pt x="857718" y="0"/>
                    </a:lnTo>
                    <a:lnTo>
                      <a:pt x="857718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857718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High-Pass Filtering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51852" y="7369276"/>
              <a:ext cx="4342199" cy="630535"/>
              <a:chOff x="0" y="0"/>
              <a:chExt cx="857718" cy="1245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57718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857718">
                    <a:moveTo>
                      <a:pt x="0" y="0"/>
                    </a:moveTo>
                    <a:lnTo>
                      <a:pt x="857718" y="0"/>
                    </a:lnTo>
                    <a:lnTo>
                      <a:pt x="857718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857718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Notch Filtering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63964" y="2473355"/>
              <a:ext cx="4342199" cy="630535"/>
              <a:chOff x="0" y="0"/>
              <a:chExt cx="857718" cy="12455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57718" cy="124550"/>
              </a:xfrm>
              <a:custGeom>
                <a:avLst/>
                <a:gdLst/>
                <a:ahLst/>
                <a:cxnLst/>
                <a:rect r="r" b="b" t="t" l="l"/>
                <a:pathLst>
                  <a:path h="124550" w="857718">
                    <a:moveTo>
                      <a:pt x="0" y="0"/>
                    </a:moveTo>
                    <a:lnTo>
                      <a:pt x="857718" y="0"/>
                    </a:lnTo>
                    <a:lnTo>
                      <a:pt x="857718" y="124550"/>
                    </a:lnTo>
                    <a:lnTo>
                      <a:pt x="0" y="124550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857718" cy="134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Channel Selection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5068761" y="2533336"/>
            <a:ext cx="7614180" cy="4608792"/>
            <a:chOff x="0" y="0"/>
            <a:chExt cx="10152240" cy="614505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152240" cy="6145056"/>
              <a:chOff x="0" y="0"/>
              <a:chExt cx="10152240" cy="614505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152253" cy="6145073"/>
              </a:xfrm>
              <a:custGeom>
                <a:avLst/>
                <a:gdLst/>
                <a:ahLst/>
                <a:cxnLst/>
                <a:rect r="r" b="b" t="t" l="l"/>
                <a:pathLst>
                  <a:path h="6145073" w="10152253">
                    <a:moveTo>
                      <a:pt x="0" y="0"/>
                    </a:moveTo>
                    <a:lnTo>
                      <a:pt x="10152253" y="0"/>
                    </a:lnTo>
                    <a:lnTo>
                      <a:pt x="10152253" y="6145073"/>
                    </a:lnTo>
                    <a:lnTo>
                      <a:pt x="0" y="6145073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10152240" cy="61545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  <a:r>
                  <a:rPr lang="en-US" sz="2000">
                    <a:solidFill>
                      <a:srgbClr val="000000"/>
                    </a:solidFill>
                    <a:latin typeface="Noto Sans"/>
                    <a:ea typeface="Noto Sans"/>
                    <a:cs typeface="Noto Sans"/>
                    <a:sym typeface="Noto Sans"/>
                  </a:rPr>
                  <a:t> 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10152240" cy="1599554"/>
              <a:chOff x="0" y="0"/>
              <a:chExt cx="10152240" cy="159955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152152" cy="1599588"/>
              </a:xfrm>
              <a:custGeom>
                <a:avLst/>
                <a:gdLst/>
                <a:ahLst/>
                <a:cxnLst/>
                <a:rect r="r" b="b" t="t" l="l"/>
                <a:pathLst>
                  <a:path h="1599588" w="10152152">
                    <a:moveTo>
                      <a:pt x="0" y="0"/>
                    </a:moveTo>
                    <a:lnTo>
                      <a:pt x="10152152" y="0"/>
                    </a:lnTo>
                    <a:lnTo>
                      <a:pt x="10152152" y="1599588"/>
                    </a:lnTo>
                    <a:lnTo>
                      <a:pt x="0" y="1599588"/>
                    </a:lnTo>
                    <a:close/>
                  </a:path>
                </a:pathLst>
              </a:custGeom>
              <a:solidFill>
                <a:srgbClr val="FFFFFF">
                  <a:alpha val="25098"/>
                </a:srgbClr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10152240" cy="1599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Time Series to Image Transformations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10639" y="1822110"/>
              <a:ext cx="6482117" cy="1245168"/>
              <a:chOff x="0" y="0"/>
              <a:chExt cx="1280418" cy="24595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80418" cy="245959"/>
              </a:xfrm>
              <a:custGeom>
                <a:avLst/>
                <a:gdLst/>
                <a:ahLst/>
                <a:cxnLst/>
                <a:rect r="r" b="b" t="t" l="l"/>
                <a:pathLst>
                  <a:path h="245959" w="1280418">
                    <a:moveTo>
                      <a:pt x="0" y="0"/>
                    </a:moveTo>
                    <a:lnTo>
                      <a:pt x="1280418" y="0"/>
                    </a:lnTo>
                    <a:lnTo>
                      <a:pt x="1280418" y="245959"/>
                    </a:lnTo>
                    <a:lnTo>
                      <a:pt x="0" y="245959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9525"/>
                <a:ext cx="1280418" cy="2554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Best Image Transformation Method</a:t>
                </a: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6843164" y="2499796"/>
              <a:ext cx="3087280" cy="567482"/>
              <a:chOff x="0" y="0"/>
              <a:chExt cx="609833" cy="11209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609833" cy="112095"/>
              </a:xfrm>
              <a:custGeom>
                <a:avLst/>
                <a:gdLst/>
                <a:ahLst/>
                <a:cxnLst/>
                <a:rect r="r" b="b" t="t" l="l"/>
                <a:pathLst>
                  <a:path h="112095" w="609833">
                    <a:moveTo>
                      <a:pt x="0" y="0"/>
                    </a:moveTo>
                    <a:lnTo>
                      <a:pt x="609833" y="0"/>
                    </a:lnTo>
                    <a:lnTo>
                      <a:pt x="609833" y="112095"/>
                    </a:lnTo>
                    <a:lnTo>
                      <a:pt x="0" y="11209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9525"/>
                <a:ext cx="609833" cy="102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Spectrogram</a:t>
                </a: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10639" y="3295878"/>
              <a:ext cx="6482117" cy="1272317"/>
              <a:chOff x="0" y="0"/>
              <a:chExt cx="1280418" cy="251322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280418" cy="251322"/>
              </a:xfrm>
              <a:custGeom>
                <a:avLst/>
                <a:gdLst/>
                <a:ahLst/>
                <a:cxnLst/>
                <a:rect r="r" b="b" t="t" l="l"/>
                <a:pathLst>
                  <a:path h="251322" w="1280418">
                    <a:moveTo>
                      <a:pt x="0" y="0"/>
                    </a:moveTo>
                    <a:lnTo>
                      <a:pt x="1280418" y="0"/>
                    </a:lnTo>
                    <a:lnTo>
                      <a:pt x="1280418" y="251322"/>
                    </a:lnTo>
                    <a:lnTo>
                      <a:pt x="0" y="25132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9525"/>
                <a:ext cx="1280418" cy="2608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Best  Sampling Frequency</a:t>
                </a: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0">
              <a:off x="6843164" y="3295878"/>
              <a:ext cx="1403940" cy="567482"/>
              <a:chOff x="0" y="0"/>
              <a:chExt cx="277321" cy="112095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77321" cy="112095"/>
              </a:xfrm>
              <a:custGeom>
                <a:avLst/>
                <a:gdLst/>
                <a:ahLst/>
                <a:cxnLst/>
                <a:rect r="r" b="b" t="t" l="l"/>
                <a:pathLst>
                  <a:path h="112095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112095"/>
                    </a:lnTo>
                    <a:lnTo>
                      <a:pt x="0" y="11209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9525"/>
                <a:ext cx="277321" cy="102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64 Hz</a:t>
                </a: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8526504" y="3295878"/>
              <a:ext cx="1403940" cy="567482"/>
              <a:chOff x="0" y="0"/>
              <a:chExt cx="277321" cy="112095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77321" cy="112095"/>
              </a:xfrm>
              <a:custGeom>
                <a:avLst/>
                <a:gdLst/>
                <a:ahLst/>
                <a:cxnLst/>
                <a:rect r="r" b="b" t="t" l="l"/>
                <a:pathLst>
                  <a:path h="112095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112095"/>
                    </a:lnTo>
                    <a:lnTo>
                      <a:pt x="0" y="11209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9525"/>
                <a:ext cx="277321" cy="102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128 Hz</a:t>
                </a: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6835603" y="3977660"/>
              <a:ext cx="1403940" cy="567482"/>
              <a:chOff x="0" y="0"/>
              <a:chExt cx="277321" cy="112095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77321" cy="112095"/>
              </a:xfrm>
              <a:custGeom>
                <a:avLst/>
                <a:gdLst/>
                <a:ahLst/>
                <a:cxnLst/>
                <a:rect r="r" b="b" t="t" l="l"/>
                <a:pathLst>
                  <a:path h="112095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112095"/>
                    </a:lnTo>
                    <a:lnTo>
                      <a:pt x="0" y="11209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9525"/>
                <a:ext cx="277321" cy="102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256 Hz</a:t>
                </a: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8526504" y="3977660"/>
              <a:ext cx="1403940" cy="567482"/>
              <a:chOff x="0" y="0"/>
              <a:chExt cx="277321" cy="112095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277321" cy="112095"/>
              </a:xfrm>
              <a:custGeom>
                <a:avLst/>
                <a:gdLst/>
                <a:ahLst/>
                <a:cxnLst/>
                <a:rect r="r" b="b" t="t" l="l"/>
                <a:pathLst>
                  <a:path h="112095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112095"/>
                    </a:lnTo>
                    <a:lnTo>
                      <a:pt x="0" y="11209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9525"/>
                <a:ext cx="277321" cy="102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512 Hz</a:t>
                </a:r>
              </a:p>
            </p:txBody>
          </p:sp>
        </p:grpSp>
        <p:grpSp>
          <p:nvGrpSpPr>
            <p:cNvPr name="Group 59" id="59"/>
            <p:cNvGrpSpPr/>
            <p:nvPr/>
          </p:nvGrpSpPr>
          <p:grpSpPr>
            <a:xfrm rot="0">
              <a:off x="6843164" y="1822110"/>
              <a:ext cx="1403940" cy="567482"/>
              <a:chOff x="0" y="0"/>
              <a:chExt cx="277321" cy="112095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277321" cy="112095"/>
              </a:xfrm>
              <a:custGeom>
                <a:avLst/>
                <a:gdLst/>
                <a:ahLst/>
                <a:cxnLst/>
                <a:rect r="r" b="b" t="t" l="l"/>
                <a:pathLst>
                  <a:path h="112095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112095"/>
                    </a:lnTo>
                    <a:lnTo>
                      <a:pt x="0" y="11209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9525"/>
                <a:ext cx="277321" cy="102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GAF</a:t>
                </a: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8526504" y="1822110"/>
              <a:ext cx="1403940" cy="567482"/>
              <a:chOff x="0" y="0"/>
              <a:chExt cx="277321" cy="112095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77321" cy="112095"/>
              </a:xfrm>
              <a:custGeom>
                <a:avLst/>
                <a:gdLst/>
                <a:ahLst/>
                <a:cxnLst/>
                <a:rect r="r" b="b" t="t" l="l"/>
                <a:pathLst>
                  <a:path h="112095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112095"/>
                    </a:lnTo>
                    <a:lnTo>
                      <a:pt x="0" y="11209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9525"/>
                <a:ext cx="277321" cy="1025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MTF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210639" y="4796795"/>
              <a:ext cx="6482117" cy="1057332"/>
              <a:chOff x="0" y="0"/>
              <a:chExt cx="1280418" cy="208856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280418" cy="208856"/>
              </a:xfrm>
              <a:custGeom>
                <a:avLst/>
                <a:gdLst/>
                <a:ahLst/>
                <a:cxnLst/>
                <a:rect r="r" b="b" t="t" l="l"/>
                <a:pathLst>
                  <a:path h="208856" w="1280418">
                    <a:moveTo>
                      <a:pt x="0" y="0"/>
                    </a:moveTo>
                    <a:lnTo>
                      <a:pt x="1280418" y="0"/>
                    </a:lnTo>
                    <a:lnTo>
                      <a:pt x="1280418" y="208856"/>
                    </a:lnTo>
                    <a:lnTo>
                      <a:pt x="0" y="20885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9525"/>
                <a:ext cx="1280418" cy="2183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Best  Sampling Method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6843164" y="4796795"/>
              <a:ext cx="1403940" cy="1057332"/>
              <a:chOff x="0" y="0"/>
              <a:chExt cx="277321" cy="208856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77321" cy="208856"/>
              </a:xfrm>
              <a:custGeom>
                <a:avLst/>
                <a:gdLst/>
                <a:ahLst/>
                <a:cxnLst/>
                <a:rect r="r" b="b" t="t" l="l"/>
                <a:pathLst>
                  <a:path h="208856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208856"/>
                    </a:lnTo>
                    <a:lnTo>
                      <a:pt x="0" y="20885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9525"/>
                <a:ext cx="277321" cy="1993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FFT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8526504" y="4796795"/>
              <a:ext cx="1403940" cy="1057332"/>
              <a:chOff x="0" y="0"/>
              <a:chExt cx="277321" cy="208856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77321" cy="208856"/>
              </a:xfrm>
              <a:custGeom>
                <a:avLst/>
                <a:gdLst/>
                <a:ahLst/>
                <a:cxnLst/>
                <a:rect r="r" b="b" t="t" l="l"/>
                <a:pathLst>
                  <a:path h="208856" w="277321">
                    <a:moveTo>
                      <a:pt x="0" y="0"/>
                    </a:moveTo>
                    <a:lnTo>
                      <a:pt x="277321" y="0"/>
                    </a:lnTo>
                    <a:lnTo>
                      <a:pt x="277321" y="208856"/>
                    </a:lnTo>
                    <a:lnTo>
                      <a:pt x="0" y="20885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9525"/>
                <a:ext cx="277321" cy="1993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DWT</a:t>
                </a:r>
              </a:p>
            </p:txBody>
          </p:sp>
        </p:grpSp>
      </p:grpSp>
      <p:grpSp>
        <p:nvGrpSpPr>
          <p:cNvPr name="Group 74" id="74"/>
          <p:cNvGrpSpPr/>
          <p:nvPr/>
        </p:nvGrpSpPr>
        <p:grpSpPr>
          <a:xfrm rot="0">
            <a:off x="13238573" y="2533336"/>
            <a:ext cx="3484428" cy="4613196"/>
            <a:chOff x="0" y="0"/>
            <a:chExt cx="4645904" cy="6150928"/>
          </a:xfrm>
        </p:grpSpPr>
        <p:grpSp>
          <p:nvGrpSpPr>
            <p:cNvPr name="Group 75" id="75"/>
            <p:cNvGrpSpPr/>
            <p:nvPr/>
          </p:nvGrpSpPr>
          <p:grpSpPr>
            <a:xfrm rot="0">
              <a:off x="0" y="4629"/>
              <a:ext cx="4645904" cy="6146299"/>
              <a:chOff x="0" y="0"/>
              <a:chExt cx="4645904" cy="614629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4645917" cy="6146235"/>
              </a:xfrm>
              <a:custGeom>
                <a:avLst/>
                <a:gdLst/>
                <a:ahLst/>
                <a:cxnLst/>
                <a:rect r="r" b="b" t="t" l="l"/>
                <a:pathLst>
                  <a:path h="6146235" w="4645917">
                    <a:moveTo>
                      <a:pt x="0" y="0"/>
                    </a:moveTo>
                    <a:lnTo>
                      <a:pt x="4645917" y="0"/>
                    </a:lnTo>
                    <a:lnTo>
                      <a:pt x="4645917" y="6146235"/>
                    </a:lnTo>
                    <a:lnTo>
                      <a:pt x="0" y="6146235"/>
                    </a:lnTo>
                    <a:close/>
                  </a:path>
                </a:pathLst>
              </a:custGeom>
              <a:solidFill>
                <a:srgbClr val="ACE6D6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9525"/>
                <a:ext cx="4645904" cy="6155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  <a:p>
                <a:pPr algn="l">
                  <a:lnSpc>
                    <a:spcPts val="2400"/>
                  </a:lnSpc>
                </a:pPr>
              </a:p>
              <a:p>
                <a:pPr algn="just">
                  <a:lnSpc>
                    <a:spcPts val="2400"/>
                  </a:lnSpc>
                </a:pPr>
              </a:p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0" y="0"/>
              <a:ext cx="4621685" cy="1605427"/>
              <a:chOff x="0" y="0"/>
              <a:chExt cx="4621685" cy="1605427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4621645" cy="1605397"/>
              </a:xfrm>
              <a:custGeom>
                <a:avLst/>
                <a:gdLst/>
                <a:ahLst/>
                <a:cxnLst/>
                <a:rect r="r" b="b" t="t" l="l"/>
                <a:pathLst>
                  <a:path h="1605397" w="4621645">
                    <a:moveTo>
                      <a:pt x="0" y="0"/>
                    </a:moveTo>
                    <a:lnTo>
                      <a:pt x="4621645" y="0"/>
                    </a:lnTo>
                    <a:lnTo>
                      <a:pt x="4621645" y="1605397"/>
                    </a:lnTo>
                    <a:lnTo>
                      <a:pt x="0" y="1605397"/>
                    </a:lnTo>
                    <a:close/>
                  </a:path>
                </a:pathLst>
              </a:custGeom>
              <a:solidFill>
                <a:srgbClr val="FFFFFF">
                  <a:alpha val="25098"/>
                </a:srgbClr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0"/>
                <a:ext cx="4621685" cy="16054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Data Augmentation</a:t>
                </a: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51852" y="1908656"/>
              <a:ext cx="4342199" cy="1036935"/>
              <a:chOff x="0" y="0"/>
              <a:chExt cx="857718" cy="204827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57718" cy="204827"/>
              </a:xfrm>
              <a:custGeom>
                <a:avLst/>
                <a:gdLst/>
                <a:ahLst/>
                <a:cxnLst/>
                <a:rect r="r" b="b" t="t" l="l"/>
                <a:pathLst>
                  <a:path h="204827" w="857718">
                    <a:moveTo>
                      <a:pt x="0" y="0"/>
                    </a:moveTo>
                    <a:lnTo>
                      <a:pt x="857718" y="0"/>
                    </a:lnTo>
                    <a:lnTo>
                      <a:pt x="857718" y="204827"/>
                    </a:lnTo>
                    <a:lnTo>
                      <a:pt x="0" y="204827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9525"/>
                <a:ext cx="857718" cy="2143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Train Generalized DCGAN</a:t>
                </a:r>
              </a:p>
            </p:txBody>
          </p:sp>
        </p:grpSp>
        <p:grpSp>
          <p:nvGrpSpPr>
            <p:cNvPr name="Group 84" id="84"/>
            <p:cNvGrpSpPr/>
            <p:nvPr/>
          </p:nvGrpSpPr>
          <p:grpSpPr>
            <a:xfrm rot="0">
              <a:off x="151852" y="3357226"/>
              <a:ext cx="4342199" cy="1036935"/>
              <a:chOff x="0" y="0"/>
              <a:chExt cx="857718" cy="204827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857718" cy="204827"/>
              </a:xfrm>
              <a:custGeom>
                <a:avLst/>
                <a:gdLst/>
                <a:ahLst/>
                <a:cxnLst/>
                <a:rect r="r" b="b" t="t" l="l"/>
                <a:pathLst>
                  <a:path h="204827" w="857718">
                    <a:moveTo>
                      <a:pt x="0" y="0"/>
                    </a:moveTo>
                    <a:lnTo>
                      <a:pt x="857718" y="0"/>
                    </a:lnTo>
                    <a:lnTo>
                      <a:pt x="857718" y="204827"/>
                    </a:lnTo>
                    <a:lnTo>
                      <a:pt x="0" y="204827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9525"/>
                <a:ext cx="857718" cy="2143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Fine-Tune For Each Sleep Stage</a:t>
                </a:r>
              </a:p>
            </p:txBody>
          </p:sp>
        </p:grpSp>
        <p:grpSp>
          <p:nvGrpSpPr>
            <p:cNvPr name="Group 87" id="87"/>
            <p:cNvGrpSpPr/>
            <p:nvPr/>
          </p:nvGrpSpPr>
          <p:grpSpPr>
            <a:xfrm rot="0">
              <a:off x="151852" y="4805795"/>
              <a:ext cx="4342199" cy="1036935"/>
              <a:chOff x="0" y="0"/>
              <a:chExt cx="857718" cy="204827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857718" cy="204827"/>
              </a:xfrm>
              <a:custGeom>
                <a:avLst/>
                <a:gdLst/>
                <a:ahLst/>
                <a:cxnLst/>
                <a:rect r="r" b="b" t="t" l="l"/>
                <a:pathLst>
                  <a:path h="204827" w="857718">
                    <a:moveTo>
                      <a:pt x="0" y="0"/>
                    </a:moveTo>
                    <a:lnTo>
                      <a:pt x="857718" y="0"/>
                    </a:lnTo>
                    <a:lnTo>
                      <a:pt x="857718" y="204827"/>
                    </a:lnTo>
                    <a:lnTo>
                      <a:pt x="0" y="204827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89" id="89"/>
              <p:cNvSpPr txBox="true"/>
              <p:nvPr/>
            </p:nvSpPr>
            <p:spPr>
              <a:xfrm>
                <a:off x="0" y="-9525"/>
                <a:ext cx="857718" cy="2143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Generate Synthetic Images</a:t>
                </a:r>
              </a:p>
            </p:txBody>
          </p:sp>
        </p:grpSp>
      </p:grpSp>
      <p:grpSp>
        <p:nvGrpSpPr>
          <p:cNvPr name="Group 90" id="90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94" id="94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95" id="95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6" id="96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12</a:t>
                </a:r>
              </a:p>
            </p:txBody>
          </p:sp>
        </p:grpSp>
        <p:grpSp>
          <p:nvGrpSpPr>
            <p:cNvPr name="Group 97" id="97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98" id="98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99" id="99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00" id="100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103" id="103"/>
          <p:cNvGrpSpPr/>
          <p:nvPr/>
        </p:nvGrpSpPr>
        <p:grpSpPr>
          <a:xfrm rot="0">
            <a:off x="9144000" y="7948504"/>
            <a:ext cx="3538940" cy="954238"/>
            <a:chOff x="0" y="0"/>
            <a:chExt cx="932067" cy="25132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32067" cy="251322"/>
            </a:xfrm>
            <a:custGeom>
              <a:avLst/>
              <a:gdLst/>
              <a:ahLst/>
              <a:cxnLst/>
              <a:rect r="r" b="b" t="t" l="l"/>
              <a:pathLst>
                <a:path h="251322" w="932067">
                  <a:moveTo>
                    <a:pt x="0" y="0"/>
                  </a:moveTo>
                  <a:lnTo>
                    <a:pt x="932067" y="0"/>
                  </a:lnTo>
                  <a:lnTo>
                    <a:pt x="932067" y="251322"/>
                  </a:lnTo>
                  <a:lnTo>
                    <a:pt x="0" y="251322"/>
                  </a:lnTo>
                  <a:close/>
                </a:path>
              </a:pathLst>
            </a:custGeom>
            <a:solidFill>
              <a:srgbClr val="DEE5EB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932067" cy="260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Train From Scratch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949640" y="7948504"/>
            <a:ext cx="3538940" cy="954238"/>
            <a:chOff x="0" y="0"/>
            <a:chExt cx="932067" cy="25132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32067" cy="251322"/>
            </a:xfrm>
            <a:custGeom>
              <a:avLst/>
              <a:gdLst/>
              <a:ahLst/>
              <a:cxnLst/>
              <a:rect r="r" b="b" t="t" l="l"/>
              <a:pathLst>
                <a:path h="251322" w="932067">
                  <a:moveTo>
                    <a:pt x="0" y="0"/>
                  </a:moveTo>
                  <a:lnTo>
                    <a:pt x="932067" y="0"/>
                  </a:lnTo>
                  <a:lnTo>
                    <a:pt x="932067" y="251322"/>
                  </a:lnTo>
                  <a:lnTo>
                    <a:pt x="0" y="251322"/>
                  </a:lnTo>
                  <a:close/>
                </a:path>
              </a:pathLst>
            </a:custGeom>
            <a:solidFill>
              <a:srgbClr val="DEE5EB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932067" cy="260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Pre Trained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595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13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028700" y="1028700"/>
            <a:ext cx="6220572" cy="1043210"/>
            <a:chOff x="0" y="0"/>
            <a:chExt cx="8294095" cy="139094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417058" y="0"/>
              <a:ext cx="7877037" cy="1390947"/>
              <a:chOff x="0" y="0"/>
              <a:chExt cx="1555958" cy="274755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5595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1555958">
                    <a:moveTo>
                      <a:pt x="135275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1352758" y="274755"/>
                    </a:lnTo>
                    <a:lnTo>
                      <a:pt x="1555958" y="137377"/>
                    </a:lnTo>
                    <a:lnTo>
                      <a:pt x="135275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144165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716216" y="0"/>
              <a:ext cx="6040637" cy="1390947"/>
              <a:chOff x="0" y="0"/>
              <a:chExt cx="6040637" cy="139094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040637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6040637">
                    <a:moveTo>
                      <a:pt x="0" y="0"/>
                    </a:moveTo>
                    <a:lnTo>
                      <a:pt x="6040637" y="0"/>
                    </a:lnTo>
                    <a:lnTo>
                      <a:pt x="6040637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0"/>
                <a:ext cx="6040637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Chann</a:t>
                </a: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el Selection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417058" cy="1390947"/>
              <a:chOff x="0" y="0"/>
              <a:chExt cx="82382" cy="27475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2382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82382">
                    <a:moveTo>
                      <a:pt x="0" y="0"/>
                    </a:moveTo>
                    <a:lnTo>
                      <a:pt x="82382" y="0"/>
                    </a:lnTo>
                    <a:lnTo>
                      <a:pt x="82382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82382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7763580" y="1028700"/>
            <a:ext cx="9495720" cy="1258570"/>
            <a:chOff x="0" y="0"/>
            <a:chExt cx="12660959" cy="16780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60960" cy="1678094"/>
            </a:xfrm>
            <a:custGeom>
              <a:avLst/>
              <a:gdLst/>
              <a:ahLst/>
              <a:cxnLst/>
              <a:rect r="r" b="b" t="t" l="l"/>
              <a:pathLst>
                <a:path h="1678094" w="12660960">
                  <a:moveTo>
                    <a:pt x="0" y="0"/>
                  </a:moveTo>
                  <a:lnTo>
                    <a:pt x="12660960" y="0"/>
                  </a:lnTo>
                  <a:lnTo>
                    <a:pt x="12660960" y="1678094"/>
                  </a:lnTo>
                  <a:lnTo>
                    <a:pt x="0" y="1678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660959" cy="171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b="true" sz="2200" spc="-22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There are over 50 different signal channels in the dataset.</a:t>
              </a:r>
              <a:r>
                <a:rPr lang="en-US" sz="2200" spc="-22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 Based on literature, we selected the following </a:t>
              </a:r>
              <a:r>
                <a:rPr lang="en-US" b="true" sz="2200" spc="-22">
                  <a:solidFill>
                    <a:srgbClr val="1B386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15 channels</a:t>
              </a:r>
              <a:r>
                <a:rPr lang="en-US" sz="2200" spc="-22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, as they have been proven to be more effective for sleep stage classification.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1151595" y="5871165"/>
            <a:ext cx="6220572" cy="1043210"/>
            <a:chOff x="0" y="0"/>
            <a:chExt cx="8294095" cy="1390947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417058" y="0"/>
              <a:ext cx="7877037" cy="1390947"/>
              <a:chOff x="0" y="0"/>
              <a:chExt cx="1555958" cy="27475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55595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1555958">
                    <a:moveTo>
                      <a:pt x="135275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1352758" y="274755"/>
                    </a:lnTo>
                    <a:lnTo>
                      <a:pt x="1555958" y="137377"/>
                    </a:lnTo>
                    <a:lnTo>
                      <a:pt x="135275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9525"/>
                <a:ext cx="144165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0"/>
              <a:ext cx="417058" cy="1390947"/>
              <a:chOff x="0" y="0"/>
              <a:chExt cx="82382" cy="27475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2382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82382">
                    <a:moveTo>
                      <a:pt x="0" y="0"/>
                    </a:moveTo>
                    <a:lnTo>
                      <a:pt x="82382" y="0"/>
                    </a:lnTo>
                    <a:lnTo>
                      <a:pt x="82382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82382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-10800000">
              <a:off x="754134" y="0"/>
              <a:ext cx="6040637" cy="1390947"/>
              <a:chOff x="0" y="0"/>
              <a:chExt cx="6040637" cy="139094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040637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6040637">
                    <a:moveTo>
                      <a:pt x="0" y="0"/>
                    </a:moveTo>
                    <a:lnTo>
                      <a:pt x="6040637" y="0"/>
                    </a:lnTo>
                    <a:lnTo>
                      <a:pt x="6040637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6040637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Signal Filtering</a:t>
                </a: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3734280" y="2794280"/>
            <a:ext cx="10819441" cy="2464379"/>
            <a:chOff x="0" y="0"/>
            <a:chExt cx="14425921" cy="3285839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2968492" y="0"/>
              <a:ext cx="2803392" cy="3272335"/>
              <a:chOff x="0" y="0"/>
              <a:chExt cx="553756" cy="64638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53756" cy="646387"/>
              </a:xfrm>
              <a:custGeom>
                <a:avLst/>
                <a:gdLst/>
                <a:ahLst/>
                <a:cxnLst/>
                <a:rect r="r" b="b" t="t" l="l"/>
                <a:pathLst>
                  <a:path h="646387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646387"/>
                    </a:lnTo>
                    <a:lnTo>
                      <a:pt x="0" y="646387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553756" cy="6559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EEG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5771883" y="880284"/>
              <a:ext cx="2040426" cy="635233"/>
              <a:chOff x="0" y="0"/>
              <a:chExt cx="403047" cy="125478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03047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9525"/>
                <a:ext cx="403047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Fp1 - F3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7974444" y="880284"/>
              <a:ext cx="2040426" cy="635233"/>
              <a:chOff x="0" y="0"/>
              <a:chExt cx="403047" cy="125478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03047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9525"/>
                <a:ext cx="403047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F3 - C3</a:t>
                </a: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0179969" y="880284"/>
              <a:ext cx="2040426" cy="635233"/>
              <a:chOff x="0" y="0"/>
              <a:chExt cx="403047" cy="12547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03047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"/>
                <a:ext cx="403047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C3 - P3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2385495" y="880284"/>
              <a:ext cx="2040426" cy="677084"/>
              <a:chOff x="0" y="0"/>
              <a:chExt cx="403047" cy="133745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403047" cy="133745"/>
              </a:xfrm>
              <a:custGeom>
                <a:avLst/>
                <a:gdLst/>
                <a:ahLst/>
                <a:cxnLst/>
                <a:rect r="r" b="b" t="t" l="l"/>
                <a:pathLst>
                  <a:path h="133745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33745"/>
                    </a:lnTo>
                    <a:lnTo>
                      <a:pt x="0" y="13374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9525"/>
                <a:ext cx="403047" cy="143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P3 - O1</a:t>
                </a: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5771883" y="0"/>
              <a:ext cx="4242986" cy="635233"/>
              <a:chOff x="0" y="0"/>
              <a:chExt cx="838121" cy="125478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38121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838121">
                    <a:moveTo>
                      <a:pt x="0" y="0"/>
                    </a:moveTo>
                    <a:lnTo>
                      <a:pt x="838121" y="0"/>
                    </a:lnTo>
                    <a:lnTo>
                      <a:pt x="838121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9525"/>
                <a:ext cx="838121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F7 - T3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10179969" y="0"/>
              <a:ext cx="4242986" cy="635233"/>
              <a:chOff x="0" y="0"/>
              <a:chExt cx="838121" cy="125478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38121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838121">
                    <a:moveTo>
                      <a:pt x="0" y="0"/>
                    </a:moveTo>
                    <a:lnTo>
                      <a:pt x="838121" y="0"/>
                    </a:lnTo>
                    <a:lnTo>
                      <a:pt x="838121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9525"/>
                <a:ext cx="838121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T3 - T5</a:t>
                </a: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5768918" y="1798669"/>
              <a:ext cx="2040426" cy="635233"/>
              <a:chOff x="0" y="0"/>
              <a:chExt cx="403047" cy="125478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03047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9525"/>
                <a:ext cx="403047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Fp2 - F4</a:t>
                </a: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7971478" y="1798669"/>
              <a:ext cx="2040426" cy="635233"/>
              <a:chOff x="0" y="0"/>
              <a:chExt cx="403047" cy="125478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03047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9525"/>
                <a:ext cx="403047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F4 - C4</a:t>
                </a: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10177004" y="1798669"/>
              <a:ext cx="2040426" cy="635233"/>
              <a:chOff x="0" y="0"/>
              <a:chExt cx="403047" cy="125478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403047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9525"/>
                <a:ext cx="403047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C4 - P4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12382530" y="1798669"/>
              <a:ext cx="2040426" cy="677084"/>
              <a:chOff x="0" y="0"/>
              <a:chExt cx="403047" cy="133745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403047" cy="133745"/>
              </a:xfrm>
              <a:custGeom>
                <a:avLst/>
                <a:gdLst/>
                <a:ahLst/>
                <a:cxnLst/>
                <a:rect r="r" b="b" t="t" l="l"/>
                <a:pathLst>
                  <a:path h="133745" w="403047">
                    <a:moveTo>
                      <a:pt x="0" y="0"/>
                    </a:moveTo>
                    <a:lnTo>
                      <a:pt x="403047" y="0"/>
                    </a:lnTo>
                    <a:lnTo>
                      <a:pt x="403047" y="133745"/>
                    </a:lnTo>
                    <a:lnTo>
                      <a:pt x="0" y="133745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9525"/>
                <a:ext cx="403047" cy="143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P4 - O2</a:t>
                </a: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5774849" y="2637102"/>
              <a:ext cx="4242986" cy="635233"/>
              <a:chOff x="0" y="0"/>
              <a:chExt cx="838121" cy="125478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38121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838121">
                    <a:moveTo>
                      <a:pt x="0" y="0"/>
                    </a:moveTo>
                    <a:lnTo>
                      <a:pt x="838121" y="0"/>
                    </a:lnTo>
                    <a:lnTo>
                      <a:pt x="838121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9525"/>
                <a:ext cx="838121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F8 - T4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10182935" y="2637102"/>
              <a:ext cx="4242986" cy="635233"/>
              <a:chOff x="0" y="0"/>
              <a:chExt cx="838121" cy="125478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38121" cy="125478"/>
              </a:xfrm>
              <a:custGeom>
                <a:avLst/>
                <a:gdLst/>
                <a:ahLst/>
                <a:cxnLst/>
                <a:rect r="r" b="b" t="t" l="l"/>
                <a:pathLst>
                  <a:path h="125478" w="838121">
                    <a:moveTo>
                      <a:pt x="0" y="0"/>
                    </a:moveTo>
                    <a:lnTo>
                      <a:pt x="838121" y="0"/>
                    </a:lnTo>
                    <a:lnTo>
                      <a:pt x="838121" y="125478"/>
                    </a:lnTo>
                    <a:lnTo>
                      <a:pt x="0" y="12547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9525"/>
                <a:ext cx="838121" cy="1350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T4 - T6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0" y="0"/>
              <a:ext cx="2803392" cy="932429"/>
              <a:chOff x="0" y="0"/>
              <a:chExt cx="553756" cy="184183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553756" cy="184183"/>
              </a:xfrm>
              <a:custGeom>
                <a:avLst/>
                <a:gdLst/>
                <a:ahLst/>
                <a:cxnLst/>
                <a:rect r="r" b="b" t="t" l="l"/>
                <a:pathLst>
                  <a:path h="184183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184183"/>
                    </a:lnTo>
                    <a:lnTo>
                      <a:pt x="0" y="18418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9525"/>
                <a:ext cx="553756" cy="193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EOG</a:t>
                </a: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0" y="2353410"/>
              <a:ext cx="2803392" cy="932429"/>
              <a:chOff x="0" y="0"/>
              <a:chExt cx="553756" cy="184183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553756" cy="184183"/>
              </a:xfrm>
              <a:custGeom>
                <a:avLst/>
                <a:gdLst/>
                <a:ahLst/>
                <a:cxnLst/>
                <a:rect r="r" b="b" t="t" l="l"/>
                <a:pathLst>
                  <a:path h="184183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184183"/>
                    </a:lnTo>
                    <a:lnTo>
                      <a:pt x="0" y="18418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9525"/>
                <a:ext cx="553756" cy="193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EMG</a:t>
                </a: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0" y="1176705"/>
              <a:ext cx="2803392" cy="932429"/>
              <a:chOff x="0" y="0"/>
              <a:chExt cx="553756" cy="184183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553756" cy="184183"/>
              </a:xfrm>
              <a:custGeom>
                <a:avLst/>
                <a:gdLst/>
                <a:ahLst/>
                <a:cxnLst/>
                <a:rect r="r" b="b" t="t" l="l"/>
                <a:pathLst>
                  <a:path h="184183" w="553756">
                    <a:moveTo>
                      <a:pt x="0" y="0"/>
                    </a:moveTo>
                    <a:lnTo>
                      <a:pt x="553756" y="0"/>
                    </a:lnTo>
                    <a:lnTo>
                      <a:pt x="553756" y="184183"/>
                    </a:lnTo>
                    <a:lnTo>
                      <a:pt x="0" y="18418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9525"/>
                <a:ext cx="553756" cy="193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ECG</a:t>
                </a:r>
              </a:p>
            </p:txBody>
          </p:sp>
        </p:grpSp>
      </p:grpSp>
      <p:grpSp>
        <p:nvGrpSpPr>
          <p:cNvPr name="Group 88" id="88"/>
          <p:cNvGrpSpPr/>
          <p:nvPr/>
        </p:nvGrpSpPr>
        <p:grpSpPr>
          <a:xfrm rot="0">
            <a:off x="10731599" y="7523975"/>
            <a:ext cx="6738537" cy="1258570"/>
            <a:chOff x="0" y="0"/>
            <a:chExt cx="8984716" cy="167809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984716" cy="1678094"/>
            </a:xfrm>
            <a:custGeom>
              <a:avLst/>
              <a:gdLst/>
              <a:ahLst/>
              <a:cxnLst/>
              <a:rect r="r" b="b" t="t" l="l"/>
              <a:pathLst>
                <a:path h="1678094" w="8984716">
                  <a:moveTo>
                    <a:pt x="0" y="0"/>
                  </a:moveTo>
                  <a:lnTo>
                    <a:pt x="8984716" y="0"/>
                  </a:lnTo>
                  <a:lnTo>
                    <a:pt x="8984716" y="1678094"/>
                  </a:lnTo>
                  <a:lnTo>
                    <a:pt x="0" y="1678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8984716" cy="171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Raw PSG signals often contain noise from various sources. To improve quality, </a:t>
              </a:r>
              <a:r>
                <a:rPr lang="en-US" b="true" sz="2200" spc="-22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applied filters to preserve relevant information.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1825342" y="5718078"/>
            <a:ext cx="8276149" cy="3540222"/>
          </a:xfrm>
          <a:custGeom>
            <a:avLst/>
            <a:gdLst/>
            <a:ahLst/>
            <a:cxnLst/>
            <a:rect r="r" b="b" t="t" l="l"/>
            <a:pathLst>
              <a:path h="3540222" w="8276149">
                <a:moveTo>
                  <a:pt x="0" y="0"/>
                </a:moveTo>
                <a:lnTo>
                  <a:pt x="8276149" y="0"/>
                </a:lnTo>
                <a:lnTo>
                  <a:pt x="8276149" y="3540222"/>
                </a:lnTo>
                <a:lnTo>
                  <a:pt x="0" y="3540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825342" y="9258300"/>
            <a:ext cx="8276149" cy="360385"/>
            <a:chOff x="0" y="0"/>
            <a:chExt cx="11034865" cy="48051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034865" cy="480513"/>
            </a:xfrm>
            <a:custGeom>
              <a:avLst/>
              <a:gdLst/>
              <a:ahLst/>
              <a:cxnLst/>
              <a:rect r="r" b="b" t="t" l="l"/>
              <a:pathLst>
                <a:path h="480513" w="11034865">
                  <a:moveTo>
                    <a:pt x="0" y="0"/>
                  </a:moveTo>
                  <a:lnTo>
                    <a:pt x="11034865" y="0"/>
                  </a:lnTo>
                  <a:lnTo>
                    <a:pt x="11034865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1034865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Signal specifications and filtering parameters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3662" y="0"/>
            <a:ext cx="7232136" cy="11679323"/>
          </a:xfrm>
          <a:custGeom>
            <a:avLst/>
            <a:gdLst/>
            <a:ahLst/>
            <a:cxnLst/>
            <a:rect r="r" b="b" t="t" l="l"/>
            <a:pathLst>
              <a:path h="11679323" w="7232136">
                <a:moveTo>
                  <a:pt x="0" y="0"/>
                </a:moveTo>
                <a:lnTo>
                  <a:pt x="7232136" y="0"/>
                </a:lnTo>
                <a:lnTo>
                  <a:pt x="7232136" y="11679323"/>
                </a:lnTo>
                <a:lnTo>
                  <a:pt x="0" y="1167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8864887" cy="1043210"/>
            <a:chOff x="0" y="0"/>
            <a:chExt cx="11819849" cy="139094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17058" y="0"/>
              <a:ext cx="11402791" cy="1390947"/>
              <a:chOff x="0" y="0"/>
              <a:chExt cx="2252403" cy="27475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52403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2252403">
                    <a:moveTo>
                      <a:pt x="2049203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2049203" y="274755"/>
                    </a:lnTo>
                    <a:lnTo>
                      <a:pt x="2252403" y="137377"/>
                    </a:lnTo>
                    <a:lnTo>
                      <a:pt x="2049203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"/>
                <a:ext cx="2138103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716216" y="0"/>
              <a:ext cx="10104184" cy="1390947"/>
              <a:chOff x="0" y="0"/>
              <a:chExt cx="10104184" cy="139094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104185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10104185">
                    <a:moveTo>
                      <a:pt x="0" y="0"/>
                    </a:moveTo>
                    <a:lnTo>
                      <a:pt x="10104185" y="0"/>
                    </a:lnTo>
                    <a:lnTo>
                      <a:pt x="10104185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1010418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Image Transformation</a:t>
                </a: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 Methods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417058" cy="1390947"/>
              <a:chOff x="0" y="0"/>
              <a:chExt cx="82382" cy="27475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382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82382">
                    <a:moveTo>
                      <a:pt x="0" y="0"/>
                    </a:moveTo>
                    <a:lnTo>
                      <a:pt x="82382" y="0"/>
                    </a:lnTo>
                    <a:lnTo>
                      <a:pt x="82382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82382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28700" y="2506910"/>
            <a:ext cx="16230600" cy="1043210"/>
            <a:chOff x="0" y="0"/>
            <a:chExt cx="21640800" cy="1390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40800" cy="1390947"/>
            </a:xfrm>
            <a:custGeom>
              <a:avLst/>
              <a:gdLst/>
              <a:ahLst/>
              <a:cxnLst/>
              <a:rect r="r" b="b" t="t" l="l"/>
              <a:pathLst>
                <a:path h="1390947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640800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Converting time-series data into images is the core of this research. This enables the use of image-based techniques for sleep stage classification. </a:t>
              </a:r>
              <a:r>
                <a:rPr lang="en-US" b="true" sz="2200" spc="-22">
                  <a:solidFill>
                    <a:srgbClr val="19647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 apply four different methods to perform this conversion effectively.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3988269"/>
            <a:ext cx="3779427" cy="472901"/>
            <a:chOff x="0" y="0"/>
            <a:chExt cx="995405" cy="124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5405" cy="124550"/>
            </a:xfrm>
            <a:custGeom>
              <a:avLst/>
              <a:gdLst/>
              <a:ahLst/>
              <a:cxnLst/>
              <a:rect r="r" b="b" t="t" l="l"/>
              <a:pathLst>
                <a:path h="124550" w="995405">
                  <a:moveTo>
                    <a:pt x="0" y="0"/>
                  </a:moveTo>
                  <a:lnTo>
                    <a:pt x="995405" y="0"/>
                  </a:lnTo>
                  <a:lnTo>
                    <a:pt x="995405" y="124550"/>
                  </a:lnTo>
                  <a:lnTo>
                    <a:pt x="0" y="124550"/>
                  </a:lnTo>
                  <a:close/>
                </a:path>
              </a:pathLst>
            </a:custGeom>
            <a:solidFill>
              <a:srgbClr val="1B38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95405" cy="134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Time Series Data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4461171"/>
            <a:ext cx="3779427" cy="682329"/>
            <a:chOff x="0" y="0"/>
            <a:chExt cx="995405" cy="1797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5405" cy="179708"/>
            </a:xfrm>
            <a:custGeom>
              <a:avLst/>
              <a:gdLst/>
              <a:ahLst/>
              <a:cxnLst/>
              <a:rect r="r" b="b" t="t" l="l"/>
              <a:pathLst>
                <a:path h="179708" w="995405">
                  <a:moveTo>
                    <a:pt x="0" y="0"/>
                  </a:moveTo>
                  <a:lnTo>
                    <a:pt x="995405" y="0"/>
                  </a:lnTo>
                  <a:lnTo>
                    <a:pt x="995405" y="179708"/>
                  </a:lnTo>
                  <a:lnTo>
                    <a:pt x="0" y="179708"/>
                  </a:lnTo>
                  <a:close/>
                </a:path>
              </a:pathLst>
            </a:custGeom>
            <a:solidFill>
              <a:srgbClr val="DEE5E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95405" cy="189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46367" y="4653641"/>
            <a:ext cx="2744092" cy="297389"/>
          </a:xfrm>
          <a:custGeom>
            <a:avLst/>
            <a:gdLst/>
            <a:ahLst/>
            <a:cxnLst/>
            <a:rect r="r" b="b" t="t" l="l"/>
            <a:pathLst>
              <a:path h="297389" w="2744092">
                <a:moveTo>
                  <a:pt x="0" y="0"/>
                </a:moveTo>
                <a:lnTo>
                  <a:pt x="2744092" y="0"/>
                </a:lnTo>
                <a:lnTo>
                  <a:pt x="2744092" y="297389"/>
                </a:lnTo>
                <a:lnTo>
                  <a:pt x="0" y="297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 flipV="true">
            <a:off x="5027191" y="4653641"/>
            <a:ext cx="2219821" cy="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5027191" y="3983529"/>
            <a:ext cx="1977963" cy="477642"/>
            <a:chOff x="0" y="0"/>
            <a:chExt cx="5760047" cy="13909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60047" cy="1390947"/>
            </a:xfrm>
            <a:custGeom>
              <a:avLst/>
              <a:gdLst/>
              <a:ahLst/>
              <a:cxnLst/>
              <a:rect r="r" b="b" t="t" l="l"/>
              <a:pathLst>
                <a:path h="1390947" w="5760047">
                  <a:moveTo>
                    <a:pt x="0" y="0"/>
                  </a:moveTo>
                  <a:lnTo>
                    <a:pt x="5760047" y="0"/>
                  </a:lnTo>
                  <a:lnTo>
                    <a:pt x="5760047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760047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 normalize to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14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7466087" y="3988269"/>
            <a:ext cx="3843922" cy="1155231"/>
            <a:chOff x="0" y="0"/>
            <a:chExt cx="5125229" cy="1540307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5125229" cy="1540307"/>
              <a:chOff x="0" y="0"/>
              <a:chExt cx="1012391" cy="30425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12391" cy="304258"/>
              </a:xfrm>
              <a:custGeom>
                <a:avLst/>
                <a:gdLst/>
                <a:ahLst/>
                <a:cxnLst/>
                <a:rect r="r" b="b" t="t" l="l"/>
                <a:pathLst>
                  <a:path h="304258" w="1012391">
                    <a:moveTo>
                      <a:pt x="0" y="0"/>
                    </a:moveTo>
                    <a:lnTo>
                      <a:pt x="1012391" y="0"/>
                    </a:lnTo>
                    <a:lnTo>
                      <a:pt x="1012391" y="304258"/>
                    </a:lnTo>
                    <a:lnTo>
                      <a:pt x="0" y="304258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9525"/>
                <a:ext cx="1012391" cy="3137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44" id="44"/>
            <p:cNvSpPr/>
            <p:nvPr/>
          </p:nvSpPr>
          <p:spPr>
            <a:xfrm flipH="false" flipV="false" rot="0">
              <a:off x="159368" y="318428"/>
              <a:ext cx="4798183" cy="920978"/>
            </a:xfrm>
            <a:custGeom>
              <a:avLst/>
              <a:gdLst/>
              <a:ahLst/>
              <a:cxnLst/>
              <a:rect r="r" b="b" t="t" l="l"/>
              <a:pathLst>
                <a:path h="920978" w="4798183">
                  <a:moveTo>
                    <a:pt x="0" y="0"/>
                  </a:moveTo>
                  <a:lnTo>
                    <a:pt x="4798183" y="0"/>
                  </a:lnTo>
                  <a:lnTo>
                    <a:pt x="4798183" y="920978"/>
                  </a:lnTo>
                  <a:lnTo>
                    <a:pt x="0" y="920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AutoShape 45" id="45"/>
          <p:cNvSpPr/>
          <p:nvPr/>
        </p:nvSpPr>
        <p:spPr>
          <a:xfrm flipV="true">
            <a:off x="11529084" y="4565885"/>
            <a:ext cx="2219821" cy="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6" id="46"/>
          <p:cNvGrpSpPr/>
          <p:nvPr/>
        </p:nvGrpSpPr>
        <p:grpSpPr>
          <a:xfrm rot="0">
            <a:off x="11529084" y="3983529"/>
            <a:ext cx="1977963" cy="477642"/>
            <a:chOff x="0" y="0"/>
            <a:chExt cx="5760047" cy="13909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760047" cy="1390947"/>
            </a:xfrm>
            <a:custGeom>
              <a:avLst/>
              <a:gdLst/>
              <a:ahLst/>
              <a:cxnLst/>
              <a:rect r="r" b="b" t="t" l="l"/>
              <a:pathLst>
                <a:path h="1390947" w="5760047">
                  <a:moveTo>
                    <a:pt x="0" y="0"/>
                  </a:moveTo>
                  <a:lnTo>
                    <a:pt x="5760047" y="0"/>
                  </a:lnTo>
                  <a:lnTo>
                    <a:pt x="5760047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760047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convert to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529084" y="4665858"/>
            <a:ext cx="1977963" cy="477642"/>
            <a:chOff x="0" y="0"/>
            <a:chExt cx="5760047" cy="139094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60047" cy="1390947"/>
            </a:xfrm>
            <a:custGeom>
              <a:avLst/>
              <a:gdLst/>
              <a:ahLst/>
              <a:cxnLst/>
              <a:rect r="r" b="b" t="t" l="l"/>
              <a:pathLst>
                <a:path h="1390947" w="5760047">
                  <a:moveTo>
                    <a:pt x="0" y="0"/>
                  </a:moveTo>
                  <a:lnTo>
                    <a:pt x="5760047" y="0"/>
                  </a:lnTo>
                  <a:lnTo>
                    <a:pt x="5760047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5760047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 angular space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027191" y="4712209"/>
            <a:ext cx="1977963" cy="477642"/>
            <a:chOff x="0" y="0"/>
            <a:chExt cx="5760047" cy="139094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60047" cy="1390947"/>
            </a:xfrm>
            <a:custGeom>
              <a:avLst/>
              <a:gdLst/>
              <a:ahLst/>
              <a:cxnLst/>
              <a:rect r="r" b="b" t="t" l="l"/>
              <a:pathLst>
                <a:path h="1390947" w="5760047">
                  <a:moveTo>
                    <a:pt x="0" y="0"/>
                  </a:moveTo>
                  <a:lnTo>
                    <a:pt x="5760047" y="0"/>
                  </a:lnTo>
                  <a:lnTo>
                    <a:pt x="5760047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760047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[-1,1] range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967980" y="4224720"/>
            <a:ext cx="2888861" cy="726310"/>
            <a:chOff x="0" y="0"/>
            <a:chExt cx="3851814" cy="968413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3851814" cy="968413"/>
              <a:chOff x="0" y="0"/>
              <a:chExt cx="760852" cy="19129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760852" cy="191291"/>
              </a:xfrm>
              <a:custGeom>
                <a:avLst/>
                <a:gdLst/>
                <a:ahLst/>
                <a:cxnLst/>
                <a:rect r="r" b="b" t="t" l="l"/>
                <a:pathLst>
                  <a:path h="191291" w="760852">
                    <a:moveTo>
                      <a:pt x="0" y="0"/>
                    </a:moveTo>
                    <a:lnTo>
                      <a:pt x="760852" y="0"/>
                    </a:lnTo>
                    <a:lnTo>
                      <a:pt x="760852" y="191291"/>
                    </a:lnTo>
                    <a:lnTo>
                      <a:pt x="0" y="191291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9525"/>
                <a:ext cx="760852" cy="2008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59" id="59"/>
            <p:cNvSpPr/>
            <p:nvPr/>
          </p:nvSpPr>
          <p:spPr>
            <a:xfrm flipH="false" flipV="false" rot="0">
              <a:off x="162245" y="243213"/>
              <a:ext cx="3539080" cy="546949"/>
            </a:xfrm>
            <a:custGeom>
              <a:avLst/>
              <a:gdLst/>
              <a:ahLst/>
              <a:cxnLst/>
              <a:rect r="r" b="b" t="t" l="l"/>
              <a:pathLst>
                <a:path h="546949" w="3539080">
                  <a:moveTo>
                    <a:pt x="0" y="0"/>
                  </a:moveTo>
                  <a:lnTo>
                    <a:pt x="3539080" y="0"/>
                  </a:lnTo>
                  <a:lnTo>
                    <a:pt x="3539080" y="546949"/>
                  </a:lnTo>
                  <a:lnTo>
                    <a:pt x="0" y="546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AutoShape 60" id="60"/>
          <p:cNvSpPr/>
          <p:nvPr/>
        </p:nvSpPr>
        <p:spPr>
          <a:xfrm flipH="true">
            <a:off x="13410304" y="5087715"/>
            <a:ext cx="2076008" cy="1074424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>
            <a:off x="15412410" y="4904679"/>
            <a:ext cx="1876668" cy="125746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2" id="62"/>
          <p:cNvGrpSpPr/>
          <p:nvPr/>
        </p:nvGrpSpPr>
        <p:grpSpPr>
          <a:xfrm rot="0">
            <a:off x="12062616" y="6362164"/>
            <a:ext cx="2888861" cy="726310"/>
            <a:chOff x="0" y="0"/>
            <a:chExt cx="3851814" cy="968413"/>
          </a:xfrm>
        </p:grpSpPr>
        <p:grpSp>
          <p:nvGrpSpPr>
            <p:cNvPr name="Group 63" id="63"/>
            <p:cNvGrpSpPr/>
            <p:nvPr/>
          </p:nvGrpSpPr>
          <p:grpSpPr>
            <a:xfrm rot="0">
              <a:off x="0" y="0"/>
              <a:ext cx="3851814" cy="968413"/>
              <a:chOff x="0" y="0"/>
              <a:chExt cx="760852" cy="191291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760852" cy="191291"/>
              </a:xfrm>
              <a:custGeom>
                <a:avLst/>
                <a:gdLst/>
                <a:ahLst/>
                <a:cxnLst/>
                <a:rect r="r" b="b" t="t" l="l"/>
                <a:pathLst>
                  <a:path h="191291" w="760852">
                    <a:moveTo>
                      <a:pt x="0" y="0"/>
                    </a:moveTo>
                    <a:lnTo>
                      <a:pt x="760852" y="0"/>
                    </a:lnTo>
                    <a:lnTo>
                      <a:pt x="760852" y="191291"/>
                    </a:lnTo>
                    <a:lnTo>
                      <a:pt x="0" y="191291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9525"/>
                <a:ext cx="760852" cy="2008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66" id="66"/>
            <p:cNvSpPr/>
            <p:nvPr/>
          </p:nvSpPr>
          <p:spPr>
            <a:xfrm flipH="false" flipV="false" rot="0">
              <a:off x="89850" y="312841"/>
              <a:ext cx="3672114" cy="342731"/>
            </a:xfrm>
            <a:custGeom>
              <a:avLst/>
              <a:gdLst/>
              <a:ahLst/>
              <a:cxnLst/>
              <a:rect r="r" b="b" t="t" l="l"/>
              <a:pathLst>
                <a:path h="342731" w="3672114">
                  <a:moveTo>
                    <a:pt x="0" y="0"/>
                  </a:moveTo>
                  <a:lnTo>
                    <a:pt x="3672114" y="0"/>
                  </a:lnTo>
                  <a:lnTo>
                    <a:pt x="3672114" y="342731"/>
                  </a:lnTo>
                  <a:lnTo>
                    <a:pt x="0" y="34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5090869" y="6362164"/>
            <a:ext cx="2888861" cy="726310"/>
            <a:chOff x="0" y="0"/>
            <a:chExt cx="3851814" cy="968413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3851814" cy="968413"/>
              <a:chOff x="0" y="0"/>
              <a:chExt cx="760852" cy="191291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760852" cy="191291"/>
              </a:xfrm>
              <a:custGeom>
                <a:avLst/>
                <a:gdLst/>
                <a:ahLst/>
                <a:cxnLst/>
                <a:rect r="r" b="b" t="t" l="l"/>
                <a:pathLst>
                  <a:path h="191291" w="760852">
                    <a:moveTo>
                      <a:pt x="0" y="0"/>
                    </a:moveTo>
                    <a:lnTo>
                      <a:pt x="760852" y="0"/>
                    </a:lnTo>
                    <a:lnTo>
                      <a:pt x="760852" y="191291"/>
                    </a:lnTo>
                    <a:lnTo>
                      <a:pt x="0" y="191291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9525"/>
                <a:ext cx="760852" cy="2008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71" id="71"/>
            <p:cNvSpPr/>
            <p:nvPr/>
          </p:nvSpPr>
          <p:spPr>
            <a:xfrm flipH="false" flipV="false" rot="0">
              <a:off x="89850" y="319122"/>
              <a:ext cx="3672114" cy="336450"/>
            </a:xfrm>
            <a:custGeom>
              <a:avLst/>
              <a:gdLst/>
              <a:ahLst/>
              <a:cxnLst/>
              <a:rect r="r" b="b" t="t" l="l"/>
              <a:pathLst>
                <a:path h="336450" w="3672114">
                  <a:moveTo>
                    <a:pt x="0" y="0"/>
                  </a:moveTo>
                  <a:lnTo>
                    <a:pt x="3672114" y="0"/>
                  </a:lnTo>
                  <a:lnTo>
                    <a:pt x="3672114" y="336450"/>
                  </a:lnTo>
                  <a:lnTo>
                    <a:pt x="0" y="33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062616" y="8623204"/>
            <a:ext cx="2888861" cy="726310"/>
            <a:chOff x="0" y="0"/>
            <a:chExt cx="760852" cy="19129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0852" cy="191291"/>
            </a:xfrm>
            <a:custGeom>
              <a:avLst/>
              <a:gdLst/>
              <a:ahLst/>
              <a:cxnLst/>
              <a:rect r="r" b="b" t="t" l="l"/>
              <a:pathLst>
                <a:path h="191291" w="760852">
                  <a:moveTo>
                    <a:pt x="0" y="0"/>
                  </a:moveTo>
                  <a:lnTo>
                    <a:pt x="760852" y="0"/>
                  </a:lnTo>
                  <a:lnTo>
                    <a:pt x="760852" y="191291"/>
                  </a:lnTo>
                  <a:lnTo>
                    <a:pt x="0" y="191291"/>
                  </a:lnTo>
                  <a:close/>
                </a:path>
              </a:pathLst>
            </a:custGeom>
            <a:solidFill>
              <a:srgbClr val="203866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760852" cy="20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GASF Image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5090869" y="8623204"/>
            <a:ext cx="2888861" cy="726310"/>
            <a:chOff x="0" y="0"/>
            <a:chExt cx="760852" cy="19129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60852" cy="191291"/>
            </a:xfrm>
            <a:custGeom>
              <a:avLst/>
              <a:gdLst/>
              <a:ahLst/>
              <a:cxnLst/>
              <a:rect r="r" b="b" t="t" l="l"/>
              <a:pathLst>
                <a:path h="191291" w="760852">
                  <a:moveTo>
                    <a:pt x="0" y="0"/>
                  </a:moveTo>
                  <a:lnTo>
                    <a:pt x="760852" y="0"/>
                  </a:lnTo>
                  <a:lnTo>
                    <a:pt x="760852" y="191291"/>
                  </a:lnTo>
                  <a:lnTo>
                    <a:pt x="0" y="191291"/>
                  </a:lnTo>
                  <a:close/>
                </a:path>
              </a:pathLst>
            </a:custGeom>
            <a:solidFill>
              <a:srgbClr val="203866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760852" cy="20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GADF Image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>
            <a:off x="13507047" y="7145624"/>
            <a:ext cx="0" cy="1277555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9" id="79"/>
          <p:cNvSpPr/>
          <p:nvPr/>
        </p:nvSpPr>
        <p:spPr>
          <a:xfrm>
            <a:off x="16582925" y="7145624"/>
            <a:ext cx="0" cy="1277555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0" id="80"/>
          <p:cNvGrpSpPr/>
          <p:nvPr/>
        </p:nvGrpSpPr>
        <p:grpSpPr>
          <a:xfrm rot="0">
            <a:off x="13723475" y="7288499"/>
            <a:ext cx="2643022" cy="1014154"/>
            <a:chOff x="0" y="0"/>
            <a:chExt cx="7696774" cy="295332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696774" cy="2953328"/>
            </a:xfrm>
            <a:custGeom>
              <a:avLst/>
              <a:gdLst/>
              <a:ahLst/>
              <a:cxnLst/>
              <a:rect r="r" b="b" t="t" l="l"/>
              <a:pathLst>
                <a:path h="2953328" w="7696774">
                  <a:moveTo>
                    <a:pt x="0" y="0"/>
                  </a:moveTo>
                  <a:lnTo>
                    <a:pt x="7696774" y="0"/>
                  </a:lnTo>
                  <a:lnTo>
                    <a:pt x="7696774" y="2953328"/>
                  </a:lnTo>
                  <a:lnTo>
                    <a:pt x="0" y="29533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696774" cy="29914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Map values to [0, 255] 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&amp;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Apply Color-map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752514" y="6485989"/>
            <a:ext cx="3843922" cy="726310"/>
            <a:chOff x="0" y="0"/>
            <a:chExt cx="5125229" cy="968413"/>
          </a:xfrm>
        </p:grpSpPr>
        <p:grpSp>
          <p:nvGrpSpPr>
            <p:cNvPr name="Group 84" id="84"/>
            <p:cNvGrpSpPr/>
            <p:nvPr/>
          </p:nvGrpSpPr>
          <p:grpSpPr>
            <a:xfrm rot="0">
              <a:off x="0" y="0"/>
              <a:ext cx="5125229" cy="968413"/>
              <a:chOff x="0" y="0"/>
              <a:chExt cx="1012391" cy="191291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1012391" cy="191291"/>
              </a:xfrm>
              <a:custGeom>
                <a:avLst/>
                <a:gdLst/>
                <a:ahLst/>
                <a:cxnLst/>
                <a:rect r="r" b="b" t="t" l="l"/>
                <a:pathLst>
                  <a:path h="191291" w="1012391">
                    <a:moveTo>
                      <a:pt x="0" y="0"/>
                    </a:moveTo>
                    <a:lnTo>
                      <a:pt x="1012391" y="0"/>
                    </a:lnTo>
                    <a:lnTo>
                      <a:pt x="1012391" y="191291"/>
                    </a:lnTo>
                    <a:lnTo>
                      <a:pt x="0" y="191291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86" id="86"/>
              <p:cNvSpPr txBox="true"/>
              <p:nvPr/>
            </p:nvSpPr>
            <p:spPr>
              <a:xfrm>
                <a:off x="0" y="-9525"/>
                <a:ext cx="1012391" cy="2008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87" id="87"/>
            <p:cNvSpPr/>
            <p:nvPr/>
          </p:nvSpPr>
          <p:spPr>
            <a:xfrm flipH="false" flipV="false" rot="0">
              <a:off x="163948" y="254102"/>
              <a:ext cx="4797334" cy="460209"/>
            </a:xfrm>
            <a:custGeom>
              <a:avLst/>
              <a:gdLst/>
              <a:ahLst/>
              <a:cxnLst/>
              <a:rect r="r" b="b" t="t" l="l"/>
              <a:pathLst>
                <a:path h="460209" w="4797334">
                  <a:moveTo>
                    <a:pt x="0" y="0"/>
                  </a:moveTo>
                  <a:lnTo>
                    <a:pt x="4797334" y="0"/>
                  </a:lnTo>
                  <a:lnTo>
                    <a:pt x="4797334" y="460209"/>
                  </a:lnTo>
                  <a:lnTo>
                    <a:pt x="0" y="460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AutoShape 88" id="88"/>
          <p:cNvSpPr/>
          <p:nvPr/>
        </p:nvSpPr>
        <p:spPr>
          <a:xfrm>
            <a:off x="3960752" y="5310343"/>
            <a:ext cx="0" cy="1051821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9" id="89"/>
          <p:cNvGrpSpPr/>
          <p:nvPr/>
        </p:nvGrpSpPr>
        <p:grpSpPr>
          <a:xfrm rot="0">
            <a:off x="4290459" y="5462310"/>
            <a:ext cx="2768033" cy="699829"/>
            <a:chOff x="0" y="0"/>
            <a:chExt cx="8060818" cy="203797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060818" cy="2037979"/>
            </a:xfrm>
            <a:custGeom>
              <a:avLst/>
              <a:gdLst/>
              <a:ahLst/>
              <a:cxnLst/>
              <a:rect r="r" b="b" t="t" l="l"/>
              <a:pathLst>
                <a:path h="2037979" w="8060818">
                  <a:moveTo>
                    <a:pt x="0" y="0"/>
                  </a:moveTo>
                  <a:lnTo>
                    <a:pt x="8060818" y="0"/>
                  </a:lnTo>
                  <a:lnTo>
                    <a:pt x="8060818" y="2037979"/>
                  </a:lnTo>
                  <a:lnTo>
                    <a:pt x="0" y="2037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8060818" cy="207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Discretize to Q equal size bins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235348" y="7650449"/>
            <a:ext cx="5653227" cy="726310"/>
            <a:chOff x="0" y="0"/>
            <a:chExt cx="7537636" cy="968413"/>
          </a:xfrm>
        </p:grpSpPr>
        <p:grpSp>
          <p:nvGrpSpPr>
            <p:cNvPr name="Group 93" id="93"/>
            <p:cNvGrpSpPr/>
            <p:nvPr/>
          </p:nvGrpSpPr>
          <p:grpSpPr>
            <a:xfrm rot="0">
              <a:off x="0" y="0"/>
              <a:ext cx="7537636" cy="968413"/>
              <a:chOff x="0" y="0"/>
              <a:chExt cx="1488916" cy="191291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1488916" cy="191291"/>
              </a:xfrm>
              <a:custGeom>
                <a:avLst/>
                <a:gdLst/>
                <a:ahLst/>
                <a:cxnLst/>
                <a:rect r="r" b="b" t="t" l="l"/>
                <a:pathLst>
                  <a:path h="191291" w="1488916">
                    <a:moveTo>
                      <a:pt x="0" y="0"/>
                    </a:moveTo>
                    <a:lnTo>
                      <a:pt x="1488916" y="0"/>
                    </a:lnTo>
                    <a:lnTo>
                      <a:pt x="1488916" y="191291"/>
                    </a:lnTo>
                    <a:lnTo>
                      <a:pt x="0" y="191291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95" id="95"/>
              <p:cNvSpPr txBox="true"/>
              <p:nvPr/>
            </p:nvSpPr>
            <p:spPr>
              <a:xfrm>
                <a:off x="0" y="-9525"/>
                <a:ext cx="1488916" cy="2008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96" id="96"/>
            <p:cNvSpPr/>
            <p:nvPr/>
          </p:nvSpPr>
          <p:spPr>
            <a:xfrm flipH="false" flipV="false" rot="0">
              <a:off x="148616" y="102982"/>
              <a:ext cx="7253046" cy="762450"/>
            </a:xfrm>
            <a:custGeom>
              <a:avLst/>
              <a:gdLst/>
              <a:ahLst/>
              <a:cxnLst/>
              <a:rect r="r" b="b" t="t" l="l"/>
              <a:pathLst>
                <a:path h="762450" w="7253046">
                  <a:moveTo>
                    <a:pt x="0" y="0"/>
                  </a:moveTo>
                  <a:lnTo>
                    <a:pt x="7253046" y="0"/>
                  </a:lnTo>
                  <a:lnTo>
                    <a:pt x="7253046" y="762449"/>
                  </a:lnTo>
                  <a:lnTo>
                    <a:pt x="0" y="762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AutoShape 97" id="97"/>
          <p:cNvSpPr/>
          <p:nvPr/>
        </p:nvSpPr>
        <p:spPr>
          <a:xfrm>
            <a:off x="7791038" y="6849144"/>
            <a:ext cx="1644635" cy="79178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8" id="98"/>
          <p:cNvSpPr/>
          <p:nvPr/>
        </p:nvSpPr>
        <p:spPr>
          <a:xfrm>
            <a:off x="9435673" y="8423179"/>
            <a:ext cx="0" cy="835121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9" id="99"/>
          <p:cNvGrpSpPr/>
          <p:nvPr/>
        </p:nvGrpSpPr>
        <p:grpSpPr>
          <a:xfrm rot="0">
            <a:off x="5830251" y="8479282"/>
            <a:ext cx="3414922" cy="779018"/>
            <a:chOff x="0" y="0"/>
            <a:chExt cx="9944632" cy="2268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944632" cy="2268587"/>
            </a:xfrm>
            <a:custGeom>
              <a:avLst/>
              <a:gdLst/>
              <a:ahLst/>
              <a:cxnLst/>
              <a:rect r="r" b="b" t="t" l="l"/>
              <a:pathLst>
                <a:path h="2268587" w="9944632">
                  <a:moveTo>
                    <a:pt x="0" y="0"/>
                  </a:moveTo>
                  <a:lnTo>
                    <a:pt x="9944632" y="0"/>
                  </a:lnTo>
                  <a:lnTo>
                    <a:pt x="9944632" y="2268587"/>
                  </a:lnTo>
                  <a:lnTo>
                    <a:pt x="0" y="22685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9944632" cy="23066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Map values to [0, 255] &amp; Apply Color-map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7991242" y="9349514"/>
            <a:ext cx="2888861" cy="726310"/>
            <a:chOff x="0" y="0"/>
            <a:chExt cx="760852" cy="19129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60852" cy="191291"/>
            </a:xfrm>
            <a:custGeom>
              <a:avLst/>
              <a:gdLst/>
              <a:ahLst/>
              <a:cxnLst/>
              <a:rect r="r" b="b" t="t" l="l"/>
              <a:pathLst>
                <a:path h="191291" w="760852">
                  <a:moveTo>
                    <a:pt x="0" y="0"/>
                  </a:moveTo>
                  <a:lnTo>
                    <a:pt x="760852" y="0"/>
                  </a:lnTo>
                  <a:lnTo>
                    <a:pt x="760852" y="191291"/>
                  </a:lnTo>
                  <a:lnTo>
                    <a:pt x="0" y="191291"/>
                  </a:lnTo>
                  <a:close/>
                </a:path>
              </a:pathLst>
            </a:custGeom>
            <a:solidFill>
              <a:srgbClr val="203866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760852" cy="20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MTF Image</a:t>
              </a:r>
            </a:p>
          </p:txBody>
        </p:sp>
      </p:grpSp>
      <p:sp>
        <p:nvSpPr>
          <p:cNvPr name="AutoShape 105" id="105"/>
          <p:cNvSpPr/>
          <p:nvPr/>
        </p:nvSpPr>
        <p:spPr>
          <a:xfrm>
            <a:off x="2334112" y="5189620"/>
            <a:ext cx="0" cy="2451535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6" id="106"/>
          <p:cNvGrpSpPr/>
          <p:nvPr/>
        </p:nvGrpSpPr>
        <p:grpSpPr>
          <a:xfrm rot="0">
            <a:off x="1028700" y="7831655"/>
            <a:ext cx="2888861" cy="726310"/>
            <a:chOff x="0" y="0"/>
            <a:chExt cx="760852" cy="19129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760852" cy="191291"/>
            </a:xfrm>
            <a:custGeom>
              <a:avLst/>
              <a:gdLst/>
              <a:ahLst/>
              <a:cxnLst/>
              <a:rect r="r" b="b" t="t" l="l"/>
              <a:pathLst>
                <a:path h="191291" w="760852">
                  <a:moveTo>
                    <a:pt x="0" y="0"/>
                  </a:moveTo>
                  <a:lnTo>
                    <a:pt x="760852" y="0"/>
                  </a:lnTo>
                  <a:lnTo>
                    <a:pt x="760852" y="191291"/>
                  </a:lnTo>
                  <a:lnTo>
                    <a:pt x="0" y="191291"/>
                  </a:lnTo>
                  <a:close/>
                </a:path>
              </a:pathLst>
            </a:custGeom>
            <a:solidFill>
              <a:srgbClr val="203866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760852" cy="200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Spectrogram Image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01184" y="-5514595"/>
            <a:ext cx="27831514" cy="16884741"/>
          </a:xfrm>
          <a:custGeom>
            <a:avLst/>
            <a:gdLst/>
            <a:ahLst/>
            <a:cxnLst/>
            <a:rect r="r" b="b" t="t" l="l"/>
            <a:pathLst>
              <a:path h="16884741" w="27831514">
                <a:moveTo>
                  <a:pt x="0" y="0"/>
                </a:moveTo>
                <a:lnTo>
                  <a:pt x="27831514" y="0"/>
                </a:lnTo>
                <a:lnTo>
                  <a:pt x="27831514" y="16884740"/>
                </a:lnTo>
                <a:lnTo>
                  <a:pt x="0" y="1688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927775"/>
            <a:ext cx="1430183" cy="1425341"/>
            <a:chOff x="0" y="0"/>
            <a:chExt cx="376674" cy="375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F7 - T3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58883" y="2927775"/>
            <a:ext cx="1430183" cy="1425341"/>
            <a:chOff x="0" y="0"/>
            <a:chExt cx="376674" cy="3753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T3 - T5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89066" y="2927775"/>
            <a:ext cx="1430183" cy="1425341"/>
            <a:chOff x="0" y="0"/>
            <a:chExt cx="376674" cy="3753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Fp1 - F3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19249" y="2927775"/>
            <a:ext cx="1430183" cy="1425341"/>
            <a:chOff x="0" y="0"/>
            <a:chExt cx="376674" cy="3753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F3 - C3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353116"/>
            <a:ext cx="1430183" cy="1425341"/>
            <a:chOff x="0" y="0"/>
            <a:chExt cx="376674" cy="3753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C3 - P3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58883" y="4353116"/>
            <a:ext cx="1430183" cy="1425341"/>
            <a:chOff x="0" y="0"/>
            <a:chExt cx="376674" cy="3753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P3 - O1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889066" y="4353116"/>
            <a:ext cx="1430183" cy="1425341"/>
            <a:chOff x="0" y="0"/>
            <a:chExt cx="376674" cy="3753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Fp2 - F4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319249" y="4353116"/>
            <a:ext cx="1430183" cy="1425341"/>
            <a:chOff x="0" y="0"/>
            <a:chExt cx="376674" cy="3753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F4 - C4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5778457"/>
            <a:ext cx="1430183" cy="1425341"/>
            <a:chOff x="0" y="0"/>
            <a:chExt cx="376674" cy="3753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C4 - P4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458883" y="5778457"/>
            <a:ext cx="1430183" cy="1425341"/>
            <a:chOff x="0" y="0"/>
            <a:chExt cx="376674" cy="3753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P4 - O2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889066" y="5778457"/>
            <a:ext cx="1430183" cy="1425341"/>
            <a:chOff x="0" y="0"/>
            <a:chExt cx="376674" cy="3753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F8 - T4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19249" y="5778457"/>
            <a:ext cx="1430183" cy="1425341"/>
            <a:chOff x="0" y="0"/>
            <a:chExt cx="376674" cy="37539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T4 - T6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28700" y="7203798"/>
            <a:ext cx="1430183" cy="1425341"/>
            <a:chOff x="0" y="0"/>
            <a:chExt cx="376674" cy="3753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EOG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458883" y="7203798"/>
            <a:ext cx="1430183" cy="1425341"/>
            <a:chOff x="0" y="0"/>
            <a:chExt cx="376674" cy="37539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EMG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889066" y="7203798"/>
            <a:ext cx="1430183" cy="1425341"/>
            <a:chOff x="0" y="0"/>
            <a:chExt cx="376674" cy="37539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ECG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319249" y="7203798"/>
            <a:ext cx="1430183" cy="1425341"/>
            <a:chOff x="0" y="0"/>
            <a:chExt cx="376674" cy="3753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76674" cy="375398"/>
            </a:xfrm>
            <a:custGeom>
              <a:avLst/>
              <a:gdLst/>
              <a:ahLst/>
              <a:cxnLst/>
              <a:rect r="r" b="b" t="t" l="l"/>
              <a:pathLst>
                <a:path h="375398" w="376674">
                  <a:moveTo>
                    <a:pt x="0" y="0"/>
                  </a:moveTo>
                  <a:lnTo>
                    <a:pt x="376674" y="0"/>
                  </a:lnTo>
                  <a:lnTo>
                    <a:pt x="376674" y="375398"/>
                  </a:lnTo>
                  <a:lnTo>
                    <a:pt x="0" y="375398"/>
                  </a:lnTo>
                  <a:close/>
                </a:path>
              </a:pathLst>
            </a:custGeom>
            <a:solidFill>
              <a:srgbClr val="1B386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76674" cy="38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Avg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347270" y="2927775"/>
            <a:ext cx="9912030" cy="889860"/>
            <a:chOff x="0" y="0"/>
            <a:chExt cx="13216040" cy="118648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1396190" y="0"/>
              <a:ext cx="11819849" cy="1165926"/>
              <a:chOff x="0" y="0"/>
              <a:chExt cx="2334785" cy="23030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33478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334785">
                    <a:moveTo>
                      <a:pt x="0" y="0"/>
                    </a:moveTo>
                    <a:lnTo>
                      <a:pt x="2334785" y="0"/>
                    </a:lnTo>
                    <a:lnTo>
                      <a:pt x="233478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9525"/>
                <a:ext cx="233478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1568178" y="167038"/>
              <a:ext cx="11475873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selected 15 channels, al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ong with their average channel, are segmented into 30-second epochs</a:t>
              </a:r>
            </a:p>
          </p:txBody>
        </p:sp>
        <p:grpSp>
          <p:nvGrpSpPr>
            <p:cNvPr name="Group 56" id="56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7347270" y="4175926"/>
            <a:ext cx="9912030" cy="889860"/>
            <a:chOff x="0" y="0"/>
            <a:chExt cx="13216040" cy="118648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1396190" y="0"/>
              <a:ext cx="11819849" cy="1165926"/>
              <a:chOff x="0" y="0"/>
              <a:chExt cx="2334785" cy="230306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233478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334785">
                    <a:moveTo>
                      <a:pt x="0" y="0"/>
                    </a:moveTo>
                    <a:lnTo>
                      <a:pt x="2334785" y="0"/>
                    </a:lnTo>
                    <a:lnTo>
                      <a:pt x="233478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9525"/>
                <a:ext cx="233478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1568178" y="167038"/>
              <a:ext cx="11475873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Each channel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within an epoch was transformed into an image using the designated method and resized to 224×224 .</a:t>
              </a:r>
            </a:p>
          </p:txBody>
        </p:sp>
        <p:grpSp>
          <p:nvGrpSpPr>
            <p:cNvPr name="Group 66" id="66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</p:grpSp>
      <p:grpSp>
        <p:nvGrpSpPr>
          <p:cNvPr name="Group 71" id="71"/>
          <p:cNvGrpSpPr/>
          <p:nvPr/>
        </p:nvGrpSpPr>
        <p:grpSpPr>
          <a:xfrm rot="0">
            <a:off x="7347270" y="5427736"/>
            <a:ext cx="9912030" cy="889860"/>
            <a:chOff x="0" y="0"/>
            <a:chExt cx="13216040" cy="1186480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1396190" y="0"/>
              <a:ext cx="11819849" cy="1165926"/>
              <a:chOff x="0" y="0"/>
              <a:chExt cx="2334785" cy="230306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33478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334785">
                    <a:moveTo>
                      <a:pt x="0" y="0"/>
                    </a:moveTo>
                    <a:lnTo>
                      <a:pt x="2334785" y="0"/>
                    </a:lnTo>
                    <a:lnTo>
                      <a:pt x="233478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9525"/>
                <a:ext cx="233478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1568178" y="167038"/>
              <a:ext cx="11475873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resul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ting images were concatenated into a 4×4 matrix, creating a single image representation per epoch, as illustrated.</a:t>
              </a:r>
            </a:p>
          </p:txBody>
        </p:sp>
        <p:grpSp>
          <p:nvGrpSpPr>
            <p:cNvPr name="Group 76" id="76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</p:grpSp>
      <p:grpSp>
        <p:nvGrpSpPr>
          <p:cNvPr name="Group 81" id="81"/>
          <p:cNvGrpSpPr/>
          <p:nvPr/>
        </p:nvGrpSpPr>
        <p:grpSpPr>
          <a:xfrm rot="0">
            <a:off x="7347270" y="6679546"/>
            <a:ext cx="9912030" cy="889860"/>
            <a:chOff x="0" y="0"/>
            <a:chExt cx="13216040" cy="1186480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1396190" y="0"/>
              <a:ext cx="11819849" cy="1165926"/>
              <a:chOff x="0" y="0"/>
              <a:chExt cx="2334785" cy="230306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233478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334785">
                    <a:moveTo>
                      <a:pt x="0" y="0"/>
                    </a:moveTo>
                    <a:lnTo>
                      <a:pt x="2334785" y="0"/>
                    </a:lnTo>
                    <a:lnTo>
                      <a:pt x="233478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9525"/>
                <a:ext cx="233478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85" id="85"/>
            <p:cNvSpPr txBox="true"/>
            <p:nvPr/>
          </p:nvSpPr>
          <p:spPr>
            <a:xfrm rot="0">
              <a:off x="1568178" y="167038"/>
              <a:ext cx="11475873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 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total of 12,000 images with 2,000 images per sleep stage were selected randomly.</a:t>
              </a:r>
            </a:p>
          </p:txBody>
        </p:sp>
        <p:grpSp>
          <p:nvGrpSpPr>
            <p:cNvPr name="Group 86" id="86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88" id="88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89" id="8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0" id="9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</p:grpSp>
      <p:grpSp>
        <p:nvGrpSpPr>
          <p:cNvPr name="Group 91" id="91"/>
          <p:cNvGrpSpPr/>
          <p:nvPr/>
        </p:nvGrpSpPr>
        <p:grpSpPr>
          <a:xfrm rot="0">
            <a:off x="7347270" y="7931356"/>
            <a:ext cx="9912030" cy="889860"/>
            <a:chOff x="0" y="0"/>
            <a:chExt cx="13216040" cy="1186480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1396190" y="0"/>
              <a:ext cx="11819849" cy="1165926"/>
              <a:chOff x="0" y="0"/>
              <a:chExt cx="2334785" cy="230306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233478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334785">
                    <a:moveTo>
                      <a:pt x="0" y="0"/>
                    </a:moveTo>
                    <a:lnTo>
                      <a:pt x="2334785" y="0"/>
                    </a:lnTo>
                    <a:lnTo>
                      <a:pt x="233478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9525"/>
                <a:ext cx="233478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95" id="95"/>
            <p:cNvSpPr txBox="true"/>
            <p:nvPr/>
          </p:nvSpPr>
          <p:spPr>
            <a:xfrm rot="0">
              <a:off x="1568178" y="167038"/>
              <a:ext cx="11475873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pre-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trained ViT B/16 model was then used to ensure a fair comparison across different transformation techniques.</a:t>
              </a:r>
            </a:p>
          </p:txBody>
        </p:sp>
        <p:grpSp>
          <p:nvGrpSpPr>
            <p:cNvPr name="Group 96" id="96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98" id="98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5</a:t>
                </a:r>
              </a:p>
            </p:txBody>
          </p:sp>
        </p:grpSp>
      </p:grpSp>
      <p:sp>
        <p:nvSpPr>
          <p:cNvPr name="Freeform 101" id="101"/>
          <p:cNvSpPr/>
          <p:nvPr/>
        </p:nvSpPr>
        <p:spPr>
          <a:xfrm flipH="false" flipV="false" rot="0">
            <a:off x="3889066" y="787514"/>
            <a:ext cx="1106740" cy="1525582"/>
          </a:xfrm>
          <a:custGeom>
            <a:avLst/>
            <a:gdLst/>
            <a:ahLst/>
            <a:cxnLst/>
            <a:rect r="r" b="b" t="t" l="l"/>
            <a:pathLst>
              <a:path h="1525582" w="1106740">
                <a:moveTo>
                  <a:pt x="0" y="0"/>
                </a:moveTo>
                <a:lnTo>
                  <a:pt x="1106740" y="0"/>
                </a:lnTo>
                <a:lnTo>
                  <a:pt x="1106740" y="1525582"/>
                </a:lnTo>
                <a:lnTo>
                  <a:pt x="0" y="152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5319249" y="1028700"/>
            <a:ext cx="11940051" cy="1043210"/>
            <a:chOff x="0" y="0"/>
            <a:chExt cx="15920068" cy="1390947"/>
          </a:xfrm>
        </p:grpSpPr>
        <p:grpSp>
          <p:nvGrpSpPr>
            <p:cNvPr name="Group 103" id="103"/>
            <p:cNvGrpSpPr/>
            <p:nvPr/>
          </p:nvGrpSpPr>
          <p:grpSpPr>
            <a:xfrm rot="0">
              <a:off x="3751719" y="0"/>
              <a:ext cx="12168350" cy="1390947"/>
              <a:chOff x="0" y="0"/>
              <a:chExt cx="2403625" cy="274755"/>
            </a:xfrm>
          </p:grpSpPr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2403625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2403625">
                    <a:moveTo>
                      <a:pt x="0" y="0"/>
                    </a:moveTo>
                    <a:lnTo>
                      <a:pt x="2403625" y="0"/>
                    </a:lnTo>
                    <a:lnTo>
                      <a:pt x="2403625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105" id="105"/>
              <p:cNvSpPr txBox="true"/>
              <p:nvPr/>
            </p:nvSpPr>
            <p:spPr>
              <a:xfrm>
                <a:off x="0" y="-9525"/>
                <a:ext cx="2403625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06" id="106"/>
            <p:cNvGrpSpPr/>
            <p:nvPr/>
          </p:nvGrpSpPr>
          <p:grpSpPr>
            <a:xfrm rot="0">
              <a:off x="0" y="0"/>
              <a:ext cx="4953241" cy="1390947"/>
              <a:chOff x="0" y="0"/>
              <a:chExt cx="978418" cy="274755"/>
            </a:xfrm>
          </p:grpSpPr>
          <p:sp>
            <p:nvSpPr>
              <p:cNvPr name="Freeform 107" id="107"/>
              <p:cNvSpPr/>
              <p:nvPr/>
            </p:nvSpPr>
            <p:spPr>
              <a:xfrm flipH="false" flipV="false" rot="0">
                <a:off x="0" y="0"/>
                <a:ext cx="97841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775218" y="274755"/>
                    </a:lnTo>
                    <a:lnTo>
                      <a:pt x="978418" y="137377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108" id="108"/>
              <p:cNvSpPr txBox="true"/>
              <p:nvPr/>
            </p:nvSpPr>
            <p:spPr>
              <a:xfrm>
                <a:off x="0" y="-9525"/>
                <a:ext cx="86411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94258" y="0"/>
              <a:ext cx="3805124" cy="1390947"/>
              <a:chOff x="0" y="0"/>
              <a:chExt cx="3805124" cy="1390947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0" y="0"/>
                <a:ext cx="3805124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1" id="111"/>
              <p:cNvSpPr txBox="true"/>
              <p:nvPr/>
            </p:nvSpPr>
            <p:spPr>
              <a:xfrm>
                <a:off x="0" y="0"/>
                <a:ext cx="380512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1</a:t>
                </a:r>
              </a:p>
            </p:txBody>
          </p:sp>
        </p:grpSp>
        <p:grpSp>
          <p:nvGrpSpPr>
            <p:cNvPr name="Group 112" id="112"/>
            <p:cNvGrpSpPr/>
            <p:nvPr/>
          </p:nvGrpSpPr>
          <p:grpSpPr>
            <a:xfrm rot="0">
              <a:off x="5385041" y="0"/>
              <a:ext cx="10163549" cy="1390947"/>
              <a:chOff x="0" y="0"/>
              <a:chExt cx="10163549" cy="1390947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0" y="0"/>
                <a:ext cx="10163549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10163549">
                    <a:moveTo>
                      <a:pt x="0" y="0"/>
                    </a:moveTo>
                    <a:lnTo>
                      <a:pt x="10163549" y="0"/>
                    </a:lnTo>
                    <a:lnTo>
                      <a:pt x="10163549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4" id="114"/>
              <p:cNvSpPr txBox="true"/>
              <p:nvPr/>
            </p:nvSpPr>
            <p:spPr>
              <a:xfrm>
                <a:off x="0" y="0"/>
                <a:ext cx="10163549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Best Image Transformation Method</a:t>
                </a:r>
              </a:p>
            </p:txBody>
          </p:sp>
        </p:grpSp>
      </p:grpSp>
      <p:grpSp>
        <p:nvGrpSpPr>
          <p:cNvPr name="Group 115" id="115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116" id="116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9" id="119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120" id="120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1" id="121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15</a:t>
                </a:r>
              </a:p>
            </p:txBody>
          </p:sp>
        </p:grpSp>
        <p:grpSp>
          <p:nvGrpSpPr>
            <p:cNvPr name="Group 122" id="122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25" id="125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7" id="127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128" id="128"/>
          <p:cNvGrpSpPr/>
          <p:nvPr/>
        </p:nvGrpSpPr>
        <p:grpSpPr>
          <a:xfrm rot="0">
            <a:off x="1028700" y="8705051"/>
            <a:ext cx="5720732" cy="360385"/>
            <a:chOff x="0" y="0"/>
            <a:chExt cx="7627642" cy="48051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627642" cy="480513"/>
            </a:xfrm>
            <a:custGeom>
              <a:avLst/>
              <a:gdLst/>
              <a:ahLst/>
              <a:cxnLst/>
              <a:rect r="r" b="b" t="t" l="l"/>
              <a:pathLst>
                <a:path h="480513" w="7627642">
                  <a:moveTo>
                    <a:pt x="0" y="0"/>
                  </a:moveTo>
                  <a:lnTo>
                    <a:pt x="7627642" y="0"/>
                  </a:lnTo>
                  <a:lnTo>
                    <a:pt x="7627642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627642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16 PSG channels to form a unified image representation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0168" y="484523"/>
            <a:ext cx="2131564" cy="2131564"/>
          </a:xfrm>
          <a:custGeom>
            <a:avLst/>
            <a:gdLst/>
            <a:ahLst/>
            <a:cxnLst/>
            <a:rect r="r" b="b" t="t" l="l"/>
            <a:pathLst>
              <a:path h="2131564" w="2131564">
                <a:moveTo>
                  <a:pt x="0" y="0"/>
                </a:moveTo>
                <a:lnTo>
                  <a:pt x="2131563" y="0"/>
                </a:lnTo>
                <a:lnTo>
                  <a:pt x="2131563" y="2131564"/>
                </a:lnTo>
                <a:lnTo>
                  <a:pt x="0" y="2131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80295" y="1028700"/>
            <a:ext cx="4385843" cy="1043210"/>
            <a:chOff x="0" y="0"/>
            <a:chExt cx="1155119" cy="2747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119" cy="274755"/>
            </a:xfrm>
            <a:custGeom>
              <a:avLst/>
              <a:gdLst/>
              <a:ahLst/>
              <a:cxnLst/>
              <a:rect r="r" b="b" t="t" l="l"/>
              <a:pathLst>
                <a:path h="274755" w="1155119">
                  <a:moveTo>
                    <a:pt x="0" y="0"/>
                  </a:moveTo>
                  <a:lnTo>
                    <a:pt x="1155119" y="0"/>
                  </a:lnTo>
                  <a:lnTo>
                    <a:pt x="1155119" y="274755"/>
                  </a:lnTo>
                  <a:lnTo>
                    <a:pt x="0" y="274755"/>
                  </a:lnTo>
                  <a:close/>
                </a:path>
              </a:pathLst>
            </a:custGeom>
            <a:solidFill>
              <a:srgbClr val="19647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55119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66506" y="1028700"/>
            <a:ext cx="3714931" cy="1043210"/>
            <a:chOff x="0" y="0"/>
            <a:chExt cx="978418" cy="2747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8418" cy="274755"/>
            </a:xfrm>
            <a:custGeom>
              <a:avLst/>
              <a:gdLst/>
              <a:ahLst/>
              <a:cxnLst/>
              <a:rect r="r" b="b" t="t" l="l"/>
              <a:pathLst>
                <a:path h="274755" w="978418">
                  <a:moveTo>
                    <a:pt x="775218" y="0"/>
                  </a:moveTo>
                  <a:lnTo>
                    <a:pt x="0" y="0"/>
                  </a:lnTo>
                  <a:lnTo>
                    <a:pt x="0" y="274755"/>
                  </a:lnTo>
                  <a:lnTo>
                    <a:pt x="775218" y="274755"/>
                  </a:lnTo>
                  <a:lnTo>
                    <a:pt x="978418" y="137377"/>
                  </a:lnTo>
                  <a:lnTo>
                    <a:pt x="775218" y="0"/>
                  </a:lnTo>
                  <a:close/>
                </a:path>
              </a:pathLst>
            </a:custGeom>
            <a:solidFill>
              <a:srgbClr val="8ED5D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4118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12200" y="1028700"/>
            <a:ext cx="2853843" cy="1043210"/>
            <a:chOff x="0" y="0"/>
            <a:chExt cx="3805124" cy="13909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124" cy="1390946"/>
            </a:xfrm>
            <a:custGeom>
              <a:avLst/>
              <a:gdLst/>
              <a:ahLst/>
              <a:cxnLst/>
              <a:rect r="r" b="b" t="t" l="l"/>
              <a:pathLst>
                <a:path h="1390946" w="3805124">
                  <a:moveTo>
                    <a:pt x="0" y="0"/>
                  </a:moveTo>
                  <a:lnTo>
                    <a:pt x="3805124" y="0"/>
                  </a:lnTo>
                  <a:lnTo>
                    <a:pt x="3805124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805124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96475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Experiment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86212" y="1028700"/>
            <a:ext cx="3379926" cy="1043210"/>
            <a:chOff x="0" y="0"/>
            <a:chExt cx="4506568" cy="1390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6569" cy="1390946"/>
            </a:xfrm>
            <a:custGeom>
              <a:avLst/>
              <a:gdLst/>
              <a:ahLst/>
              <a:cxnLst/>
              <a:rect r="r" b="b" t="t" l="l"/>
              <a:pathLst>
                <a:path h="1390946" w="4506569">
                  <a:moveTo>
                    <a:pt x="0" y="0"/>
                  </a:moveTo>
                  <a:lnTo>
                    <a:pt x="4506569" y="0"/>
                  </a:lnTo>
                  <a:lnTo>
                    <a:pt x="4506569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506568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Results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3967091" y="2545351"/>
            <a:ext cx="10353818" cy="2812686"/>
          </a:xfrm>
          <a:custGeom>
            <a:avLst/>
            <a:gdLst/>
            <a:ahLst/>
            <a:cxnLst/>
            <a:rect r="r" b="b" t="t" l="l"/>
            <a:pathLst>
              <a:path h="2812686" w="10353818">
                <a:moveTo>
                  <a:pt x="0" y="0"/>
                </a:moveTo>
                <a:lnTo>
                  <a:pt x="10353818" y="0"/>
                </a:lnTo>
                <a:lnTo>
                  <a:pt x="10353818" y="2812686"/>
                </a:lnTo>
                <a:lnTo>
                  <a:pt x="0" y="28126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6127996"/>
            <a:ext cx="6304681" cy="3619629"/>
          </a:xfrm>
          <a:custGeom>
            <a:avLst/>
            <a:gdLst/>
            <a:ahLst/>
            <a:cxnLst/>
            <a:rect r="r" b="b" t="t" l="l"/>
            <a:pathLst>
              <a:path h="3619629" w="6304681">
                <a:moveTo>
                  <a:pt x="0" y="0"/>
                </a:moveTo>
                <a:lnTo>
                  <a:pt x="6304681" y="0"/>
                </a:lnTo>
                <a:lnTo>
                  <a:pt x="6304681" y="3619629"/>
                </a:lnTo>
                <a:lnTo>
                  <a:pt x="0" y="36196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741030" y="6279180"/>
            <a:ext cx="8695158" cy="1258570"/>
            <a:chOff x="0" y="0"/>
            <a:chExt cx="11593544" cy="16780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93544" cy="1678094"/>
            </a:xfrm>
            <a:custGeom>
              <a:avLst/>
              <a:gdLst/>
              <a:ahLst/>
              <a:cxnLst/>
              <a:rect r="r" b="b" t="t" l="l"/>
              <a:pathLst>
                <a:path h="1678094" w="11593544">
                  <a:moveTo>
                    <a:pt x="0" y="0"/>
                  </a:moveTo>
                  <a:lnTo>
                    <a:pt x="11593544" y="0"/>
                  </a:lnTo>
                  <a:lnTo>
                    <a:pt x="11593544" y="1678094"/>
                  </a:lnTo>
                  <a:lnTo>
                    <a:pt x="0" y="16780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593544" cy="1716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According to accuracy and F1-score, GASF provides the best classification performance. Also it gives best structured feature representation according to DBI and CHI.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12378" y="7802774"/>
            <a:ext cx="7952461" cy="1709346"/>
            <a:chOff x="0" y="0"/>
            <a:chExt cx="10603281" cy="227912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1509218" cy="34778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09218" cy="347783"/>
              </a:xfrm>
              <a:custGeom>
                <a:avLst/>
                <a:gdLst/>
                <a:ahLst/>
                <a:cxnLst/>
                <a:rect r="r" b="b" t="t" l="l"/>
                <a:pathLst>
                  <a:path h="347783" w="1509218">
                    <a:moveTo>
                      <a:pt x="0" y="0"/>
                    </a:moveTo>
                    <a:lnTo>
                      <a:pt x="1509218" y="0"/>
                    </a:lnTo>
                    <a:lnTo>
                      <a:pt x="1509218" y="347783"/>
                    </a:lnTo>
                    <a:lnTo>
                      <a:pt x="0" y="34778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1509218" cy="357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7640414" y="0"/>
              <a:ext cx="2962867" cy="2279129"/>
            </a:xfrm>
            <a:custGeom>
              <a:avLst/>
              <a:gdLst/>
              <a:ahLst/>
              <a:cxnLst/>
              <a:rect r="r" b="b" t="t" l="l"/>
              <a:pathLst>
                <a:path h="2279129" w="2962867">
                  <a:moveTo>
                    <a:pt x="0" y="0"/>
                  </a:moveTo>
                  <a:lnTo>
                    <a:pt x="2962867" y="0"/>
                  </a:lnTo>
                  <a:lnTo>
                    <a:pt x="2962867" y="2279129"/>
                  </a:lnTo>
                  <a:lnTo>
                    <a:pt x="0" y="2279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7640414" cy="176065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640414" cy="1760652"/>
              </a:xfrm>
              <a:custGeom>
                <a:avLst/>
                <a:gdLst/>
                <a:ahLst/>
                <a:cxnLst/>
                <a:rect r="r" b="b" t="t" l="l"/>
                <a:pathLst>
                  <a:path h="1760652" w="7640414">
                    <a:moveTo>
                      <a:pt x="0" y="0"/>
                    </a:moveTo>
                    <a:lnTo>
                      <a:pt x="7640414" y="0"/>
                    </a:lnTo>
                    <a:lnTo>
                      <a:pt x="7640414" y="1760652"/>
                    </a:lnTo>
                    <a:lnTo>
                      <a:pt x="0" y="17606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7640414" cy="1817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199"/>
                  </a:lnSpc>
                </a:pPr>
                <a:r>
                  <a:rPr lang="en-US" b="true" sz="2999" spc="-29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GASF is the Best Method !!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16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3967091" y="5358037"/>
            <a:ext cx="10353818" cy="360385"/>
            <a:chOff x="0" y="0"/>
            <a:chExt cx="13805091" cy="48051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805091" cy="480513"/>
            </a:xfrm>
            <a:custGeom>
              <a:avLst/>
              <a:gdLst/>
              <a:ahLst/>
              <a:cxnLst/>
              <a:rect r="r" b="b" t="t" l="l"/>
              <a:pathLst>
                <a:path h="480513" w="13805091">
                  <a:moveTo>
                    <a:pt x="0" y="0"/>
                  </a:moveTo>
                  <a:lnTo>
                    <a:pt x="13805091" y="0"/>
                  </a:lnTo>
                  <a:lnTo>
                    <a:pt x="13805091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805091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Visual representation of different image transformation techniques applied on same epoch.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3662" y="0"/>
            <a:ext cx="7232136" cy="11679323"/>
          </a:xfrm>
          <a:custGeom>
            <a:avLst/>
            <a:gdLst/>
            <a:ahLst/>
            <a:cxnLst/>
            <a:rect r="r" b="b" t="t" l="l"/>
            <a:pathLst>
              <a:path h="11679323" w="7232136">
                <a:moveTo>
                  <a:pt x="0" y="0"/>
                </a:moveTo>
                <a:lnTo>
                  <a:pt x="7232136" y="0"/>
                </a:lnTo>
                <a:lnTo>
                  <a:pt x="7232136" y="11679323"/>
                </a:lnTo>
                <a:lnTo>
                  <a:pt x="0" y="1167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8864887" cy="1043210"/>
            <a:chOff x="0" y="0"/>
            <a:chExt cx="11819849" cy="139094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17058" y="0"/>
              <a:ext cx="11402791" cy="1390947"/>
              <a:chOff x="0" y="0"/>
              <a:chExt cx="2252403" cy="27475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52403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2252403">
                    <a:moveTo>
                      <a:pt x="2049203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2049203" y="274755"/>
                    </a:lnTo>
                    <a:lnTo>
                      <a:pt x="2252403" y="137377"/>
                    </a:lnTo>
                    <a:lnTo>
                      <a:pt x="2049203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"/>
                <a:ext cx="2138103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716216" y="0"/>
              <a:ext cx="10104184" cy="1390947"/>
              <a:chOff x="0" y="0"/>
              <a:chExt cx="10104184" cy="139094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104185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10104185">
                    <a:moveTo>
                      <a:pt x="0" y="0"/>
                    </a:moveTo>
                    <a:lnTo>
                      <a:pt x="10104185" y="0"/>
                    </a:lnTo>
                    <a:lnTo>
                      <a:pt x="10104185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0"/>
                <a:ext cx="1010418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Downsampling </a:t>
                </a: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Methods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417058" cy="1390947"/>
              <a:chOff x="0" y="0"/>
              <a:chExt cx="82382" cy="27475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2382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82382">
                    <a:moveTo>
                      <a:pt x="0" y="0"/>
                    </a:moveTo>
                    <a:lnTo>
                      <a:pt x="82382" y="0"/>
                    </a:lnTo>
                    <a:lnTo>
                      <a:pt x="82382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82382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28700" y="2506910"/>
            <a:ext cx="16230600" cy="1043210"/>
            <a:chOff x="0" y="0"/>
            <a:chExt cx="21640800" cy="1390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40800" cy="1390947"/>
            </a:xfrm>
            <a:custGeom>
              <a:avLst/>
              <a:gdLst/>
              <a:ahLst/>
              <a:cxnLst/>
              <a:rect r="r" b="b" t="t" l="l"/>
              <a:pathLst>
                <a:path h="1390947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640800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Downsampling signals reduces computational complexity and storage needs while preserving essential information. It removes redundant data and optimizes processing. In this study, we use two downsampling methods.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3988269"/>
            <a:ext cx="3779427" cy="916410"/>
            <a:chOff x="0" y="0"/>
            <a:chExt cx="995405" cy="2413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5405" cy="241359"/>
            </a:xfrm>
            <a:custGeom>
              <a:avLst/>
              <a:gdLst/>
              <a:ahLst/>
              <a:cxnLst/>
              <a:rect r="r" b="b" t="t" l="l"/>
              <a:pathLst>
                <a:path h="241359" w="995405">
                  <a:moveTo>
                    <a:pt x="0" y="0"/>
                  </a:moveTo>
                  <a:lnTo>
                    <a:pt x="995405" y="0"/>
                  </a:lnTo>
                  <a:lnTo>
                    <a:pt x="995405" y="241359"/>
                  </a:lnTo>
                  <a:lnTo>
                    <a:pt x="0" y="241359"/>
                  </a:lnTo>
                  <a:close/>
                </a:path>
              </a:pathLst>
            </a:custGeom>
            <a:solidFill>
              <a:srgbClr val="1B38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995405" cy="250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Time Series Data with sampling frequency f</a:t>
              </a: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4904679"/>
            <a:ext cx="3779427" cy="682329"/>
            <a:chOff x="0" y="0"/>
            <a:chExt cx="5039235" cy="90977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39235" cy="909772"/>
              <a:chOff x="0" y="0"/>
              <a:chExt cx="995405" cy="17970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95405" cy="179708"/>
              </a:xfrm>
              <a:custGeom>
                <a:avLst/>
                <a:gdLst/>
                <a:ahLst/>
                <a:cxnLst/>
                <a:rect r="r" b="b" t="t" l="l"/>
                <a:pathLst>
                  <a:path h="179708" w="995405">
                    <a:moveTo>
                      <a:pt x="0" y="0"/>
                    </a:moveTo>
                    <a:lnTo>
                      <a:pt x="995405" y="0"/>
                    </a:lnTo>
                    <a:lnTo>
                      <a:pt x="995405" y="179708"/>
                    </a:lnTo>
                    <a:lnTo>
                      <a:pt x="0" y="17970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995405" cy="1892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690223" y="256627"/>
              <a:ext cx="3658789" cy="396519"/>
            </a:xfrm>
            <a:custGeom>
              <a:avLst/>
              <a:gdLst/>
              <a:ahLst/>
              <a:cxnLst/>
              <a:rect r="r" b="b" t="t" l="l"/>
              <a:pathLst>
                <a:path h="396519" w="3658789">
                  <a:moveTo>
                    <a:pt x="0" y="0"/>
                  </a:moveTo>
                  <a:lnTo>
                    <a:pt x="3658789" y="0"/>
                  </a:lnTo>
                  <a:lnTo>
                    <a:pt x="3658789" y="396519"/>
                  </a:lnTo>
                  <a:lnTo>
                    <a:pt x="0" y="396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24" id="24"/>
          <p:cNvSpPr/>
          <p:nvPr/>
        </p:nvSpPr>
        <p:spPr>
          <a:xfrm flipV="true">
            <a:off x="5027191" y="4653641"/>
            <a:ext cx="2219821" cy="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5027191" y="4023599"/>
            <a:ext cx="1977963" cy="477642"/>
            <a:chOff x="0" y="0"/>
            <a:chExt cx="5760047" cy="13909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60047" cy="1390947"/>
            </a:xfrm>
            <a:custGeom>
              <a:avLst/>
              <a:gdLst/>
              <a:ahLst/>
              <a:cxnLst/>
              <a:rect r="r" b="b" t="t" l="l"/>
              <a:pathLst>
                <a:path h="1390947" w="5760047">
                  <a:moveTo>
                    <a:pt x="0" y="0"/>
                  </a:moveTo>
                  <a:lnTo>
                    <a:pt x="5760047" y="0"/>
                  </a:lnTo>
                  <a:lnTo>
                    <a:pt x="5760047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760047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Apply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17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sp>
        <p:nvSpPr>
          <p:cNvPr name="AutoShape 41" id="41"/>
          <p:cNvSpPr/>
          <p:nvPr/>
        </p:nvSpPr>
        <p:spPr>
          <a:xfrm>
            <a:off x="11529084" y="4565885"/>
            <a:ext cx="1478573" cy="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2" id="42"/>
          <p:cNvGrpSpPr/>
          <p:nvPr/>
        </p:nvGrpSpPr>
        <p:grpSpPr>
          <a:xfrm rot="0">
            <a:off x="5027191" y="4712209"/>
            <a:ext cx="1977963" cy="699829"/>
            <a:chOff x="0" y="0"/>
            <a:chExt cx="5760047" cy="203797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60047" cy="2037979"/>
            </a:xfrm>
            <a:custGeom>
              <a:avLst/>
              <a:gdLst/>
              <a:ahLst/>
              <a:cxnLst/>
              <a:rect r="r" b="b" t="t" l="l"/>
              <a:pathLst>
                <a:path h="2037979" w="5760047">
                  <a:moveTo>
                    <a:pt x="0" y="0"/>
                  </a:moveTo>
                  <a:lnTo>
                    <a:pt x="5760047" y="0"/>
                  </a:lnTo>
                  <a:lnTo>
                    <a:pt x="5760047" y="2037979"/>
                  </a:lnTo>
                  <a:lnTo>
                    <a:pt x="0" y="2037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760047" cy="207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Fast Fourier Transform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303267" y="4205679"/>
            <a:ext cx="3956033" cy="777701"/>
            <a:chOff x="0" y="0"/>
            <a:chExt cx="1041918" cy="2048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1918" cy="204827"/>
            </a:xfrm>
            <a:custGeom>
              <a:avLst/>
              <a:gdLst/>
              <a:ahLst/>
              <a:cxnLst/>
              <a:rect r="r" b="b" t="t" l="l"/>
              <a:pathLst>
                <a:path h="204827" w="1041918">
                  <a:moveTo>
                    <a:pt x="0" y="0"/>
                  </a:moveTo>
                  <a:lnTo>
                    <a:pt x="1041918" y="0"/>
                  </a:lnTo>
                  <a:lnTo>
                    <a:pt x="1041918" y="204827"/>
                  </a:lnTo>
                  <a:lnTo>
                    <a:pt x="0" y="204827"/>
                  </a:lnTo>
                  <a:close/>
                </a:path>
              </a:pathLst>
            </a:custGeom>
            <a:solidFill>
              <a:srgbClr val="CDF0E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041918" cy="21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Remove frequencies above Nyquist frequency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91504" y="9143627"/>
            <a:ext cx="2888861" cy="777701"/>
            <a:chOff x="0" y="0"/>
            <a:chExt cx="760852" cy="20482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0852" cy="204827"/>
            </a:xfrm>
            <a:custGeom>
              <a:avLst/>
              <a:gdLst/>
              <a:ahLst/>
              <a:cxnLst/>
              <a:rect r="r" b="b" t="t" l="l"/>
              <a:pathLst>
                <a:path h="204827" w="760852">
                  <a:moveTo>
                    <a:pt x="0" y="0"/>
                  </a:moveTo>
                  <a:lnTo>
                    <a:pt x="760852" y="0"/>
                  </a:lnTo>
                  <a:lnTo>
                    <a:pt x="760852" y="204827"/>
                  </a:lnTo>
                  <a:lnTo>
                    <a:pt x="0" y="204827"/>
                  </a:lnTo>
                  <a:close/>
                </a:path>
              </a:pathLst>
            </a:custGeom>
            <a:solidFill>
              <a:srgbClr val="203866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760852" cy="21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FFT Downsampled Data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466087" y="3988269"/>
            <a:ext cx="3843922" cy="1155231"/>
            <a:chOff x="0" y="0"/>
            <a:chExt cx="5125229" cy="1540307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5125229" cy="1540307"/>
              <a:chOff x="0" y="0"/>
              <a:chExt cx="1012391" cy="30425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012391" cy="304258"/>
              </a:xfrm>
              <a:custGeom>
                <a:avLst/>
                <a:gdLst/>
                <a:ahLst/>
                <a:cxnLst/>
                <a:rect r="r" b="b" t="t" l="l"/>
                <a:pathLst>
                  <a:path h="304258" w="1012391">
                    <a:moveTo>
                      <a:pt x="0" y="0"/>
                    </a:moveTo>
                    <a:lnTo>
                      <a:pt x="1012391" y="0"/>
                    </a:lnTo>
                    <a:lnTo>
                      <a:pt x="1012391" y="304258"/>
                    </a:lnTo>
                    <a:lnTo>
                      <a:pt x="0" y="304258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9525"/>
                <a:ext cx="1012391" cy="3137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55" id="55"/>
            <p:cNvSpPr/>
            <p:nvPr/>
          </p:nvSpPr>
          <p:spPr>
            <a:xfrm flipH="false" flipV="false" rot="0">
              <a:off x="206500" y="144712"/>
              <a:ext cx="4712229" cy="1250883"/>
            </a:xfrm>
            <a:custGeom>
              <a:avLst/>
              <a:gdLst/>
              <a:ahLst/>
              <a:cxnLst/>
              <a:rect r="r" b="b" t="t" l="l"/>
              <a:pathLst>
                <a:path h="1250883" w="4712229">
                  <a:moveTo>
                    <a:pt x="0" y="0"/>
                  </a:moveTo>
                  <a:lnTo>
                    <a:pt x="4712229" y="0"/>
                  </a:lnTo>
                  <a:lnTo>
                    <a:pt x="4712229" y="1250883"/>
                  </a:lnTo>
                  <a:lnTo>
                    <a:pt x="0" y="1250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415378" y="6140546"/>
            <a:ext cx="3843922" cy="1155231"/>
            <a:chOff x="0" y="0"/>
            <a:chExt cx="5125229" cy="1540307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5125229" cy="1540307"/>
              <a:chOff x="0" y="0"/>
              <a:chExt cx="1012391" cy="30425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012391" cy="304258"/>
              </a:xfrm>
              <a:custGeom>
                <a:avLst/>
                <a:gdLst/>
                <a:ahLst/>
                <a:cxnLst/>
                <a:rect r="r" b="b" t="t" l="l"/>
                <a:pathLst>
                  <a:path h="304258" w="1012391">
                    <a:moveTo>
                      <a:pt x="0" y="0"/>
                    </a:moveTo>
                    <a:lnTo>
                      <a:pt x="1012391" y="0"/>
                    </a:lnTo>
                    <a:lnTo>
                      <a:pt x="1012391" y="304258"/>
                    </a:lnTo>
                    <a:lnTo>
                      <a:pt x="0" y="304258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9525"/>
                <a:ext cx="1012391" cy="3137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60" id="60"/>
            <p:cNvSpPr/>
            <p:nvPr/>
          </p:nvSpPr>
          <p:spPr>
            <a:xfrm flipH="false" flipV="false" rot="0">
              <a:off x="166758" y="151587"/>
              <a:ext cx="4791714" cy="1237134"/>
            </a:xfrm>
            <a:custGeom>
              <a:avLst/>
              <a:gdLst/>
              <a:ahLst/>
              <a:cxnLst/>
              <a:rect r="r" b="b" t="t" l="l"/>
              <a:pathLst>
                <a:path h="1237134" w="4791714">
                  <a:moveTo>
                    <a:pt x="0" y="0"/>
                  </a:moveTo>
                  <a:lnTo>
                    <a:pt x="4791714" y="0"/>
                  </a:lnTo>
                  <a:lnTo>
                    <a:pt x="4791714" y="1237133"/>
                  </a:lnTo>
                  <a:lnTo>
                    <a:pt x="0" y="1237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1" id="61"/>
          <p:cNvSpPr/>
          <p:nvPr/>
        </p:nvSpPr>
        <p:spPr>
          <a:xfrm>
            <a:off x="15281283" y="5143500"/>
            <a:ext cx="0" cy="835121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2" id="62"/>
          <p:cNvGrpSpPr/>
          <p:nvPr/>
        </p:nvGrpSpPr>
        <p:grpSpPr>
          <a:xfrm rot="0">
            <a:off x="14207092" y="5245844"/>
            <a:ext cx="883408" cy="477642"/>
            <a:chOff x="0" y="0"/>
            <a:chExt cx="2572582" cy="139094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72582" cy="1390947"/>
            </a:xfrm>
            <a:custGeom>
              <a:avLst/>
              <a:gdLst/>
              <a:ahLst/>
              <a:cxnLst/>
              <a:rect r="r" b="b" t="t" l="l"/>
              <a:pathLst>
                <a:path h="1390947" w="2572582">
                  <a:moveTo>
                    <a:pt x="0" y="0"/>
                  </a:moveTo>
                  <a:lnTo>
                    <a:pt x="2572582" y="0"/>
                  </a:lnTo>
                  <a:lnTo>
                    <a:pt x="2572582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572582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Apply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547983" y="5245844"/>
            <a:ext cx="1444430" cy="477642"/>
            <a:chOff x="0" y="0"/>
            <a:chExt cx="4206341" cy="139094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06341" cy="1390947"/>
            </a:xfrm>
            <a:custGeom>
              <a:avLst/>
              <a:gdLst/>
              <a:ahLst/>
              <a:cxnLst/>
              <a:rect r="r" b="b" t="t" l="l"/>
              <a:pathLst>
                <a:path h="1390947" w="4206341">
                  <a:moveTo>
                    <a:pt x="0" y="0"/>
                  </a:moveTo>
                  <a:lnTo>
                    <a:pt x="4206341" y="0"/>
                  </a:lnTo>
                  <a:lnTo>
                    <a:pt x="4206341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206341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Inverse FFT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915570" y="6329311"/>
            <a:ext cx="3956033" cy="777701"/>
            <a:chOff x="0" y="0"/>
            <a:chExt cx="1041918" cy="2048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1918" cy="204827"/>
            </a:xfrm>
            <a:custGeom>
              <a:avLst/>
              <a:gdLst/>
              <a:ahLst/>
              <a:cxnLst/>
              <a:rect r="r" b="b" t="t" l="l"/>
              <a:pathLst>
                <a:path h="204827" w="1041918">
                  <a:moveTo>
                    <a:pt x="0" y="0"/>
                  </a:moveTo>
                  <a:lnTo>
                    <a:pt x="1041918" y="0"/>
                  </a:lnTo>
                  <a:lnTo>
                    <a:pt x="1041918" y="204827"/>
                  </a:lnTo>
                  <a:lnTo>
                    <a:pt x="0" y="204827"/>
                  </a:lnTo>
                  <a:close/>
                </a:path>
              </a:pathLst>
            </a:custGeom>
            <a:solidFill>
              <a:srgbClr val="CDF0E6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1041918" cy="21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Remove frequencies above Nyquist frequency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>
            <a:off x="2870788" y="5723486"/>
            <a:ext cx="0" cy="1383527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2" id="72"/>
          <p:cNvGrpSpPr/>
          <p:nvPr/>
        </p:nvGrpSpPr>
        <p:grpSpPr>
          <a:xfrm rot="0">
            <a:off x="1201044" y="6140546"/>
            <a:ext cx="1431620" cy="477642"/>
            <a:chOff x="0" y="0"/>
            <a:chExt cx="4169035" cy="139094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169035" cy="1390947"/>
            </a:xfrm>
            <a:custGeom>
              <a:avLst/>
              <a:gdLst/>
              <a:ahLst/>
              <a:cxnLst/>
              <a:rect r="r" b="b" t="t" l="l"/>
              <a:pathLst>
                <a:path h="1390947" w="4169035">
                  <a:moveTo>
                    <a:pt x="0" y="0"/>
                  </a:moveTo>
                  <a:lnTo>
                    <a:pt x="4169035" y="0"/>
                  </a:lnTo>
                  <a:lnTo>
                    <a:pt x="4169035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169035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Apply DWT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992847" y="6018333"/>
            <a:ext cx="1815279" cy="699829"/>
            <a:chOff x="0" y="0"/>
            <a:chExt cx="5286295" cy="203797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86295" cy="2037979"/>
            </a:xfrm>
            <a:custGeom>
              <a:avLst/>
              <a:gdLst/>
              <a:ahLst/>
              <a:cxnLst/>
              <a:rect r="r" b="b" t="t" l="l"/>
              <a:pathLst>
                <a:path h="2037979" w="5286295">
                  <a:moveTo>
                    <a:pt x="0" y="0"/>
                  </a:moveTo>
                  <a:lnTo>
                    <a:pt x="5286295" y="0"/>
                  </a:lnTo>
                  <a:lnTo>
                    <a:pt x="5286295" y="2037979"/>
                  </a:lnTo>
                  <a:lnTo>
                    <a:pt x="0" y="2037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286295" cy="207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With Daubechies wavelet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90685" y="7321677"/>
            <a:ext cx="3360206" cy="1682827"/>
            <a:chOff x="0" y="0"/>
            <a:chExt cx="4480274" cy="2243770"/>
          </a:xfrm>
        </p:grpSpPr>
        <p:grpSp>
          <p:nvGrpSpPr>
            <p:cNvPr name="Group 79" id="79"/>
            <p:cNvGrpSpPr/>
            <p:nvPr/>
          </p:nvGrpSpPr>
          <p:grpSpPr>
            <a:xfrm rot="0">
              <a:off x="0" y="0"/>
              <a:ext cx="4480274" cy="2243770"/>
              <a:chOff x="0" y="0"/>
              <a:chExt cx="884992" cy="443214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884992" cy="443214"/>
              </a:xfrm>
              <a:custGeom>
                <a:avLst/>
                <a:gdLst/>
                <a:ahLst/>
                <a:cxnLst/>
                <a:rect r="r" b="b" t="t" l="l"/>
                <a:pathLst>
                  <a:path h="443214" w="884992">
                    <a:moveTo>
                      <a:pt x="0" y="0"/>
                    </a:moveTo>
                    <a:lnTo>
                      <a:pt x="884992" y="0"/>
                    </a:lnTo>
                    <a:lnTo>
                      <a:pt x="884992" y="443214"/>
                    </a:lnTo>
                    <a:lnTo>
                      <a:pt x="0" y="443214"/>
                    </a:lnTo>
                    <a:close/>
                  </a:path>
                </a:pathLst>
              </a:custGeom>
              <a:solidFill>
                <a:srgbClr val="CDF0E6"/>
              </a:solid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9525"/>
                <a:ext cx="884992" cy="4527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82" id="82"/>
            <p:cNvSpPr/>
            <p:nvPr/>
          </p:nvSpPr>
          <p:spPr>
            <a:xfrm flipH="false" flipV="false" rot="0">
              <a:off x="350191" y="198572"/>
              <a:ext cx="3829880" cy="856500"/>
            </a:xfrm>
            <a:custGeom>
              <a:avLst/>
              <a:gdLst/>
              <a:ahLst/>
              <a:cxnLst/>
              <a:rect r="r" b="b" t="t" l="l"/>
              <a:pathLst>
                <a:path h="856500" w="3829880">
                  <a:moveTo>
                    <a:pt x="0" y="0"/>
                  </a:moveTo>
                  <a:lnTo>
                    <a:pt x="3829879" y="0"/>
                  </a:lnTo>
                  <a:lnTo>
                    <a:pt x="3829879" y="856500"/>
                  </a:lnTo>
                  <a:lnTo>
                    <a:pt x="0" y="85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350191" y="1232872"/>
              <a:ext cx="3829880" cy="849537"/>
            </a:xfrm>
            <a:custGeom>
              <a:avLst/>
              <a:gdLst/>
              <a:ahLst/>
              <a:cxnLst/>
              <a:rect r="r" b="b" t="t" l="l"/>
              <a:pathLst>
                <a:path h="849537" w="3829880">
                  <a:moveTo>
                    <a:pt x="0" y="0"/>
                  </a:moveTo>
                  <a:lnTo>
                    <a:pt x="3829879" y="0"/>
                  </a:lnTo>
                  <a:lnTo>
                    <a:pt x="3829879" y="849537"/>
                  </a:lnTo>
                  <a:lnTo>
                    <a:pt x="0" y="849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4" id="84"/>
          <p:cNvSpPr/>
          <p:nvPr/>
        </p:nvSpPr>
        <p:spPr>
          <a:xfrm flipH="true">
            <a:off x="12081335" y="6765787"/>
            <a:ext cx="1124311" cy="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5" id="85"/>
          <p:cNvSpPr/>
          <p:nvPr/>
        </p:nvSpPr>
        <p:spPr>
          <a:xfrm flipV="true">
            <a:off x="4620600" y="7542357"/>
            <a:ext cx="187527" cy="620733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6" id="86"/>
          <p:cNvSpPr/>
          <p:nvPr/>
        </p:nvSpPr>
        <p:spPr>
          <a:xfrm>
            <a:off x="9941212" y="7295777"/>
            <a:ext cx="1587872" cy="867313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7" id="87"/>
          <p:cNvGrpSpPr/>
          <p:nvPr/>
        </p:nvGrpSpPr>
        <p:grpSpPr>
          <a:xfrm rot="0">
            <a:off x="11753052" y="7829177"/>
            <a:ext cx="4165765" cy="777701"/>
            <a:chOff x="0" y="0"/>
            <a:chExt cx="1097156" cy="20482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156" cy="204827"/>
            </a:xfrm>
            <a:custGeom>
              <a:avLst/>
              <a:gdLst/>
              <a:ahLst/>
              <a:cxnLst/>
              <a:rect r="r" b="b" t="t" l="l"/>
              <a:pathLst>
                <a:path h="204827" w="1097156">
                  <a:moveTo>
                    <a:pt x="0" y="0"/>
                  </a:moveTo>
                  <a:lnTo>
                    <a:pt x="1097156" y="0"/>
                  </a:lnTo>
                  <a:lnTo>
                    <a:pt x="1097156" y="204827"/>
                  </a:lnTo>
                  <a:lnTo>
                    <a:pt x="0" y="204827"/>
                  </a:lnTo>
                  <a:close/>
                </a:path>
              </a:pathLst>
            </a:custGeom>
            <a:solidFill>
              <a:srgbClr val="CDF0E6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1097156" cy="21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Perform decimation by keeping every f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 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/ f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new 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samples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 flipH="true">
            <a:off x="15547983" y="8218028"/>
            <a:ext cx="579027" cy="1314450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1" id="91"/>
          <p:cNvGrpSpPr/>
          <p:nvPr/>
        </p:nvGrpSpPr>
        <p:grpSpPr>
          <a:xfrm rot="0">
            <a:off x="7004726" y="9143627"/>
            <a:ext cx="2888861" cy="777701"/>
            <a:chOff x="0" y="0"/>
            <a:chExt cx="760852" cy="20482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60852" cy="204827"/>
            </a:xfrm>
            <a:custGeom>
              <a:avLst/>
              <a:gdLst/>
              <a:ahLst/>
              <a:cxnLst/>
              <a:rect r="r" b="b" t="t" l="l"/>
              <a:pathLst>
                <a:path h="204827" w="760852">
                  <a:moveTo>
                    <a:pt x="0" y="0"/>
                  </a:moveTo>
                  <a:lnTo>
                    <a:pt x="760852" y="0"/>
                  </a:lnTo>
                  <a:lnTo>
                    <a:pt x="760852" y="204827"/>
                  </a:lnTo>
                  <a:lnTo>
                    <a:pt x="0" y="204827"/>
                  </a:lnTo>
                  <a:close/>
                </a:path>
              </a:pathLst>
            </a:custGeom>
            <a:solidFill>
              <a:srgbClr val="203866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760852" cy="21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DWT Downsampled Data</a:t>
              </a:r>
            </a:p>
          </p:txBody>
        </p:sp>
      </p:grpSp>
      <p:sp>
        <p:nvSpPr>
          <p:cNvPr name="AutoShape 94" id="94"/>
          <p:cNvSpPr/>
          <p:nvPr/>
        </p:nvSpPr>
        <p:spPr>
          <a:xfrm>
            <a:off x="2918413" y="9137854"/>
            <a:ext cx="3772986" cy="394623"/>
          </a:xfrm>
          <a:prstGeom prst="line">
            <a:avLst/>
          </a:prstGeom>
          <a:ln cap="rnd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5" id="95"/>
          <p:cNvGrpSpPr/>
          <p:nvPr/>
        </p:nvGrpSpPr>
        <p:grpSpPr>
          <a:xfrm rot="0">
            <a:off x="4620600" y="8324370"/>
            <a:ext cx="2384126" cy="699829"/>
            <a:chOff x="0" y="0"/>
            <a:chExt cx="6942840" cy="20379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942840" cy="2037979"/>
            </a:xfrm>
            <a:custGeom>
              <a:avLst/>
              <a:gdLst/>
              <a:ahLst/>
              <a:cxnLst/>
              <a:rect r="r" b="b" t="t" l="l"/>
              <a:pathLst>
                <a:path h="2037979" w="6942840">
                  <a:moveTo>
                    <a:pt x="0" y="0"/>
                  </a:moveTo>
                  <a:lnTo>
                    <a:pt x="6942840" y="0"/>
                  </a:lnTo>
                  <a:lnTo>
                    <a:pt x="6942840" y="2037979"/>
                  </a:lnTo>
                  <a:lnTo>
                    <a:pt x="0" y="2037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942840" cy="20760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Apply DWT on A[n] 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(f</a:t>
              </a: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s </a:t>
              </a: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/ f</a:t>
              </a: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new</a:t>
              </a:r>
              <a:r>
                <a:rPr lang="en-US" sz="1800" spc="-18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 )-1 times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0234" y="-5514595"/>
            <a:ext cx="27831514" cy="16884741"/>
          </a:xfrm>
          <a:custGeom>
            <a:avLst/>
            <a:gdLst/>
            <a:ahLst/>
            <a:cxnLst/>
            <a:rect r="r" b="b" t="t" l="l"/>
            <a:pathLst>
              <a:path h="16884741" w="27831514">
                <a:moveTo>
                  <a:pt x="0" y="0"/>
                </a:moveTo>
                <a:lnTo>
                  <a:pt x="27831514" y="0"/>
                </a:lnTo>
                <a:lnTo>
                  <a:pt x="27831514" y="16884740"/>
                </a:lnTo>
                <a:lnTo>
                  <a:pt x="0" y="1688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8020" y="3364859"/>
            <a:ext cx="11552328" cy="5893441"/>
            <a:chOff x="0" y="0"/>
            <a:chExt cx="15403104" cy="785792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396190" y="0"/>
              <a:ext cx="14006913" cy="1165926"/>
              <a:chOff x="0" y="0"/>
              <a:chExt cx="2766798" cy="2303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766798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6798">
                    <a:moveTo>
                      <a:pt x="0" y="0"/>
                    </a:moveTo>
                    <a:lnTo>
                      <a:pt x="2766798" y="0"/>
                    </a:lnTo>
                    <a:lnTo>
                      <a:pt x="2766798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"/>
                <a:ext cx="2766798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568178" y="167038"/>
              <a:ext cx="1349832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selected 15 channels, al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ong with their average channel, are segmented into 30-second epochs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396190" y="1664202"/>
              <a:ext cx="14006913" cy="1165926"/>
              <a:chOff x="0" y="0"/>
              <a:chExt cx="2766798" cy="23030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66798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6798">
                    <a:moveTo>
                      <a:pt x="0" y="0"/>
                    </a:moveTo>
                    <a:lnTo>
                      <a:pt x="2766798" y="0"/>
                    </a:lnTo>
                    <a:lnTo>
                      <a:pt x="2766798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766798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68178" y="1831240"/>
              <a:ext cx="1349832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Each channel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within an epoch was downsampled using the designated frequency and method.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1664202"/>
              <a:ext cx="1186480" cy="1186480"/>
              <a:chOff x="0" y="0"/>
              <a:chExt cx="1071200" cy="107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011" y="1721842"/>
              <a:ext cx="1143195" cy="978629"/>
              <a:chOff x="0" y="0"/>
              <a:chExt cx="1251332" cy="107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6190" y="3333282"/>
              <a:ext cx="14006913" cy="1165926"/>
              <a:chOff x="0" y="0"/>
              <a:chExt cx="2766798" cy="2303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766798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6798">
                    <a:moveTo>
                      <a:pt x="0" y="0"/>
                    </a:moveTo>
                    <a:lnTo>
                      <a:pt x="2766798" y="0"/>
                    </a:lnTo>
                    <a:lnTo>
                      <a:pt x="2766798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2766798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568178" y="3646103"/>
              <a:ext cx="13498320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Generate images for each epoch using the GASF method.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3333282"/>
              <a:ext cx="1186480" cy="1186480"/>
              <a:chOff x="0" y="0"/>
              <a:chExt cx="1071200" cy="1071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1011" y="3390922"/>
              <a:ext cx="1143195" cy="978629"/>
              <a:chOff x="0" y="0"/>
              <a:chExt cx="1251332" cy="1071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96190" y="5002362"/>
              <a:ext cx="14006913" cy="1165926"/>
              <a:chOff x="0" y="0"/>
              <a:chExt cx="2766798" cy="23030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766798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6798">
                    <a:moveTo>
                      <a:pt x="0" y="0"/>
                    </a:moveTo>
                    <a:lnTo>
                      <a:pt x="2766798" y="0"/>
                    </a:lnTo>
                    <a:lnTo>
                      <a:pt x="2766798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2766798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568178" y="5169400"/>
              <a:ext cx="1349832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 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total of 12,000 images with 2,000 images per sleep stage were selected randomly.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5002362"/>
              <a:ext cx="1186480" cy="1186480"/>
              <a:chOff x="0" y="0"/>
              <a:chExt cx="1071200" cy="107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011" y="5060002"/>
              <a:ext cx="1143195" cy="978629"/>
              <a:chOff x="0" y="0"/>
              <a:chExt cx="1251332" cy="107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396190" y="6671442"/>
              <a:ext cx="14006913" cy="1165926"/>
              <a:chOff x="0" y="0"/>
              <a:chExt cx="2766798" cy="230306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766798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6798">
                    <a:moveTo>
                      <a:pt x="0" y="0"/>
                    </a:moveTo>
                    <a:lnTo>
                      <a:pt x="2766798" y="0"/>
                    </a:lnTo>
                    <a:lnTo>
                      <a:pt x="2766798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2766798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1568178" y="6838480"/>
              <a:ext cx="13498320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pre-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trained ViT B/16 model was then used to ensure a fair comparison across different sampling frequencies and methods.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0" y="6671442"/>
              <a:ext cx="1186480" cy="1186480"/>
              <a:chOff x="0" y="0"/>
              <a:chExt cx="1071200" cy="10712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21011" y="6729082"/>
              <a:ext cx="1143195" cy="978629"/>
              <a:chOff x="0" y="0"/>
              <a:chExt cx="1251332" cy="1071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5</a:t>
                </a:r>
              </a:p>
            </p:txBody>
          </p:sp>
        </p:grpSp>
      </p:grpSp>
      <p:sp>
        <p:nvSpPr>
          <p:cNvPr name="Freeform 49" id="49"/>
          <p:cNvSpPr/>
          <p:nvPr/>
        </p:nvSpPr>
        <p:spPr>
          <a:xfrm flipH="false" flipV="false" rot="0">
            <a:off x="3889066" y="787514"/>
            <a:ext cx="1106740" cy="1525582"/>
          </a:xfrm>
          <a:custGeom>
            <a:avLst/>
            <a:gdLst/>
            <a:ahLst/>
            <a:cxnLst/>
            <a:rect r="r" b="b" t="t" l="l"/>
            <a:pathLst>
              <a:path h="1525582" w="1106740">
                <a:moveTo>
                  <a:pt x="0" y="0"/>
                </a:moveTo>
                <a:lnTo>
                  <a:pt x="1106740" y="0"/>
                </a:lnTo>
                <a:lnTo>
                  <a:pt x="1106740" y="1525582"/>
                </a:lnTo>
                <a:lnTo>
                  <a:pt x="0" y="152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5319249" y="1028700"/>
            <a:ext cx="11940051" cy="1043210"/>
            <a:chOff x="0" y="0"/>
            <a:chExt cx="15920068" cy="1390947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3751719" y="0"/>
              <a:ext cx="12168350" cy="1390947"/>
              <a:chOff x="0" y="0"/>
              <a:chExt cx="2403625" cy="274755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403625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2403625">
                    <a:moveTo>
                      <a:pt x="0" y="0"/>
                    </a:moveTo>
                    <a:lnTo>
                      <a:pt x="2403625" y="0"/>
                    </a:lnTo>
                    <a:lnTo>
                      <a:pt x="2403625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2403625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0" y="0"/>
              <a:ext cx="4953241" cy="1390947"/>
              <a:chOff x="0" y="0"/>
              <a:chExt cx="978418" cy="27475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7841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775218" y="274755"/>
                    </a:lnTo>
                    <a:lnTo>
                      <a:pt x="978418" y="137377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9525"/>
                <a:ext cx="86411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94258" y="0"/>
              <a:ext cx="3805124" cy="1390947"/>
              <a:chOff x="0" y="0"/>
              <a:chExt cx="3805124" cy="1390947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3805124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0"/>
                <a:ext cx="380512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2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5385041" y="0"/>
              <a:ext cx="10163549" cy="1390947"/>
              <a:chOff x="0" y="0"/>
              <a:chExt cx="10163549" cy="1390947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0163549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10163549">
                    <a:moveTo>
                      <a:pt x="0" y="0"/>
                    </a:moveTo>
                    <a:lnTo>
                      <a:pt x="10163549" y="0"/>
                    </a:lnTo>
                    <a:lnTo>
                      <a:pt x="10163549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0"/>
                <a:ext cx="10163549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Best Sampling Frequency &amp; Method</a:t>
                </a:r>
              </a:p>
            </p:txBody>
          </p:sp>
        </p:grpSp>
      </p:grpSp>
      <p:grpSp>
        <p:nvGrpSpPr>
          <p:cNvPr name="Group 63" id="63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18</a:t>
                </a:r>
              </a:p>
            </p:txBody>
          </p:sp>
        </p:grpSp>
        <p:grpSp>
          <p:nvGrpSpPr>
            <p:cNvPr name="Group 70" id="70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0168" y="484523"/>
            <a:ext cx="9435971" cy="2131564"/>
            <a:chOff x="0" y="0"/>
            <a:chExt cx="12581295" cy="28420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2085" cy="2842085"/>
            </a:xfrm>
            <a:custGeom>
              <a:avLst/>
              <a:gdLst/>
              <a:ahLst/>
              <a:cxnLst/>
              <a:rect r="r" b="b" t="t" l="l"/>
              <a:pathLst>
                <a:path h="2842085" w="2842085">
                  <a:moveTo>
                    <a:pt x="0" y="0"/>
                  </a:moveTo>
                  <a:lnTo>
                    <a:pt x="2842085" y="0"/>
                  </a:lnTo>
                  <a:lnTo>
                    <a:pt x="2842085" y="2842085"/>
                  </a:lnTo>
                  <a:lnTo>
                    <a:pt x="0" y="28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6733504" y="725569"/>
              <a:ext cx="5847791" cy="1390947"/>
              <a:chOff x="0" y="0"/>
              <a:chExt cx="1155119" cy="27475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55119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1155119">
                    <a:moveTo>
                      <a:pt x="0" y="0"/>
                    </a:moveTo>
                    <a:lnTo>
                      <a:pt x="1155119" y="0"/>
                    </a:lnTo>
                    <a:lnTo>
                      <a:pt x="1155119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9525"/>
                <a:ext cx="1155119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981785" y="725569"/>
              <a:ext cx="4953241" cy="1390947"/>
              <a:chOff x="0" y="0"/>
              <a:chExt cx="978418" cy="27475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7841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775218" y="274755"/>
                    </a:lnTo>
                    <a:lnTo>
                      <a:pt x="978418" y="137377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86411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176043" y="725569"/>
              <a:ext cx="3805124" cy="1390947"/>
              <a:chOff x="0" y="0"/>
              <a:chExt cx="3805124" cy="139094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805124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380512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2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8074726" y="725569"/>
              <a:ext cx="4506568" cy="1390947"/>
              <a:chOff x="0" y="0"/>
              <a:chExt cx="4506568" cy="139094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06569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4506569">
                    <a:moveTo>
                      <a:pt x="0" y="0"/>
                    </a:moveTo>
                    <a:lnTo>
                      <a:pt x="4506569" y="0"/>
                    </a:lnTo>
                    <a:lnTo>
                      <a:pt x="4506569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0"/>
                <a:ext cx="4506568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Results</a:t>
                </a: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2975493" y="5906866"/>
            <a:ext cx="12337014" cy="3351434"/>
          </a:xfrm>
          <a:custGeom>
            <a:avLst/>
            <a:gdLst/>
            <a:ahLst/>
            <a:cxnLst/>
            <a:rect r="r" b="b" t="t" l="l"/>
            <a:pathLst>
              <a:path h="3351434" w="12337014">
                <a:moveTo>
                  <a:pt x="0" y="0"/>
                </a:moveTo>
                <a:lnTo>
                  <a:pt x="12337014" y="0"/>
                </a:lnTo>
                <a:lnTo>
                  <a:pt x="12337014" y="3351434"/>
                </a:lnTo>
                <a:lnTo>
                  <a:pt x="0" y="3351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975786" y="2419045"/>
            <a:ext cx="12337014" cy="3351434"/>
          </a:xfrm>
          <a:custGeom>
            <a:avLst/>
            <a:gdLst/>
            <a:ahLst/>
            <a:cxnLst/>
            <a:rect r="r" b="b" t="t" l="l"/>
            <a:pathLst>
              <a:path h="3351434" w="12337014">
                <a:moveTo>
                  <a:pt x="0" y="0"/>
                </a:moveTo>
                <a:lnTo>
                  <a:pt x="12337014" y="0"/>
                </a:lnTo>
                <a:lnTo>
                  <a:pt x="12337014" y="3351434"/>
                </a:lnTo>
                <a:lnTo>
                  <a:pt x="0" y="3351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19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2975786" y="9258300"/>
            <a:ext cx="12336721" cy="360385"/>
            <a:chOff x="0" y="0"/>
            <a:chExt cx="16448961" cy="4805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48962" cy="480513"/>
            </a:xfrm>
            <a:custGeom>
              <a:avLst/>
              <a:gdLst/>
              <a:ahLst/>
              <a:cxnLst/>
              <a:rect r="r" b="b" t="t" l="l"/>
              <a:pathLst>
                <a:path h="480513" w="16448962">
                  <a:moveTo>
                    <a:pt x="0" y="0"/>
                  </a:moveTo>
                  <a:lnTo>
                    <a:pt x="16448962" y="0"/>
                  </a:lnTo>
                  <a:lnTo>
                    <a:pt x="16448962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6448961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Visual representation of different sampling frequencies and methods applied on same epoch.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595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0168" y="484523"/>
            <a:ext cx="9435971" cy="2131564"/>
            <a:chOff x="0" y="0"/>
            <a:chExt cx="12581295" cy="28420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2085" cy="2842085"/>
            </a:xfrm>
            <a:custGeom>
              <a:avLst/>
              <a:gdLst/>
              <a:ahLst/>
              <a:cxnLst/>
              <a:rect r="r" b="b" t="t" l="l"/>
              <a:pathLst>
                <a:path h="2842085" w="2842085">
                  <a:moveTo>
                    <a:pt x="0" y="0"/>
                  </a:moveTo>
                  <a:lnTo>
                    <a:pt x="2842085" y="0"/>
                  </a:lnTo>
                  <a:lnTo>
                    <a:pt x="2842085" y="2842085"/>
                  </a:lnTo>
                  <a:lnTo>
                    <a:pt x="0" y="2842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6733504" y="725569"/>
              <a:ext cx="5847791" cy="1390947"/>
              <a:chOff x="0" y="0"/>
              <a:chExt cx="1155119" cy="27475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55119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1155119">
                    <a:moveTo>
                      <a:pt x="0" y="0"/>
                    </a:moveTo>
                    <a:lnTo>
                      <a:pt x="1155119" y="0"/>
                    </a:lnTo>
                    <a:lnTo>
                      <a:pt x="1155119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9525"/>
                <a:ext cx="1155119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981785" y="725569"/>
              <a:ext cx="4953241" cy="1390947"/>
              <a:chOff x="0" y="0"/>
              <a:chExt cx="978418" cy="27475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7841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775218" y="274755"/>
                    </a:lnTo>
                    <a:lnTo>
                      <a:pt x="978418" y="137377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86411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176043" y="725569"/>
              <a:ext cx="3805124" cy="1390947"/>
              <a:chOff x="0" y="0"/>
              <a:chExt cx="3805124" cy="139094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805124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0"/>
                <a:ext cx="380512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2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8074726" y="725569"/>
              <a:ext cx="4506568" cy="1390947"/>
              <a:chOff x="0" y="0"/>
              <a:chExt cx="4506568" cy="139094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506569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4506569">
                    <a:moveTo>
                      <a:pt x="0" y="0"/>
                    </a:moveTo>
                    <a:lnTo>
                      <a:pt x="4506569" y="0"/>
                    </a:lnTo>
                    <a:lnTo>
                      <a:pt x="4506569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0"/>
                <a:ext cx="4506568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Results...</a:t>
                </a:r>
              </a:p>
            </p:txBody>
          </p:sp>
        </p:grp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842222" y="2616087"/>
          <a:ext cx="9674520" cy="6228207"/>
        </p:xfrm>
        <a:graphic>
          <a:graphicData uri="http://schemas.openxmlformats.org/drawingml/2006/table">
            <a:tbl>
              <a:tblPr/>
              <a:tblGrid>
                <a:gridCol w="3184692"/>
                <a:gridCol w="2409220"/>
                <a:gridCol w="2061542"/>
                <a:gridCol w="2019066"/>
              </a:tblGrid>
              <a:tr h="10509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Resampling 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47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 Sampling Frequency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47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Accuracy 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47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475"/>
                    </a:solidFill>
                  </a:tcPr>
                </a:tc>
              </a:tr>
              <a:tr h="735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Original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512 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57.2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0.57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433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FFT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256 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58.0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0.57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433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FFT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128 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56.3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0.55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35675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FFT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64 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53.8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0.52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35675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DWT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256 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58.5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0.58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35675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DWT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128 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60.1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0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0.60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F01"/>
                    </a:solidFill>
                  </a:tcPr>
                </a:tc>
              </a:tr>
              <a:tr h="735675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DWT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64 Hz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56.4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0.56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</a:tbl>
          </a:graphicData>
        </a:graphic>
      </p:graphicFrame>
      <p:sp>
        <p:nvSpPr>
          <p:cNvPr name="Freeform 18" id="18"/>
          <p:cNvSpPr/>
          <p:nvPr/>
        </p:nvSpPr>
        <p:spPr>
          <a:xfrm flipH="false" flipV="false" rot="0">
            <a:off x="13589601" y="2855774"/>
            <a:ext cx="2222150" cy="1709346"/>
          </a:xfrm>
          <a:custGeom>
            <a:avLst/>
            <a:gdLst/>
            <a:ahLst/>
            <a:cxnLst/>
            <a:rect r="r" b="b" t="t" l="l"/>
            <a:pathLst>
              <a:path h="1709346" w="2222150">
                <a:moveTo>
                  <a:pt x="0" y="0"/>
                </a:moveTo>
                <a:lnTo>
                  <a:pt x="2222151" y="0"/>
                </a:lnTo>
                <a:lnTo>
                  <a:pt x="2222151" y="1709347"/>
                </a:lnTo>
                <a:lnTo>
                  <a:pt x="0" y="17093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835521" y="5069946"/>
            <a:ext cx="5730311" cy="1320489"/>
            <a:chOff x="0" y="0"/>
            <a:chExt cx="7640414" cy="1760652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640414" cy="1760652"/>
              <a:chOff x="0" y="0"/>
              <a:chExt cx="1509218" cy="34778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509218" cy="347783"/>
              </a:xfrm>
              <a:custGeom>
                <a:avLst/>
                <a:gdLst/>
                <a:ahLst/>
                <a:cxnLst/>
                <a:rect r="r" b="b" t="t" l="l"/>
                <a:pathLst>
                  <a:path h="347783" w="1509218">
                    <a:moveTo>
                      <a:pt x="0" y="0"/>
                    </a:moveTo>
                    <a:lnTo>
                      <a:pt x="1509218" y="0"/>
                    </a:lnTo>
                    <a:lnTo>
                      <a:pt x="1509218" y="347783"/>
                    </a:lnTo>
                    <a:lnTo>
                      <a:pt x="0" y="34778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1509218" cy="357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7640414" cy="1760652"/>
              <a:chOff x="0" y="0"/>
              <a:chExt cx="7640414" cy="176065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640414" cy="1760652"/>
              </a:xfrm>
              <a:custGeom>
                <a:avLst/>
                <a:gdLst/>
                <a:ahLst/>
                <a:cxnLst/>
                <a:rect r="r" b="b" t="t" l="l"/>
                <a:pathLst>
                  <a:path h="1760652" w="7640414">
                    <a:moveTo>
                      <a:pt x="0" y="0"/>
                    </a:moveTo>
                    <a:lnTo>
                      <a:pt x="7640414" y="0"/>
                    </a:lnTo>
                    <a:lnTo>
                      <a:pt x="7640414" y="1760652"/>
                    </a:lnTo>
                    <a:lnTo>
                      <a:pt x="0" y="17606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7640414" cy="1817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199"/>
                  </a:lnSpc>
                </a:pPr>
                <a:r>
                  <a:rPr lang="en-US" b="true" sz="2999" spc="-29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DWT is the Best Method</a:t>
                </a:r>
              </a:p>
            </p:txBody>
          </p:sp>
        </p:grpSp>
      </p:grpSp>
      <p:grpSp>
        <p:nvGrpSpPr>
          <p:cNvPr name="Group 26" id="26"/>
          <p:cNvGrpSpPr/>
          <p:nvPr/>
        </p:nvGrpSpPr>
        <p:grpSpPr>
          <a:xfrm rot="0">
            <a:off x="11835521" y="6891109"/>
            <a:ext cx="5730311" cy="1320489"/>
            <a:chOff x="0" y="0"/>
            <a:chExt cx="7640414" cy="176065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7640414" cy="1760652"/>
              <a:chOff x="0" y="0"/>
              <a:chExt cx="1509218" cy="34778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509218" cy="347783"/>
              </a:xfrm>
              <a:custGeom>
                <a:avLst/>
                <a:gdLst/>
                <a:ahLst/>
                <a:cxnLst/>
                <a:rect r="r" b="b" t="t" l="l"/>
                <a:pathLst>
                  <a:path h="347783" w="1509218">
                    <a:moveTo>
                      <a:pt x="0" y="0"/>
                    </a:moveTo>
                    <a:lnTo>
                      <a:pt x="1509218" y="0"/>
                    </a:lnTo>
                    <a:lnTo>
                      <a:pt x="1509218" y="347783"/>
                    </a:lnTo>
                    <a:lnTo>
                      <a:pt x="0" y="34778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"/>
                <a:ext cx="1509218" cy="357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0" y="0"/>
              <a:ext cx="7640414" cy="1760652"/>
              <a:chOff x="0" y="0"/>
              <a:chExt cx="7640414" cy="176065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7640414" cy="1760652"/>
              </a:xfrm>
              <a:custGeom>
                <a:avLst/>
                <a:gdLst/>
                <a:ahLst/>
                <a:cxnLst/>
                <a:rect r="r" b="b" t="t" l="l"/>
                <a:pathLst>
                  <a:path h="1760652" w="7640414">
                    <a:moveTo>
                      <a:pt x="0" y="0"/>
                    </a:moveTo>
                    <a:lnTo>
                      <a:pt x="7640414" y="0"/>
                    </a:lnTo>
                    <a:lnTo>
                      <a:pt x="7640414" y="1760652"/>
                    </a:lnTo>
                    <a:lnTo>
                      <a:pt x="0" y="17606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57150"/>
                <a:ext cx="7640414" cy="1817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199"/>
                  </a:lnSpc>
                </a:pPr>
                <a:r>
                  <a:rPr lang="en-US" b="true" sz="2999" spc="-29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128 Hz is the Best Frequency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20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0234" y="-5514595"/>
            <a:ext cx="27831514" cy="16884741"/>
          </a:xfrm>
          <a:custGeom>
            <a:avLst/>
            <a:gdLst/>
            <a:ahLst/>
            <a:cxnLst/>
            <a:rect r="r" b="b" t="t" l="l"/>
            <a:pathLst>
              <a:path h="16884741" w="27831514">
                <a:moveTo>
                  <a:pt x="0" y="0"/>
                </a:moveTo>
                <a:lnTo>
                  <a:pt x="27831514" y="0"/>
                </a:lnTo>
                <a:lnTo>
                  <a:pt x="27831514" y="16884740"/>
                </a:lnTo>
                <a:lnTo>
                  <a:pt x="0" y="1688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04213" y="4464789"/>
            <a:ext cx="11905080" cy="4641631"/>
            <a:chOff x="0" y="0"/>
            <a:chExt cx="15873440" cy="618884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396190" y="0"/>
              <a:ext cx="14477250" cy="1165926"/>
              <a:chOff x="0" y="0"/>
              <a:chExt cx="2859704" cy="2303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568178" y="167038"/>
              <a:ext cx="13968656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Generate images f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or each epoch using the GASF method with DWT downsampling to 128 Hz.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396190" y="1664202"/>
              <a:ext cx="14477250" cy="1165926"/>
              <a:chOff x="0" y="0"/>
              <a:chExt cx="2859704" cy="23030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68178" y="1831240"/>
              <a:ext cx="13968656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Use the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original dataset for the imbalanced dataset, and apply over sampling to create a balanced dataset.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1664202"/>
              <a:ext cx="1186480" cy="1186480"/>
              <a:chOff x="0" y="0"/>
              <a:chExt cx="1071200" cy="107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011" y="1721842"/>
              <a:ext cx="1143195" cy="978629"/>
              <a:chOff x="0" y="0"/>
              <a:chExt cx="1251332" cy="107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6190" y="3333282"/>
              <a:ext cx="14477250" cy="1165926"/>
              <a:chOff x="0" y="0"/>
              <a:chExt cx="2859704" cy="2303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568178" y="3547226"/>
              <a:ext cx="14109757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Train ViT model from scratch using both balanced and imbalanced datasets. Tune the model for optimal performance.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3333282"/>
              <a:ext cx="1186480" cy="1186480"/>
              <a:chOff x="0" y="0"/>
              <a:chExt cx="1071200" cy="1071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1011" y="3390922"/>
              <a:ext cx="1143195" cy="978629"/>
              <a:chOff x="0" y="0"/>
              <a:chExt cx="1251332" cy="1071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96190" y="5002362"/>
              <a:ext cx="14477250" cy="1165926"/>
              <a:chOff x="0" y="0"/>
              <a:chExt cx="2859704" cy="23030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568178" y="5169400"/>
              <a:ext cx="1380403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Compare 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performance of the from-scratch ViT model and the pre-trained ViT B/16 model.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5002362"/>
              <a:ext cx="1186480" cy="1186480"/>
              <a:chOff x="0" y="0"/>
              <a:chExt cx="1071200" cy="107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011" y="5060002"/>
              <a:ext cx="1143195" cy="978629"/>
              <a:chOff x="0" y="0"/>
              <a:chExt cx="1251332" cy="107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false" flipV="false" rot="0">
            <a:off x="3889066" y="787514"/>
            <a:ext cx="1106740" cy="1525582"/>
          </a:xfrm>
          <a:custGeom>
            <a:avLst/>
            <a:gdLst/>
            <a:ahLst/>
            <a:cxnLst/>
            <a:rect r="r" b="b" t="t" l="l"/>
            <a:pathLst>
              <a:path h="1525582" w="1106740">
                <a:moveTo>
                  <a:pt x="0" y="0"/>
                </a:moveTo>
                <a:lnTo>
                  <a:pt x="1106740" y="0"/>
                </a:lnTo>
                <a:lnTo>
                  <a:pt x="1106740" y="1525582"/>
                </a:lnTo>
                <a:lnTo>
                  <a:pt x="0" y="152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5319249" y="1028700"/>
            <a:ext cx="11940051" cy="1043210"/>
            <a:chOff x="0" y="0"/>
            <a:chExt cx="15920068" cy="1390947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3751719" y="0"/>
              <a:ext cx="12168350" cy="1390947"/>
              <a:chOff x="0" y="0"/>
              <a:chExt cx="2403625" cy="27475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403625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2403625">
                    <a:moveTo>
                      <a:pt x="0" y="0"/>
                    </a:moveTo>
                    <a:lnTo>
                      <a:pt x="2403625" y="0"/>
                    </a:lnTo>
                    <a:lnTo>
                      <a:pt x="2403625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2403625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4953241" cy="1390947"/>
              <a:chOff x="0" y="0"/>
              <a:chExt cx="978418" cy="27475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7841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775218" y="274755"/>
                    </a:lnTo>
                    <a:lnTo>
                      <a:pt x="978418" y="137377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86411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94258" y="0"/>
              <a:ext cx="3805124" cy="1390947"/>
              <a:chOff x="0" y="0"/>
              <a:chExt cx="3805124" cy="139094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805124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380512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3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5385041" y="0"/>
              <a:ext cx="10163549" cy="1390947"/>
              <a:chOff x="0" y="0"/>
              <a:chExt cx="10163549" cy="139094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163549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10163549">
                    <a:moveTo>
                      <a:pt x="0" y="0"/>
                    </a:moveTo>
                    <a:lnTo>
                      <a:pt x="10163549" y="0"/>
                    </a:lnTo>
                    <a:lnTo>
                      <a:pt x="10163549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0"/>
                <a:ext cx="10163549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Pre-Trained vs. From-Scratch ViTs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21</a:t>
                </a: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2776518" y="2848887"/>
            <a:ext cx="14482782" cy="1082501"/>
            <a:chOff x="0" y="0"/>
            <a:chExt cx="19310375" cy="1443335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3390307" cy="1443335"/>
              <a:chOff x="0" y="0"/>
              <a:chExt cx="669690" cy="285103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669690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669690">
                    <a:moveTo>
                      <a:pt x="0" y="0"/>
                    </a:moveTo>
                    <a:lnTo>
                      <a:pt x="669690" y="0"/>
                    </a:lnTo>
                    <a:lnTo>
                      <a:pt x="669690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9525"/>
                <a:ext cx="669690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Objective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3390307" y="5525"/>
              <a:ext cx="15920068" cy="1437811"/>
              <a:chOff x="0" y="0"/>
              <a:chExt cx="3144705" cy="284012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14470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3144705">
                    <a:moveTo>
                      <a:pt x="0" y="0"/>
                    </a:moveTo>
                    <a:lnTo>
                      <a:pt x="3144705" y="0"/>
                    </a:lnTo>
                    <a:lnTo>
                      <a:pt x="314470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9525"/>
                <a:ext cx="3144705" cy="274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Compare the performance of ViTs trained from scratch versus pre-trained ViT models for sleep stage classification, using both balanced and imbalanced datasets.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0168" y="484523"/>
            <a:ext cx="2131564" cy="2131564"/>
          </a:xfrm>
          <a:custGeom>
            <a:avLst/>
            <a:gdLst/>
            <a:ahLst/>
            <a:cxnLst/>
            <a:rect r="r" b="b" t="t" l="l"/>
            <a:pathLst>
              <a:path h="2131564" w="2131564">
                <a:moveTo>
                  <a:pt x="0" y="0"/>
                </a:moveTo>
                <a:lnTo>
                  <a:pt x="2131563" y="0"/>
                </a:lnTo>
                <a:lnTo>
                  <a:pt x="2131563" y="2131564"/>
                </a:lnTo>
                <a:lnTo>
                  <a:pt x="0" y="2131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80295" y="1028700"/>
            <a:ext cx="4385843" cy="1043210"/>
            <a:chOff x="0" y="0"/>
            <a:chExt cx="1155119" cy="2747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119" cy="274755"/>
            </a:xfrm>
            <a:custGeom>
              <a:avLst/>
              <a:gdLst/>
              <a:ahLst/>
              <a:cxnLst/>
              <a:rect r="r" b="b" t="t" l="l"/>
              <a:pathLst>
                <a:path h="274755" w="1155119">
                  <a:moveTo>
                    <a:pt x="0" y="0"/>
                  </a:moveTo>
                  <a:lnTo>
                    <a:pt x="1155119" y="0"/>
                  </a:lnTo>
                  <a:lnTo>
                    <a:pt x="1155119" y="274755"/>
                  </a:lnTo>
                  <a:lnTo>
                    <a:pt x="0" y="274755"/>
                  </a:lnTo>
                  <a:close/>
                </a:path>
              </a:pathLst>
            </a:custGeom>
            <a:solidFill>
              <a:srgbClr val="19647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55119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66506" y="1028700"/>
            <a:ext cx="3714931" cy="1043210"/>
            <a:chOff x="0" y="0"/>
            <a:chExt cx="978418" cy="2747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8418" cy="274755"/>
            </a:xfrm>
            <a:custGeom>
              <a:avLst/>
              <a:gdLst/>
              <a:ahLst/>
              <a:cxnLst/>
              <a:rect r="r" b="b" t="t" l="l"/>
              <a:pathLst>
                <a:path h="274755" w="978418">
                  <a:moveTo>
                    <a:pt x="775218" y="0"/>
                  </a:moveTo>
                  <a:lnTo>
                    <a:pt x="0" y="0"/>
                  </a:lnTo>
                  <a:lnTo>
                    <a:pt x="0" y="274755"/>
                  </a:lnTo>
                  <a:lnTo>
                    <a:pt x="775218" y="274755"/>
                  </a:lnTo>
                  <a:lnTo>
                    <a:pt x="978418" y="137377"/>
                  </a:lnTo>
                  <a:lnTo>
                    <a:pt x="775218" y="0"/>
                  </a:lnTo>
                  <a:close/>
                </a:path>
              </a:pathLst>
            </a:custGeom>
            <a:solidFill>
              <a:srgbClr val="8ED5D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4118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12200" y="1028700"/>
            <a:ext cx="2853843" cy="1043210"/>
            <a:chOff x="0" y="0"/>
            <a:chExt cx="3805124" cy="13909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124" cy="1390946"/>
            </a:xfrm>
            <a:custGeom>
              <a:avLst/>
              <a:gdLst/>
              <a:ahLst/>
              <a:cxnLst/>
              <a:rect r="r" b="b" t="t" l="l"/>
              <a:pathLst>
                <a:path h="1390946" w="3805124">
                  <a:moveTo>
                    <a:pt x="0" y="0"/>
                  </a:moveTo>
                  <a:lnTo>
                    <a:pt x="3805124" y="0"/>
                  </a:lnTo>
                  <a:lnTo>
                    <a:pt x="3805124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805124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96475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Experiment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86212" y="1028700"/>
            <a:ext cx="3379926" cy="1043210"/>
            <a:chOff x="0" y="0"/>
            <a:chExt cx="4506568" cy="1390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6569" cy="1390946"/>
            </a:xfrm>
            <a:custGeom>
              <a:avLst/>
              <a:gdLst/>
              <a:ahLst/>
              <a:cxnLst/>
              <a:rect r="r" b="b" t="t" l="l"/>
              <a:pathLst>
                <a:path h="1390946" w="4506569">
                  <a:moveTo>
                    <a:pt x="0" y="0"/>
                  </a:moveTo>
                  <a:lnTo>
                    <a:pt x="4506569" y="0"/>
                  </a:lnTo>
                  <a:lnTo>
                    <a:pt x="4506569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506568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Results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0168" y="2996387"/>
            <a:ext cx="6001844" cy="5775786"/>
          </a:xfrm>
          <a:custGeom>
            <a:avLst/>
            <a:gdLst/>
            <a:ahLst/>
            <a:cxnLst/>
            <a:rect r="r" b="b" t="t" l="l"/>
            <a:pathLst>
              <a:path h="5775786" w="6001844">
                <a:moveTo>
                  <a:pt x="0" y="0"/>
                </a:moveTo>
                <a:lnTo>
                  <a:pt x="6001844" y="0"/>
                </a:lnTo>
                <a:lnTo>
                  <a:pt x="6001844" y="5775786"/>
                </a:lnTo>
                <a:lnTo>
                  <a:pt x="0" y="5775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516268" y="2996387"/>
            <a:ext cx="9496105" cy="1043210"/>
            <a:chOff x="0" y="0"/>
            <a:chExt cx="12661474" cy="13909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61474" cy="1390947"/>
            </a:xfrm>
            <a:custGeom>
              <a:avLst/>
              <a:gdLst/>
              <a:ahLst/>
              <a:cxnLst/>
              <a:rect r="r" b="b" t="t" l="l"/>
              <a:pathLst>
                <a:path h="1390947" w="12661474">
                  <a:moveTo>
                    <a:pt x="0" y="0"/>
                  </a:moveTo>
                  <a:lnTo>
                    <a:pt x="12661474" y="0"/>
                  </a:lnTo>
                  <a:lnTo>
                    <a:pt x="12661474" y="1390947"/>
                  </a:lnTo>
                  <a:lnTo>
                    <a:pt x="0" y="13909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661474" cy="14290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80"/>
                </a:lnSpc>
              </a:pPr>
              <a:r>
                <a:rPr lang="en-US" sz="2200" spc="-22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According to accuracy, the pre-trained model outperforms the train-from-scratch model in both imbalanced and balanced datasets.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47654" y="4416352"/>
            <a:ext cx="7952461" cy="1709346"/>
            <a:chOff x="0" y="0"/>
            <a:chExt cx="10603281" cy="227912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1509218" cy="34778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09218" cy="347783"/>
              </a:xfrm>
              <a:custGeom>
                <a:avLst/>
                <a:gdLst/>
                <a:ahLst/>
                <a:cxnLst/>
                <a:rect r="r" b="b" t="t" l="l"/>
                <a:pathLst>
                  <a:path h="347783" w="1509218">
                    <a:moveTo>
                      <a:pt x="0" y="0"/>
                    </a:moveTo>
                    <a:lnTo>
                      <a:pt x="1509218" y="0"/>
                    </a:lnTo>
                    <a:lnTo>
                      <a:pt x="1509218" y="347783"/>
                    </a:lnTo>
                    <a:lnTo>
                      <a:pt x="0" y="34778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509218" cy="357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7640414" y="0"/>
              <a:ext cx="2962867" cy="2279129"/>
            </a:xfrm>
            <a:custGeom>
              <a:avLst/>
              <a:gdLst/>
              <a:ahLst/>
              <a:cxnLst/>
              <a:rect r="r" b="b" t="t" l="l"/>
              <a:pathLst>
                <a:path h="2279129" w="2962867">
                  <a:moveTo>
                    <a:pt x="0" y="0"/>
                  </a:moveTo>
                  <a:lnTo>
                    <a:pt x="2962867" y="0"/>
                  </a:lnTo>
                  <a:lnTo>
                    <a:pt x="2962867" y="2279129"/>
                  </a:lnTo>
                  <a:lnTo>
                    <a:pt x="0" y="2279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5" id="25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7640414" cy="176065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640414" cy="1760652"/>
              </a:xfrm>
              <a:custGeom>
                <a:avLst/>
                <a:gdLst/>
                <a:ahLst/>
                <a:cxnLst/>
                <a:rect r="r" b="b" t="t" l="l"/>
                <a:pathLst>
                  <a:path h="1760652" w="7640414">
                    <a:moveTo>
                      <a:pt x="0" y="0"/>
                    </a:moveTo>
                    <a:lnTo>
                      <a:pt x="7640414" y="0"/>
                    </a:lnTo>
                    <a:lnTo>
                      <a:pt x="7640414" y="1760652"/>
                    </a:lnTo>
                    <a:lnTo>
                      <a:pt x="0" y="17606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7640414" cy="1817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199"/>
                  </a:lnSpc>
                </a:pPr>
                <a:r>
                  <a:rPr lang="en-US" b="true" sz="2999" spc="-29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Pre-Trained models are Best</a:t>
                </a:r>
              </a:p>
            </p:txBody>
          </p:sp>
        </p:grpSp>
      </p:grpSp>
      <p:sp>
        <p:nvSpPr>
          <p:cNvPr name="Freeform 28" id="28"/>
          <p:cNvSpPr/>
          <p:nvPr/>
        </p:nvSpPr>
        <p:spPr>
          <a:xfrm flipH="false" flipV="false" rot="0">
            <a:off x="8147654" y="6319858"/>
            <a:ext cx="5799251" cy="3347904"/>
          </a:xfrm>
          <a:custGeom>
            <a:avLst/>
            <a:gdLst/>
            <a:ahLst/>
            <a:cxnLst/>
            <a:rect r="r" b="b" t="t" l="l"/>
            <a:pathLst>
              <a:path h="3347904" w="5799251">
                <a:moveTo>
                  <a:pt x="0" y="0"/>
                </a:moveTo>
                <a:lnTo>
                  <a:pt x="5799251" y="0"/>
                </a:lnTo>
                <a:lnTo>
                  <a:pt x="5799251" y="3347905"/>
                </a:lnTo>
                <a:lnTo>
                  <a:pt x="0" y="33479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22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8147654" y="9667763"/>
            <a:ext cx="5799251" cy="360385"/>
            <a:chOff x="0" y="0"/>
            <a:chExt cx="7732335" cy="48051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732335" cy="480513"/>
            </a:xfrm>
            <a:custGeom>
              <a:avLst/>
              <a:gdLst/>
              <a:ahLst/>
              <a:cxnLst/>
              <a:rect r="r" b="b" t="t" l="l"/>
              <a:pathLst>
                <a:path h="480513" w="7732335">
                  <a:moveTo>
                    <a:pt x="0" y="0"/>
                  </a:moveTo>
                  <a:lnTo>
                    <a:pt x="7732335" y="0"/>
                  </a:lnTo>
                  <a:lnTo>
                    <a:pt x="7732335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732335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Model architecture of train from scratch model after tuning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30168" y="8897915"/>
            <a:ext cx="5951270" cy="592716"/>
            <a:chOff x="0" y="0"/>
            <a:chExt cx="7935026" cy="790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35026" cy="790288"/>
            </a:xfrm>
            <a:custGeom>
              <a:avLst/>
              <a:gdLst/>
              <a:ahLst/>
              <a:cxnLst/>
              <a:rect r="r" b="b" t="t" l="l"/>
              <a:pathLst>
                <a:path h="790288" w="7935026">
                  <a:moveTo>
                    <a:pt x="0" y="0"/>
                  </a:moveTo>
                  <a:lnTo>
                    <a:pt x="7935026" y="0"/>
                  </a:lnTo>
                  <a:lnTo>
                    <a:pt x="7935026" y="790288"/>
                  </a:lnTo>
                  <a:lnTo>
                    <a:pt x="0" y="790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935026" cy="82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 Accuracy for Fine-Tuned and Model from Scratch on Balanced and Unbalanced Data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0234" y="-5514595"/>
            <a:ext cx="27831514" cy="16884741"/>
          </a:xfrm>
          <a:custGeom>
            <a:avLst/>
            <a:gdLst/>
            <a:ahLst/>
            <a:cxnLst/>
            <a:rect r="r" b="b" t="t" l="l"/>
            <a:pathLst>
              <a:path h="16884741" w="27831514">
                <a:moveTo>
                  <a:pt x="0" y="0"/>
                </a:moveTo>
                <a:lnTo>
                  <a:pt x="27831514" y="0"/>
                </a:lnTo>
                <a:lnTo>
                  <a:pt x="27831514" y="16884740"/>
                </a:lnTo>
                <a:lnTo>
                  <a:pt x="0" y="1688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2585" y="4467180"/>
            <a:ext cx="11905080" cy="4641631"/>
            <a:chOff x="0" y="0"/>
            <a:chExt cx="15873440" cy="618884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396190" y="0"/>
              <a:ext cx="14477250" cy="1165926"/>
              <a:chOff x="0" y="0"/>
              <a:chExt cx="2859704" cy="2303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568178" y="167038"/>
              <a:ext cx="13968656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Generate images f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or each epoch using the GASF method with DWT downsampling to 128 Hz.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396190" y="1664202"/>
              <a:ext cx="14477250" cy="1165926"/>
              <a:chOff x="0" y="0"/>
              <a:chExt cx="2859704" cy="23030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68178" y="2034440"/>
              <a:ext cx="13968656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pply up-sampling to create a balanced dataset.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1664202"/>
              <a:ext cx="1186480" cy="1186480"/>
              <a:chOff x="0" y="0"/>
              <a:chExt cx="1071200" cy="107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011" y="1721842"/>
              <a:ext cx="1143195" cy="978629"/>
              <a:chOff x="0" y="0"/>
              <a:chExt cx="1251332" cy="107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6190" y="3333282"/>
              <a:ext cx="14477250" cy="1165926"/>
              <a:chOff x="0" y="0"/>
              <a:chExt cx="2859704" cy="2303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579937" y="3713797"/>
              <a:ext cx="1410975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Fine-tune the selected pre-trained ViT models using the balanced dataset.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3333282"/>
              <a:ext cx="1186480" cy="1186480"/>
              <a:chOff x="0" y="0"/>
              <a:chExt cx="1071200" cy="1071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1011" y="3390922"/>
              <a:ext cx="1143195" cy="978629"/>
              <a:chOff x="0" y="0"/>
              <a:chExt cx="1251332" cy="1071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96190" y="5002362"/>
              <a:ext cx="14477250" cy="1165926"/>
              <a:chOff x="0" y="0"/>
              <a:chExt cx="2859704" cy="23030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568178" y="5336592"/>
              <a:ext cx="13804038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Compare 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performance of the fine-tuned pre-trained ViT models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5002362"/>
              <a:ext cx="1186480" cy="1186480"/>
              <a:chOff x="0" y="0"/>
              <a:chExt cx="1071200" cy="107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011" y="5060002"/>
              <a:ext cx="1143195" cy="978629"/>
              <a:chOff x="0" y="0"/>
              <a:chExt cx="1251332" cy="107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false" flipV="false" rot="0">
            <a:off x="3889066" y="787514"/>
            <a:ext cx="1106740" cy="1525582"/>
          </a:xfrm>
          <a:custGeom>
            <a:avLst/>
            <a:gdLst/>
            <a:ahLst/>
            <a:cxnLst/>
            <a:rect r="r" b="b" t="t" l="l"/>
            <a:pathLst>
              <a:path h="1525582" w="1106740">
                <a:moveTo>
                  <a:pt x="0" y="0"/>
                </a:moveTo>
                <a:lnTo>
                  <a:pt x="1106740" y="0"/>
                </a:lnTo>
                <a:lnTo>
                  <a:pt x="1106740" y="1525582"/>
                </a:lnTo>
                <a:lnTo>
                  <a:pt x="0" y="152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5319249" y="1028700"/>
            <a:ext cx="11940051" cy="1043210"/>
            <a:chOff x="0" y="0"/>
            <a:chExt cx="15920068" cy="1390947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3751719" y="0"/>
              <a:ext cx="12168350" cy="1390947"/>
              <a:chOff x="0" y="0"/>
              <a:chExt cx="2403625" cy="27475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403625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2403625">
                    <a:moveTo>
                      <a:pt x="0" y="0"/>
                    </a:moveTo>
                    <a:lnTo>
                      <a:pt x="2403625" y="0"/>
                    </a:lnTo>
                    <a:lnTo>
                      <a:pt x="2403625" y="274755"/>
                    </a:lnTo>
                    <a:lnTo>
                      <a:pt x="0" y="274755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2403625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4953241" cy="1390947"/>
              <a:chOff x="0" y="0"/>
              <a:chExt cx="978418" cy="27475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78418" cy="274755"/>
              </a:xfrm>
              <a:custGeom>
                <a:avLst/>
                <a:gdLst/>
                <a:ahLst/>
                <a:cxnLst/>
                <a:rect r="r" b="b" t="t" l="l"/>
                <a:pathLst>
                  <a:path h="274755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274755"/>
                    </a:lnTo>
                    <a:lnTo>
                      <a:pt x="775218" y="274755"/>
                    </a:lnTo>
                    <a:lnTo>
                      <a:pt x="978418" y="137377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864118" cy="2842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94258" y="0"/>
              <a:ext cx="3805124" cy="1390947"/>
              <a:chOff x="0" y="0"/>
              <a:chExt cx="3805124" cy="139094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805124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3805124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4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5385041" y="0"/>
              <a:ext cx="10163549" cy="1390947"/>
              <a:chOff x="0" y="0"/>
              <a:chExt cx="10163549" cy="1390947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163549" cy="1390946"/>
              </a:xfrm>
              <a:custGeom>
                <a:avLst/>
                <a:gdLst/>
                <a:ahLst/>
                <a:cxnLst/>
                <a:rect r="r" b="b" t="t" l="l"/>
                <a:pathLst>
                  <a:path h="1390946" w="10163549">
                    <a:moveTo>
                      <a:pt x="0" y="0"/>
                    </a:moveTo>
                    <a:lnTo>
                      <a:pt x="10163549" y="0"/>
                    </a:lnTo>
                    <a:lnTo>
                      <a:pt x="10163549" y="1390946"/>
                    </a:lnTo>
                    <a:lnTo>
                      <a:pt x="0" y="13909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0"/>
                <a:ext cx="10163549" cy="139094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Best Pre - Trained ViTs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23</a:t>
                </a:r>
              </a:p>
            </p:txBody>
          </p:sp>
        </p:grpSp>
        <p:grpSp>
          <p:nvGrpSpPr>
            <p:cNvPr name="Group 61" id="61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2776518" y="2848887"/>
            <a:ext cx="14482782" cy="1082501"/>
            <a:chOff x="0" y="0"/>
            <a:chExt cx="19310375" cy="1443335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3390307" cy="1443335"/>
              <a:chOff x="0" y="0"/>
              <a:chExt cx="669690" cy="285103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669690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669690">
                    <a:moveTo>
                      <a:pt x="0" y="0"/>
                    </a:moveTo>
                    <a:lnTo>
                      <a:pt x="669690" y="0"/>
                    </a:lnTo>
                    <a:lnTo>
                      <a:pt x="669690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9525"/>
                <a:ext cx="669690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Objective</a:t>
                </a: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3390307" y="5525"/>
              <a:ext cx="15920068" cy="1437811"/>
              <a:chOff x="0" y="0"/>
              <a:chExt cx="3144705" cy="284012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14470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3144705">
                    <a:moveTo>
                      <a:pt x="0" y="0"/>
                    </a:moveTo>
                    <a:lnTo>
                      <a:pt x="3144705" y="0"/>
                    </a:lnTo>
                    <a:lnTo>
                      <a:pt x="314470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9525"/>
                <a:ext cx="3144705" cy="274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Compare the performance of different pre-trained ViT models to identify the one that provides the best classification accuracy while maintaining optimal computational efficiency.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0168" y="484523"/>
            <a:ext cx="2131564" cy="2131564"/>
          </a:xfrm>
          <a:custGeom>
            <a:avLst/>
            <a:gdLst/>
            <a:ahLst/>
            <a:cxnLst/>
            <a:rect r="r" b="b" t="t" l="l"/>
            <a:pathLst>
              <a:path h="2131564" w="2131564">
                <a:moveTo>
                  <a:pt x="0" y="0"/>
                </a:moveTo>
                <a:lnTo>
                  <a:pt x="2131563" y="0"/>
                </a:lnTo>
                <a:lnTo>
                  <a:pt x="2131563" y="2131564"/>
                </a:lnTo>
                <a:lnTo>
                  <a:pt x="0" y="2131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80295" y="1028700"/>
            <a:ext cx="4385843" cy="1043210"/>
            <a:chOff x="0" y="0"/>
            <a:chExt cx="1155119" cy="2747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119" cy="274755"/>
            </a:xfrm>
            <a:custGeom>
              <a:avLst/>
              <a:gdLst/>
              <a:ahLst/>
              <a:cxnLst/>
              <a:rect r="r" b="b" t="t" l="l"/>
              <a:pathLst>
                <a:path h="274755" w="1155119">
                  <a:moveTo>
                    <a:pt x="0" y="0"/>
                  </a:moveTo>
                  <a:lnTo>
                    <a:pt x="1155119" y="0"/>
                  </a:lnTo>
                  <a:lnTo>
                    <a:pt x="1155119" y="274755"/>
                  </a:lnTo>
                  <a:lnTo>
                    <a:pt x="0" y="274755"/>
                  </a:lnTo>
                  <a:close/>
                </a:path>
              </a:pathLst>
            </a:custGeom>
            <a:solidFill>
              <a:srgbClr val="19647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55119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66506" y="1028700"/>
            <a:ext cx="3714931" cy="1043210"/>
            <a:chOff x="0" y="0"/>
            <a:chExt cx="978418" cy="2747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8418" cy="274755"/>
            </a:xfrm>
            <a:custGeom>
              <a:avLst/>
              <a:gdLst/>
              <a:ahLst/>
              <a:cxnLst/>
              <a:rect r="r" b="b" t="t" l="l"/>
              <a:pathLst>
                <a:path h="274755" w="978418">
                  <a:moveTo>
                    <a:pt x="775218" y="0"/>
                  </a:moveTo>
                  <a:lnTo>
                    <a:pt x="0" y="0"/>
                  </a:lnTo>
                  <a:lnTo>
                    <a:pt x="0" y="274755"/>
                  </a:lnTo>
                  <a:lnTo>
                    <a:pt x="775218" y="274755"/>
                  </a:lnTo>
                  <a:lnTo>
                    <a:pt x="978418" y="137377"/>
                  </a:lnTo>
                  <a:lnTo>
                    <a:pt x="775218" y="0"/>
                  </a:lnTo>
                  <a:close/>
                </a:path>
              </a:pathLst>
            </a:custGeom>
            <a:solidFill>
              <a:srgbClr val="8ED5D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4118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12200" y="1028700"/>
            <a:ext cx="2853843" cy="1043210"/>
            <a:chOff x="0" y="0"/>
            <a:chExt cx="3805124" cy="13909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124" cy="1390946"/>
            </a:xfrm>
            <a:custGeom>
              <a:avLst/>
              <a:gdLst/>
              <a:ahLst/>
              <a:cxnLst/>
              <a:rect r="r" b="b" t="t" l="l"/>
              <a:pathLst>
                <a:path h="1390946" w="3805124">
                  <a:moveTo>
                    <a:pt x="0" y="0"/>
                  </a:moveTo>
                  <a:lnTo>
                    <a:pt x="3805124" y="0"/>
                  </a:lnTo>
                  <a:lnTo>
                    <a:pt x="3805124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805124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96475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Experiment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86212" y="1028700"/>
            <a:ext cx="3379926" cy="1043210"/>
            <a:chOff x="0" y="0"/>
            <a:chExt cx="4506568" cy="1390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6569" cy="1390946"/>
            </a:xfrm>
            <a:custGeom>
              <a:avLst/>
              <a:gdLst/>
              <a:ahLst/>
              <a:cxnLst/>
              <a:rect r="r" b="b" t="t" l="l"/>
              <a:pathLst>
                <a:path h="1390946" w="4506569">
                  <a:moveTo>
                    <a:pt x="0" y="0"/>
                  </a:moveTo>
                  <a:lnTo>
                    <a:pt x="4506569" y="0"/>
                  </a:lnTo>
                  <a:lnTo>
                    <a:pt x="4506569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506568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Results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7883" y="7729146"/>
            <a:ext cx="7952461" cy="1709346"/>
            <a:chOff x="0" y="0"/>
            <a:chExt cx="10603281" cy="227912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1509218" cy="34778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509218" cy="347783"/>
              </a:xfrm>
              <a:custGeom>
                <a:avLst/>
                <a:gdLst/>
                <a:ahLst/>
                <a:cxnLst/>
                <a:rect r="r" b="b" t="t" l="l"/>
                <a:pathLst>
                  <a:path h="347783" w="1509218">
                    <a:moveTo>
                      <a:pt x="0" y="0"/>
                    </a:moveTo>
                    <a:lnTo>
                      <a:pt x="1509218" y="0"/>
                    </a:lnTo>
                    <a:lnTo>
                      <a:pt x="1509218" y="347783"/>
                    </a:lnTo>
                    <a:lnTo>
                      <a:pt x="0" y="34778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9525"/>
                <a:ext cx="1509218" cy="357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7640414" y="0"/>
              <a:ext cx="2962867" cy="2279129"/>
            </a:xfrm>
            <a:custGeom>
              <a:avLst/>
              <a:gdLst/>
              <a:ahLst/>
              <a:cxnLst/>
              <a:rect r="r" b="b" t="t" l="l"/>
              <a:pathLst>
                <a:path h="2279129" w="2962867">
                  <a:moveTo>
                    <a:pt x="0" y="0"/>
                  </a:moveTo>
                  <a:lnTo>
                    <a:pt x="2962867" y="0"/>
                  </a:lnTo>
                  <a:lnTo>
                    <a:pt x="2962867" y="2279129"/>
                  </a:lnTo>
                  <a:lnTo>
                    <a:pt x="0" y="2279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7640414" cy="176065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640414" cy="1760652"/>
              </a:xfrm>
              <a:custGeom>
                <a:avLst/>
                <a:gdLst/>
                <a:ahLst/>
                <a:cxnLst/>
                <a:rect r="r" b="b" t="t" l="l"/>
                <a:pathLst>
                  <a:path h="1760652" w="7640414">
                    <a:moveTo>
                      <a:pt x="0" y="0"/>
                    </a:moveTo>
                    <a:lnTo>
                      <a:pt x="7640414" y="0"/>
                    </a:lnTo>
                    <a:lnTo>
                      <a:pt x="7640414" y="1760652"/>
                    </a:lnTo>
                    <a:lnTo>
                      <a:pt x="0" y="17606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7640414" cy="1817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199"/>
                  </a:lnSpc>
                </a:pPr>
                <a:r>
                  <a:rPr lang="en-US" b="true" sz="2999" spc="-29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ViT-B/16 is the Best Model</a:t>
                </a:r>
              </a:p>
            </p:txBody>
          </p:sp>
        </p:grpSp>
      </p:grpSp>
      <p:sp>
        <p:nvSpPr>
          <p:cNvPr name="Freeform 24" id="24"/>
          <p:cNvSpPr/>
          <p:nvPr/>
        </p:nvSpPr>
        <p:spPr>
          <a:xfrm flipH="false" flipV="false" rot="0">
            <a:off x="1028700" y="2839026"/>
            <a:ext cx="5951270" cy="6220254"/>
          </a:xfrm>
          <a:custGeom>
            <a:avLst/>
            <a:gdLst/>
            <a:ahLst/>
            <a:cxnLst/>
            <a:rect r="r" b="b" t="t" l="l"/>
            <a:pathLst>
              <a:path h="6220254" w="5951270">
                <a:moveTo>
                  <a:pt x="0" y="0"/>
                </a:moveTo>
                <a:lnTo>
                  <a:pt x="5951270" y="0"/>
                </a:lnTo>
                <a:lnTo>
                  <a:pt x="5951270" y="6220254"/>
                </a:lnTo>
                <a:lnTo>
                  <a:pt x="0" y="6220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119343" y="3031696"/>
            <a:ext cx="8589542" cy="3803762"/>
          </a:xfrm>
          <a:custGeom>
            <a:avLst/>
            <a:gdLst/>
            <a:ahLst/>
            <a:cxnLst/>
            <a:rect r="r" b="b" t="t" l="l"/>
            <a:pathLst>
              <a:path h="3803762" w="8589542">
                <a:moveTo>
                  <a:pt x="0" y="0"/>
                </a:moveTo>
                <a:lnTo>
                  <a:pt x="8589542" y="0"/>
                </a:lnTo>
                <a:lnTo>
                  <a:pt x="8589542" y="3803762"/>
                </a:lnTo>
                <a:lnTo>
                  <a:pt x="0" y="38037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24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39" id="39"/>
          <p:cNvGrpSpPr/>
          <p:nvPr/>
        </p:nvGrpSpPr>
        <p:grpSpPr>
          <a:xfrm rot="0">
            <a:off x="1030168" y="9258300"/>
            <a:ext cx="5951270" cy="360385"/>
            <a:chOff x="0" y="0"/>
            <a:chExt cx="7935026" cy="48051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935026" cy="480513"/>
            </a:xfrm>
            <a:custGeom>
              <a:avLst/>
              <a:gdLst/>
              <a:ahLst/>
              <a:cxnLst/>
              <a:rect r="r" b="b" t="t" l="l"/>
              <a:pathLst>
                <a:path h="480513" w="7935026">
                  <a:moveTo>
                    <a:pt x="0" y="0"/>
                  </a:moveTo>
                  <a:lnTo>
                    <a:pt x="7935026" y="0"/>
                  </a:lnTo>
                  <a:lnTo>
                    <a:pt x="7935026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935026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Classification Accuracy of Pre-Trained Models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19343" y="6908112"/>
            <a:ext cx="8589542" cy="360385"/>
            <a:chOff x="0" y="0"/>
            <a:chExt cx="11452722" cy="48051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452722" cy="480513"/>
            </a:xfrm>
            <a:custGeom>
              <a:avLst/>
              <a:gdLst/>
              <a:ahLst/>
              <a:cxnLst/>
              <a:rect r="r" b="b" t="t" l="l"/>
              <a:pathLst>
                <a:path h="480513" w="11452722">
                  <a:moveTo>
                    <a:pt x="0" y="0"/>
                  </a:moveTo>
                  <a:lnTo>
                    <a:pt x="11452722" y="0"/>
                  </a:lnTo>
                  <a:lnTo>
                    <a:pt x="11452722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1452722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Model architectures of Pre-trained models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0234" y="-5514595"/>
            <a:ext cx="27831514" cy="16884741"/>
          </a:xfrm>
          <a:custGeom>
            <a:avLst/>
            <a:gdLst/>
            <a:ahLst/>
            <a:cxnLst/>
            <a:rect r="r" b="b" t="t" l="l"/>
            <a:pathLst>
              <a:path h="16884741" w="27831514">
                <a:moveTo>
                  <a:pt x="0" y="0"/>
                </a:moveTo>
                <a:lnTo>
                  <a:pt x="27831514" y="0"/>
                </a:lnTo>
                <a:lnTo>
                  <a:pt x="27831514" y="16884740"/>
                </a:lnTo>
                <a:lnTo>
                  <a:pt x="0" y="1688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04213" y="4616669"/>
            <a:ext cx="11905080" cy="4641631"/>
            <a:chOff x="0" y="0"/>
            <a:chExt cx="15873440" cy="618884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396190" y="0"/>
              <a:ext cx="14477250" cy="1165926"/>
              <a:chOff x="0" y="0"/>
              <a:chExt cx="2859704" cy="2303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568178" y="167038"/>
              <a:ext cx="13968656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Generate images f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or each epoch using the GASF method with DWT downsampling to 128 Hz.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396190" y="1664202"/>
              <a:ext cx="14477250" cy="1165926"/>
              <a:chOff x="0" y="0"/>
              <a:chExt cx="2859704" cy="23030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68178" y="2034440"/>
              <a:ext cx="13968656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Split images into 70% for training and 30% for validation.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1664202"/>
              <a:ext cx="1186480" cy="1186480"/>
              <a:chOff x="0" y="0"/>
              <a:chExt cx="1071200" cy="107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011" y="1721842"/>
              <a:ext cx="1143195" cy="978629"/>
              <a:chOff x="0" y="0"/>
              <a:chExt cx="1251332" cy="107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6190" y="3333282"/>
              <a:ext cx="14477250" cy="1165926"/>
              <a:chOff x="0" y="0"/>
              <a:chExt cx="2859704" cy="2303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579937" y="3713797"/>
              <a:ext cx="1410975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Train and optimize a DCGAN model for synthetic image generation.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3333282"/>
              <a:ext cx="1186480" cy="1186480"/>
              <a:chOff x="0" y="0"/>
              <a:chExt cx="1071200" cy="1071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1011" y="3390922"/>
              <a:ext cx="1143195" cy="978629"/>
              <a:chOff x="0" y="0"/>
              <a:chExt cx="1251332" cy="1071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96190" y="5002362"/>
              <a:ext cx="14477250" cy="1165926"/>
              <a:chOff x="0" y="0"/>
              <a:chExt cx="2859704" cy="23030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568178" y="5336592"/>
              <a:ext cx="13804038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Evaluate 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quality of the generated images.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5002362"/>
              <a:ext cx="1186480" cy="1186480"/>
              <a:chOff x="0" y="0"/>
              <a:chExt cx="1071200" cy="107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011" y="5060002"/>
              <a:ext cx="1143195" cy="978629"/>
              <a:chOff x="0" y="0"/>
              <a:chExt cx="1251332" cy="107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false" flipV="false" rot="0">
            <a:off x="3889066" y="787514"/>
            <a:ext cx="1106740" cy="1525582"/>
          </a:xfrm>
          <a:custGeom>
            <a:avLst/>
            <a:gdLst/>
            <a:ahLst/>
            <a:cxnLst/>
            <a:rect r="r" b="b" t="t" l="l"/>
            <a:pathLst>
              <a:path h="1525582" w="1106740">
                <a:moveTo>
                  <a:pt x="0" y="0"/>
                </a:moveTo>
                <a:lnTo>
                  <a:pt x="1106740" y="0"/>
                </a:lnTo>
                <a:lnTo>
                  <a:pt x="1106740" y="1525582"/>
                </a:lnTo>
                <a:lnTo>
                  <a:pt x="0" y="152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5319249" y="1028700"/>
            <a:ext cx="11940051" cy="1284396"/>
            <a:chOff x="0" y="0"/>
            <a:chExt cx="15920068" cy="1712528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3751719" y="0"/>
              <a:ext cx="12168350" cy="1712528"/>
              <a:chOff x="0" y="0"/>
              <a:chExt cx="2403625" cy="33827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403625" cy="338277"/>
              </a:xfrm>
              <a:custGeom>
                <a:avLst/>
                <a:gdLst/>
                <a:ahLst/>
                <a:cxnLst/>
                <a:rect r="r" b="b" t="t" l="l"/>
                <a:pathLst>
                  <a:path h="338277" w="2403625">
                    <a:moveTo>
                      <a:pt x="0" y="0"/>
                    </a:moveTo>
                    <a:lnTo>
                      <a:pt x="2403625" y="0"/>
                    </a:lnTo>
                    <a:lnTo>
                      <a:pt x="2403625" y="338277"/>
                    </a:lnTo>
                    <a:lnTo>
                      <a:pt x="0" y="338277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2403625" cy="347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4953241" cy="1712528"/>
              <a:chOff x="0" y="0"/>
              <a:chExt cx="978418" cy="33827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78418" cy="338277"/>
              </a:xfrm>
              <a:custGeom>
                <a:avLst/>
                <a:gdLst/>
                <a:ahLst/>
                <a:cxnLst/>
                <a:rect r="r" b="b" t="t" l="l"/>
                <a:pathLst>
                  <a:path h="338277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338277"/>
                    </a:lnTo>
                    <a:lnTo>
                      <a:pt x="775218" y="338277"/>
                    </a:lnTo>
                    <a:lnTo>
                      <a:pt x="978418" y="169139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864118" cy="347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94258" y="0"/>
              <a:ext cx="3805124" cy="1590446"/>
              <a:chOff x="0" y="0"/>
              <a:chExt cx="3805124" cy="159044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805124" cy="1590446"/>
              </a:xfrm>
              <a:custGeom>
                <a:avLst/>
                <a:gdLst/>
                <a:ahLst/>
                <a:cxnLst/>
                <a:rect r="r" b="b" t="t" l="l"/>
                <a:pathLst>
                  <a:path h="15904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590446"/>
                    </a:lnTo>
                    <a:lnTo>
                      <a:pt x="0" y="15904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3805124" cy="15904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5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5385041" y="0"/>
              <a:ext cx="10163549" cy="1590446"/>
              <a:chOff x="0" y="0"/>
              <a:chExt cx="10163549" cy="159044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163549" cy="1590446"/>
              </a:xfrm>
              <a:custGeom>
                <a:avLst/>
                <a:gdLst/>
                <a:ahLst/>
                <a:cxnLst/>
                <a:rect r="r" b="b" t="t" l="l"/>
                <a:pathLst>
                  <a:path h="1590446" w="10163549">
                    <a:moveTo>
                      <a:pt x="0" y="0"/>
                    </a:moveTo>
                    <a:lnTo>
                      <a:pt x="10163549" y="0"/>
                    </a:lnTo>
                    <a:lnTo>
                      <a:pt x="10163549" y="1590446"/>
                    </a:lnTo>
                    <a:lnTo>
                      <a:pt x="0" y="15904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0"/>
                <a:ext cx="10163549" cy="15904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Tuning DCGAN for Synthetic Image Generation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2776518" y="2927775"/>
            <a:ext cx="14482782" cy="1082501"/>
            <a:chOff x="0" y="0"/>
            <a:chExt cx="19310375" cy="1443335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3390307" cy="1443335"/>
              <a:chOff x="0" y="0"/>
              <a:chExt cx="669690" cy="28510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69690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669690">
                    <a:moveTo>
                      <a:pt x="0" y="0"/>
                    </a:moveTo>
                    <a:lnTo>
                      <a:pt x="669690" y="0"/>
                    </a:lnTo>
                    <a:lnTo>
                      <a:pt x="669690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9525"/>
                <a:ext cx="669690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Objective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3390307" y="5525"/>
              <a:ext cx="15920068" cy="1437811"/>
              <a:chOff x="0" y="0"/>
              <a:chExt cx="3144705" cy="28401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314470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3144705">
                    <a:moveTo>
                      <a:pt x="0" y="0"/>
                    </a:moveTo>
                    <a:lnTo>
                      <a:pt x="3144705" y="0"/>
                    </a:lnTo>
                    <a:lnTo>
                      <a:pt x="314470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9525"/>
                <a:ext cx="3144705" cy="274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Create a model to generate synthetic images using DCGAN to reduce subject-to-subject variability and class imbalances in sleep stage classification, ultimately enhancing dataset diversity and improving model generalization.</a:t>
                </a: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25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0168" y="484523"/>
            <a:ext cx="2131564" cy="2131564"/>
          </a:xfrm>
          <a:custGeom>
            <a:avLst/>
            <a:gdLst/>
            <a:ahLst/>
            <a:cxnLst/>
            <a:rect r="r" b="b" t="t" l="l"/>
            <a:pathLst>
              <a:path h="2131564" w="2131564">
                <a:moveTo>
                  <a:pt x="0" y="0"/>
                </a:moveTo>
                <a:lnTo>
                  <a:pt x="2131563" y="0"/>
                </a:lnTo>
                <a:lnTo>
                  <a:pt x="2131563" y="2131564"/>
                </a:lnTo>
                <a:lnTo>
                  <a:pt x="0" y="2131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80295" y="1028700"/>
            <a:ext cx="4385843" cy="1043210"/>
            <a:chOff x="0" y="0"/>
            <a:chExt cx="1155119" cy="2747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119" cy="274755"/>
            </a:xfrm>
            <a:custGeom>
              <a:avLst/>
              <a:gdLst/>
              <a:ahLst/>
              <a:cxnLst/>
              <a:rect r="r" b="b" t="t" l="l"/>
              <a:pathLst>
                <a:path h="274755" w="1155119">
                  <a:moveTo>
                    <a:pt x="0" y="0"/>
                  </a:moveTo>
                  <a:lnTo>
                    <a:pt x="1155119" y="0"/>
                  </a:lnTo>
                  <a:lnTo>
                    <a:pt x="1155119" y="274755"/>
                  </a:lnTo>
                  <a:lnTo>
                    <a:pt x="0" y="274755"/>
                  </a:lnTo>
                  <a:close/>
                </a:path>
              </a:pathLst>
            </a:custGeom>
            <a:solidFill>
              <a:srgbClr val="19647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55119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66506" y="1028700"/>
            <a:ext cx="3714931" cy="1043210"/>
            <a:chOff x="0" y="0"/>
            <a:chExt cx="978418" cy="2747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8418" cy="274755"/>
            </a:xfrm>
            <a:custGeom>
              <a:avLst/>
              <a:gdLst/>
              <a:ahLst/>
              <a:cxnLst/>
              <a:rect r="r" b="b" t="t" l="l"/>
              <a:pathLst>
                <a:path h="274755" w="978418">
                  <a:moveTo>
                    <a:pt x="775218" y="0"/>
                  </a:moveTo>
                  <a:lnTo>
                    <a:pt x="0" y="0"/>
                  </a:lnTo>
                  <a:lnTo>
                    <a:pt x="0" y="274755"/>
                  </a:lnTo>
                  <a:lnTo>
                    <a:pt x="775218" y="274755"/>
                  </a:lnTo>
                  <a:lnTo>
                    <a:pt x="978418" y="137377"/>
                  </a:lnTo>
                  <a:lnTo>
                    <a:pt x="775218" y="0"/>
                  </a:lnTo>
                  <a:close/>
                </a:path>
              </a:pathLst>
            </a:custGeom>
            <a:solidFill>
              <a:srgbClr val="8ED5D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4118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12200" y="1028700"/>
            <a:ext cx="2853843" cy="1043210"/>
            <a:chOff x="0" y="0"/>
            <a:chExt cx="3805124" cy="13909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124" cy="1390946"/>
            </a:xfrm>
            <a:custGeom>
              <a:avLst/>
              <a:gdLst/>
              <a:ahLst/>
              <a:cxnLst/>
              <a:rect r="r" b="b" t="t" l="l"/>
              <a:pathLst>
                <a:path h="1390946" w="3805124">
                  <a:moveTo>
                    <a:pt x="0" y="0"/>
                  </a:moveTo>
                  <a:lnTo>
                    <a:pt x="3805124" y="0"/>
                  </a:lnTo>
                  <a:lnTo>
                    <a:pt x="3805124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805124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96475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Experiment 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86212" y="1028700"/>
            <a:ext cx="3379926" cy="1043210"/>
            <a:chOff x="0" y="0"/>
            <a:chExt cx="4506568" cy="1390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6569" cy="1390946"/>
            </a:xfrm>
            <a:custGeom>
              <a:avLst/>
              <a:gdLst/>
              <a:ahLst/>
              <a:cxnLst/>
              <a:rect r="r" b="b" t="t" l="l"/>
              <a:pathLst>
                <a:path h="1390946" w="4506569">
                  <a:moveTo>
                    <a:pt x="0" y="0"/>
                  </a:moveTo>
                  <a:lnTo>
                    <a:pt x="4506569" y="0"/>
                  </a:lnTo>
                  <a:lnTo>
                    <a:pt x="4506569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506568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Results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46574" y="2793449"/>
            <a:ext cx="6534199" cy="3406575"/>
          </a:xfrm>
          <a:custGeom>
            <a:avLst/>
            <a:gdLst/>
            <a:ahLst/>
            <a:cxnLst/>
            <a:rect r="r" b="b" t="t" l="l"/>
            <a:pathLst>
              <a:path h="3406575" w="6534199">
                <a:moveTo>
                  <a:pt x="0" y="0"/>
                </a:moveTo>
                <a:lnTo>
                  <a:pt x="6534199" y="0"/>
                </a:lnTo>
                <a:lnTo>
                  <a:pt x="6534199" y="3406575"/>
                </a:lnTo>
                <a:lnTo>
                  <a:pt x="0" y="3406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0168" y="6804544"/>
            <a:ext cx="7997426" cy="2453756"/>
          </a:xfrm>
          <a:custGeom>
            <a:avLst/>
            <a:gdLst/>
            <a:ahLst/>
            <a:cxnLst/>
            <a:rect r="r" b="b" t="t" l="l"/>
            <a:pathLst>
              <a:path h="2453756" w="7997426">
                <a:moveTo>
                  <a:pt x="0" y="0"/>
                </a:moveTo>
                <a:lnTo>
                  <a:pt x="7997426" y="0"/>
                </a:lnTo>
                <a:lnTo>
                  <a:pt x="7997426" y="2453756"/>
                </a:lnTo>
                <a:lnTo>
                  <a:pt x="0" y="24537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966318" y="6842780"/>
            <a:ext cx="6809361" cy="2415520"/>
          </a:xfrm>
          <a:custGeom>
            <a:avLst/>
            <a:gdLst/>
            <a:ahLst/>
            <a:cxnLst/>
            <a:rect r="r" b="b" t="t" l="l"/>
            <a:pathLst>
              <a:path h="2415520" w="6809361">
                <a:moveTo>
                  <a:pt x="0" y="0"/>
                </a:moveTo>
                <a:lnTo>
                  <a:pt x="6809360" y="0"/>
                </a:lnTo>
                <a:lnTo>
                  <a:pt x="6809360" y="2415520"/>
                </a:lnTo>
                <a:lnTo>
                  <a:pt x="0" y="2415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26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146574" y="6200024"/>
            <a:ext cx="6534199" cy="360385"/>
            <a:chOff x="0" y="0"/>
            <a:chExt cx="8712265" cy="4805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12265" cy="480513"/>
            </a:xfrm>
            <a:custGeom>
              <a:avLst/>
              <a:gdLst/>
              <a:ahLst/>
              <a:cxnLst/>
              <a:rect r="r" b="b" t="t" l="l"/>
              <a:pathLst>
                <a:path h="480513" w="8712265">
                  <a:moveTo>
                    <a:pt x="0" y="0"/>
                  </a:moveTo>
                  <a:lnTo>
                    <a:pt x="8712265" y="0"/>
                  </a:lnTo>
                  <a:lnTo>
                    <a:pt x="8712265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712265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Original Image vs. GAN Generated Synthetic Image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9258300"/>
            <a:ext cx="7998894" cy="360385"/>
            <a:chOff x="0" y="0"/>
            <a:chExt cx="10665192" cy="4805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65192" cy="480513"/>
            </a:xfrm>
            <a:custGeom>
              <a:avLst/>
              <a:gdLst/>
              <a:ahLst/>
              <a:cxnLst/>
              <a:rect r="r" b="b" t="t" l="l"/>
              <a:pathLst>
                <a:path h="480513" w="10665192">
                  <a:moveTo>
                    <a:pt x="0" y="0"/>
                  </a:moveTo>
                  <a:lnTo>
                    <a:pt x="10665192" y="0"/>
                  </a:lnTo>
                  <a:lnTo>
                    <a:pt x="10665192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665192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Model architecture of Generator in DCGAN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66318" y="9258300"/>
            <a:ext cx="6809361" cy="360385"/>
            <a:chOff x="0" y="0"/>
            <a:chExt cx="9079148" cy="48051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79147" cy="480513"/>
            </a:xfrm>
            <a:custGeom>
              <a:avLst/>
              <a:gdLst/>
              <a:ahLst/>
              <a:cxnLst/>
              <a:rect r="r" b="b" t="t" l="l"/>
              <a:pathLst>
                <a:path h="480513" w="9079147">
                  <a:moveTo>
                    <a:pt x="0" y="0"/>
                  </a:moveTo>
                  <a:lnTo>
                    <a:pt x="9079147" y="0"/>
                  </a:lnTo>
                  <a:lnTo>
                    <a:pt x="9079147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079148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Model architecture of Discriminator in DCGAN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663308" y="3113924"/>
            <a:ext cx="7352734" cy="2029576"/>
            <a:chOff x="0" y="0"/>
            <a:chExt cx="9803646" cy="2706101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2874072" cy="1614782"/>
              <a:chOff x="0" y="0"/>
              <a:chExt cx="567718" cy="318969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567718" cy="318969"/>
              </a:xfrm>
              <a:custGeom>
                <a:avLst/>
                <a:gdLst/>
                <a:ahLst/>
                <a:cxnLst/>
                <a:rect r="r" b="b" t="t" l="l"/>
                <a:pathLst>
                  <a:path h="318969" w="567718">
                    <a:moveTo>
                      <a:pt x="0" y="0"/>
                    </a:moveTo>
                    <a:lnTo>
                      <a:pt x="567718" y="0"/>
                    </a:lnTo>
                    <a:lnTo>
                      <a:pt x="567718" y="318969"/>
                    </a:lnTo>
                    <a:lnTo>
                      <a:pt x="0" y="318969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9525"/>
                <a:ext cx="567718" cy="3094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  <a:r>
                  <a:rPr lang="en-US" b="true" sz="2999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0.83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470972" y="0"/>
              <a:ext cx="2867887" cy="1614782"/>
              <a:chOff x="0" y="0"/>
              <a:chExt cx="566496" cy="318969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566496" cy="318969"/>
              </a:xfrm>
              <a:custGeom>
                <a:avLst/>
                <a:gdLst/>
                <a:ahLst/>
                <a:cxnLst/>
                <a:rect r="r" b="b" t="t" l="l"/>
                <a:pathLst>
                  <a:path h="318969" w="566496">
                    <a:moveTo>
                      <a:pt x="0" y="0"/>
                    </a:moveTo>
                    <a:lnTo>
                      <a:pt x="566496" y="0"/>
                    </a:lnTo>
                    <a:lnTo>
                      <a:pt x="566496" y="318969"/>
                    </a:lnTo>
                    <a:lnTo>
                      <a:pt x="0" y="318969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9525"/>
                <a:ext cx="566496" cy="3094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  <a:r>
                  <a:rPr lang="en-US" b="true" sz="2999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18.7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6935759" y="0"/>
              <a:ext cx="2867887" cy="1614782"/>
              <a:chOff x="0" y="0"/>
              <a:chExt cx="566496" cy="31896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66496" cy="318969"/>
              </a:xfrm>
              <a:custGeom>
                <a:avLst/>
                <a:gdLst/>
                <a:ahLst/>
                <a:cxnLst/>
                <a:rect r="r" b="b" t="t" l="l"/>
                <a:pathLst>
                  <a:path h="318969" w="566496">
                    <a:moveTo>
                      <a:pt x="0" y="0"/>
                    </a:moveTo>
                    <a:lnTo>
                      <a:pt x="566496" y="0"/>
                    </a:lnTo>
                    <a:lnTo>
                      <a:pt x="566496" y="318969"/>
                    </a:lnTo>
                    <a:lnTo>
                      <a:pt x="0" y="318969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9525"/>
                <a:ext cx="566496" cy="3094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  <a:r>
                  <a:rPr lang="en-US" b="true" sz="2999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5.62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1880572"/>
              <a:ext cx="2874072" cy="825530"/>
              <a:chOff x="0" y="0"/>
              <a:chExt cx="567718" cy="16306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67718" cy="163068"/>
              </a:xfrm>
              <a:custGeom>
                <a:avLst/>
                <a:gdLst/>
                <a:ahLst/>
                <a:cxnLst/>
                <a:rect r="r" b="b" t="t" l="l"/>
                <a:pathLst>
                  <a:path h="163068" w="567718">
                    <a:moveTo>
                      <a:pt x="0" y="0"/>
                    </a:moveTo>
                    <a:lnTo>
                      <a:pt x="567718" y="0"/>
                    </a:lnTo>
                    <a:lnTo>
                      <a:pt x="567718" y="163068"/>
                    </a:lnTo>
                    <a:lnTo>
                      <a:pt x="0" y="16306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9525"/>
                <a:ext cx="567718" cy="1725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SSIM</a:t>
                </a: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3470972" y="1880572"/>
              <a:ext cx="2867887" cy="825530"/>
              <a:chOff x="0" y="0"/>
              <a:chExt cx="566496" cy="163068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566496" cy="163068"/>
              </a:xfrm>
              <a:custGeom>
                <a:avLst/>
                <a:gdLst/>
                <a:ahLst/>
                <a:cxnLst/>
                <a:rect r="r" b="b" t="t" l="l"/>
                <a:pathLst>
                  <a:path h="163068" w="566496">
                    <a:moveTo>
                      <a:pt x="0" y="0"/>
                    </a:moveTo>
                    <a:lnTo>
                      <a:pt x="566496" y="0"/>
                    </a:lnTo>
                    <a:lnTo>
                      <a:pt x="566496" y="163068"/>
                    </a:lnTo>
                    <a:lnTo>
                      <a:pt x="0" y="16306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9525"/>
                <a:ext cx="566496" cy="1725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FID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6935759" y="1880572"/>
              <a:ext cx="2867887" cy="825530"/>
              <a:chOff x="0" y="0"/>
              <a:chExt cx="566496" cy="16306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566496" cy="163068"/>
              </a:xfrm>
              <a:custGeom>
                <a:avLst/>
                <a:gdLst/>
                <a:ahLst/>
                <a:cxnLst/>
                <a:rect r="r" b="b" t="t" l="l"/>
                <a:pathLst>
                  <a:path h="163068" w="566496">
                    <a:moveTo>
                      <a:pt x="0" y="0"/>
                    </a:moveTo>
                    <a:lnTo>
                      <a:pt x="566496" y="0"/>
                    </a:lnTo>
                    <a:lnTo>
                      <a:pt x="566496" y="163068"/>
                    </a:lnTo>
                    <a:lnTo>
                      <a:pt x="0" y="163068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9525"/>
                <a:ext cx="566496" cy="1725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MPED</a:t>
                </a:r>
              </a:p>
            </p:txBody>
          </p:sp>
        </p:grpSp>
      </p:grpSp>
      <p:grpSp>
        <p:nvGrpSpPr>
          <p:cNvPr name="Group 60" id="60"/>
          <p:cNvGrpSpPr/>
          <p:nvPr/>
        </p:nvGrpSpPr>
        <p:grpSpPr>
          <a:xfrm rot="0">
            <a:off x="7897371" y="5424959"/>
            <a:ext cx="9232938" cy="1136362"/>
            <a:chOff x="0" y="0"/>
            <a:chExt cx="12310584" cy="151514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310584" cy="1515149"/>
            </a:xfrm>
            <a:custGeom>
              <a:avLst/>
              <a:gdLst/>
              <a:ahLst/>
              <a:cxnLst/>
              <a:rect r="r" b="b" t="t" l="l"/>
              <a:pathLst>
                <a:path h="1515149" w="12310584">
                  <a:moveTo>
                    <a:pt x="0" y="0"/>
                  </a:moveTo>
                  <a:lnTo>
                    <a:pt x="12310584" y="0"/>
                  </a:lnTo>
                  <a:lnTo>
                    <a:pt x="12310584" y="1515149"/>
                  </a:lnTo>
                  <a:lnTo>
                    <a:pt x="0" y="15151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2310584" cy="1562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0"/>
                </a:lnSpc>
              </a:pPr>
              <a:r>
                <a:rPr lang="en-US" sz="2000" spc="-20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Results indicate that the synthetic images retain structural fidelity, exhibit reasonable realism, and maintain sufficient diversity, ensuring that synthetic samples enhance model generalization without redundancy.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20234" y="-5514595"/>
            <a:ext cx="27831514" cy="16884741"/>
          </a:xfrm>
          <a:custGeom>
            <a:avLst/>
            <a:gdLst/>
            <a:ahLst/>
            <a:cxnLst/>
            <a:rect r="r" b="b" t="t" l="l"/>
            <a:pathLst>
              <a:path h="16884741" w="27831514">
                <a:moveTo>
                  <a:pt x="0" y="0"/>
                </a:moveTo>
                <a:lnTo>
                  <a:pt x="27831514" y="0"/>
                </a:lnTo>
                <a:lnTo>
                  <a:pt x="27831514" y="16884740"/>
                </a:lnTo>
                <a:lnTo>
                  <a:pt x="0" y="1688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68709" y="4616669"/>
            <a:ext cx="11905080" cy="4641631"/>
            <a:chOff x="0" y="0"/>
            <a:chExt cx="15873440" cy="618884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396190" y="0"/>
              <a:ext cx="14477250" cy="1165926"/>
              <a:chOff x="0" y="0"/>
              <a:chExt cx="2859704" cy="23030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579937" y="380515"/>
              <a:ext cx="13968656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Fine-tune the t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rained DCGAN model separately for each class.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396190" y="1664202"/>
              <a:ext cx="14477250" cy="1165926"/>
              <a:chOff x="0" y="0"/>
              <a:chExt cx="2859704" cy="23030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579937" y="1841517"/>
              <a:ext cx="13968656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enerate 20,000 synthetic images per class using encoder of the fine-tuned model for that class.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1664202"/>
              <a:ext cx="1186480" cy="1186480"/>
              <a:chOff x="0" y="0"/>
              <a:chExt cx="1071200" cy="10712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1011" y="1721842"/>
              <a:ext cx="1143195" cy="978629"/>
              <a:chOff x="0" y="0"/>
              <a:chExt cx="1251332" cy="107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396190" y="3333282"/>
              <a:ext cx="14477250" cy="1165926"/>
              <a:chOff x="0" y="0"/>
              <a:chExt cx="2859704" cy="23030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579937" y="3713797"/>
              <a:ext cx="1410975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Create three datasets: original, GAN-augmented, and mixed.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3333282"/>
              <a:ext cx="1186480" cy="1186480"/>
              <a:chOff x="0" y="0"/>
              <a:chExt cx="1071200" cy="1071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1011" y="3390922"/>
              <a:ext cx="1143195" cy="978629"/>
              <a:chOff x="0" y="0"/>
              <a:chExt cx="1251332" cy="1071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96190" y="5002362"/>
              <a:ext cx="14477250" cy="1165926"/>
              <a:chOff x="0" y="0"/>
              <a:chExt cx="2859704" cy="23030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859704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859704">
                    <a:moveTo>
                      <a:pt x="0" y="0"/>
                    </a:moveTo>
                    <a:lnTo>
                      <a:pt x="2859704" y="0"/>
                    </a:lnTo>
                    <a:lnTo>
                      <a:pt x="2859704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2859704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568178" y="5336592"/>
              <a:ext cx="13804038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Fine-tune the ViT-B/16 model on these datasets and evaluate its performance.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0" y="5002362"/>
              <a:ext cx="1186480" cy="1186480"/>
              <a:chOff x="0" y="0"/>
              <a:chExt cx="1071200" cy="107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011" y="5060002"/>
              <a:ext cx="1143195" cy="978629"/>
              <a:chOff x="0" y="0"/>
              <a:chExt cx="1251332" cy="107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false" flipV="false" rot="0">
            <a:off x="3889066" y="787514"/>
            <a:ext cx="1106740" cy="1525582"/>
          </a:xfrm>
          <a:custGeom>
            <a:avLst/>
            <a:gdLst/>
            <a:ahLst/>
            <a:cxnLst/>
            <a:rect r="r" b="b" t="t" l="l"/>
            <a:pathLst>
              <a:path h="1525582" w="1106740">
                <a:moveTo>
                  <a:pt x="0" y="0"/>
                </a:moveTo>
                <a:lnTo>
                  <a:pt x="1106740" y="0"/>
                </a:lnTo>
                <a:lnTo>
                  <a:pt x="1106740" y="1525582"/>
                </a:lnTo>
                <a:lnTo>
                  <a:pt x="0" y="1525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5319249" y="1028700"/>
            <a:ext cx="11940051" cy="1284396"/>
            <a:chOff x="0" y="0"/>
            <a:chExt cx="15920068" cy="1712528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3751719" y="0"/>
              <a:ext cx="12168350" cy="1712528"/>
              <a:chOff x="0" y="0"/>
              <a:chExt cx="2403625" cy="33827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2403625" cy="338277"/>
              </a:xfrm>
              <a:custGeom>
                <a:avLst/>
                <a:gdLst/>
                <a:ahLst/>
                <a:cxnLst/>
                <a:rect r="r" b="b" t="t" l="l"/>
                <a:pathLst>
                  <a:path h="338277" w="2403625">
                    <a:moveTo>
                      <a:pt x="0" y="0"/>
                    </a:moveTo>
                    <a:lnTo>
                      <a:pt x="2403625" y="0"/>
                    </a:lnTo>
                    <a:lnTo>
                      <a:pt x="2403625" y="338277"/>
                    </a:lnTo>
                    <a:lnTo>
                      <a:pt x="0" y="338277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9525"/>
                <a:ext cx="2403625" cy="347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0"/>
              <a:ext cx="4953241" cy="1712528"/>
              <a:chOff x="0" y="0"/>
              <a:chExt cx="978418" cy="33827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978418" cy="338277"/>
              </a:xfrm>
              <a:custGeom>
                <a:avLst/>
                <a:gdLst/>
                <a:ahLst/>
                <a:cxnLst/>
                <a:rect r="r" b="b" t="t" l="l"/>
                <a:pathLst>
                  <a:path h="338277" w="978418">
                    <a:moveTo>
                      <a:pt x="775218" y="0"/>
                    </a:moveTo>
                    <a:lnTo>
                      <a:pt x="0" y="0"/>
                    </a:lnTo>
                    <a:lnTo>
                      <a:pt x="0" y="338277"/>
                    </a:lnTo>
                    <a:lnTo>
                      <a:pt x="775218" y="338277"/>
                    </a:lnTo>
                    <a:lnTo>
                      <a:pt x="978418" y="169139"/>
                    </a:lnTo>
                    <a:lnTo>
                      <a:pt x="775218" y="0"/>
                    </a:lnTo>
                    <a:close/>
                  </a:path>
                </a:pathLst>
              </a:custGeom>
              <a:solidFill>
                <a:srgbClr val="8ED5D1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9525"/>
                <a:ext cx="864118" cy="3478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94258" y="0"/>
              <a:ext cx="3805124" cy="1590446"/>
              <a:chOff x="0" y="0"/>
              <a:chExt cx="3805124" cy="159044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3805124" cy="1590446"/>
              </a:xfrm>
              <a:custGeom>
                <a:avLst/>
                <a:gdLst/>
                <a:ahLst/>
                <a:cxnLst/>
                <a:rect r="r" b="b" t="t" l="l"/>
                <a:pathLst>
                  <a:path h="1590446" w="3805124">
                    <a:moveTo>
                      <a:pt x="0" y="0"/>
                    </a:moveTo>
                    <a:lnTo>
                      <a:pt x="3805124" y="0"/>
                    </a:lnTo>
                    <a:lnTo>
                      <a:pt x="3805124" y="1590446"/>
                    </a:lnTo>
                    <a:lnTo>
                      <a:pt x="0" y="15904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3805124" cy="15904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196475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Experiment 6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5385041" y="0"/>
              <a:ext cx="10163549" cy="1590446"/>
              <a:chOff x="0" y="0"/>
              <a:chExt cx="10163549" cy="159044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0163549" cy="1590446"/>
              </a:xfrm>
              <a:custGeom>
                <a:avLst/>
                <a:gdLst/>
                <a:ahLst/>
                <a:cxnLst/>
                <a:rect r="r" b="b" t="t" l="l"/>
                <a:pathLst>
                  <a:path h="1590446" w="10163549">
                    <a:moveTo>
                      <a:pt x="0" y="0"/>
                    </a:moveTo>
                    <a:lnTo>
                      <a:pt x="10163549" y="0"/>
                    </a:lnTo>
                    <a:lnTo>
                      <a:pt x="10163549" y="1590446"/>
                    </a:lnTo>
                    <a:lnTo>
                      <a:pt x="0" y="1590446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0"/>
                <a:ext cx="10163549" cy="159044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320"/>
                  </a:lnSpc>
                </a:pPr>
                <a:r>
                  <a:rPr lang="en-US" sz="3600" b="true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Effectiveness of GAN-Augmented Data</a:t>
                </a: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2776518" y="2927775"/>
            <a:ext cx="14482782" cy="1082501"/>
            <a:chOff x="0" y="0"/>
            <a:chExt cx="19310375" cy="1443335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3390307" cy="1443335"/>
              <a:chOff x="0" y="0"/>
              <a:chExt cx="669690" cy="285103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69690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669690">
                    <a:moveTo>
                      <a:pt x="0" y="0"/>
                    </a:moveTo>
                    <a:lnTo>
                      <a:pt x="669690" y="0"/>
                    </a:lnTo>
                    <a:lnTo>
                      <a:pt x="669690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9525"/>
                <a:ext cx="669690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Objective</a:t>
                </a: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3390307" y="5525"/>
              <a:ext cx="15920068" cy="1437811"/>
              <a:chOff x="0" y="0"/>
              <a:chExt cx="3144705" cy="284012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314470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3144705">
                    <a:moveTo>
                      <a:pt x="0" y="0"/>
                    </a:moveTo>
                    <a:lnTo>
                      <a:pt x="3144705" y="0"/>
                    </a:lnTo>
                    <a:lnTo>
                      <a:pt x="314470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9525"/>
                <a:ext cx="3144705" cy="274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  <a:r>
                  <a:rPr lang="en-US" b="true" sz="18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Evaluate the effectiveness of GAN-augmented data for sleep stage classification and determine whether synthetic data enhances accuracy and generalization.</a:t>
                </a:r>
              </a:p>
            </p:txBody>
          </p:sp>
        </p:grpSp>
      </p:grpSp>
      <p:grpSp>
        <p:nvGrpSpPr>
          <p:cNvPr name="Group 61" id="61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27</a:t>
                </a: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0168" y="484523"/>
            <a:ext cx="2131564" cy="2131564"/>
          </a:xfrm>
          <a:custGeom>
            <a:avLst/>
            <a:gdLst/>
            <a:ahLst/>
            <a:cxnLst/>
            <a:rect r="r" b="b" t="t" l="l"/>
            <a:pathLst>
              <a:path h="2131564" w="2131564">
                <a:moveTo>
                  <a:pt x="0" y="0"/>
                </a:moveTo>
                <a:lnTo>
                  <a:pt x="2131563" y="0"/>
                </a:lnTo>
                <a:lnTo>
                  <a:pt x="2131563" y="2131564"/>
                </a:lnTo>
                <a:lnTo>
                  <a:pt x="0" y="2131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080295" y="1028700"/>
            <a:ext cx="4385843" cy="1043210"/>
            <a:chOff x="0" y="0"/>
            <a:chExt cx="1155119" cy="2747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55119" cy="274755"/>
            </a:xfrm>
            <a:custGeom>
              <a:avLst/>
              <a:gdLst/>
              <a:ahLst/>
              <a:cxnLst/>
              <a:rect r="r" b="b" t="t" l="l"/>
              <a:pathLst>
                <a:path h="274755" w="1155119">
                  <a:moveTo>
                    <a:pt x="0" y="0"/>
                  </a:moveTo>
                  <a:lnTo>
                    <a:pt x="1155119" y="0"/>
                  </a:lnTo>
                  <a:lnTo>
                    <a:pt x="1155119" y="274755"/>
                  </a:lnTo>
                  <a:lnTo>
                    <a:pt x="0" y="274755"/>
                  </a:lnTo>
                  <a:close/>
                </a:path>
              </a:pathLst>
            </a:custGeom>
            <a:solidFill>
              <a:srgbClr val="19647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55119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66506" y="1028700"/>
            <a:ext cx="3714931" cy="1043210"/>
            <a:chOff x="0" y="0"/>
            <a:chExt cx="978418" cy="2747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8418" cy="274755"/>
            </a:xfrm>
            <a:custGeom>
              <a:avLst/>
              <a:gdLst/>
              <a:ahLst/>
              <a:cxnLst/>
              <a:rect r="r" b="b" t="t" l="l"/>
              <a:pathLst>
                <a:path h="274755" w="978418">
                  <a:moveTo>
                    <a:pt x="775218" y="0"/>
                  </a:moveTo>
                  <a:lnTo>
                    <a:pt x="0" y="0"/>
                  </a:lnTo>
                  <a:lnTo>
                    <a:pt x="0" y="274755"/>
                  </a:lnTo>
                  <a:lnTo>
                    <a:pt x="775218" y="274755"/>
                  </a:lnTo>
                  <a:lnTo>
                    <a:pt x="978418" y="137377"/>
                  </a:lnTo>
                  <a:lnTo>
                    <a:pt x="775218" y="0"/>
                  </a:lnTo>
                  <a:close/>
                </a:path>
              </a:pathLst>
            </a:custGeom>
            <a:solidFill>
              <a:srgbClr val="8ED5D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64118" cy="28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412200" y="1028700"/>
            <a:ext cx="2853843" cy="1043210"/>
            <a:chOff x="0" y="0"/>
            <a:chExt cx="3805124" cy="13909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05124" cy="1390946"/>
            </a:xfrm>
            <a:custGeom>
              <a:avLst/>
              <a:gdLst/>
              <a:ahLst/>
              <a:cxnLst/>
              <a:rect r="r" b="b" t="t" l="l"/>
              <a:pathLst>
                <a:path h="1390946" w="3805124">
                  <a:moveTo>
                    <a:pt x="0" y="0"/>
                  </a:moveTo>
                  <a:lnTo>
                    <a:pt x="3805124" y="0"/>
                  </a:lnTo>
                  <a:lnTo>
                    <a:pt x="3805124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805124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96475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Experiment 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86212" y="1028700"/>
            <a:ext cx="3379926" cy="1043210"/>
            <a:chOff x="0" y="0"/>
            <a:chExt cx="4506568" cy="1390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6569" cy="1390946"/>
            </a:xfrm>
            <a:custGeom>
              <a:avLst/>
              <a:gdLst/>
              <a:ahLst/>
              <a:cxnLst/>
              <a:rect r="r" b="b" t="t" l="l"/>
              <a:pathLst>
                <a:path h="1390946" w="4506569">
                  <a:moveTo>
                    <a:pt x="0" y="0"/>
                  </a:moveTo>
                  <a:lnTo>
                    <a:pt x="4506569" y="0"/>
                  </a:lnTo>
                  <a:lnTo>
                    <a:pt x="4506569" y="1390946"/>
                  </a:lnTo>
                  <a:lnTo>
                    <a:pt x="0" y="1390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506568" cy="139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Results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0168" y="2932810"/>
            <a:ext cx="6300995" cy="5907906"/>
          </a:xfrm>
          <a:custGeom>
            <a:avLst/>
            <a:gdLst/>
            <a:ahLst/>
            <a:cxnLst/>
            <a:rect r="r" b="b" t="t" l="l"/>
            <a:pathLst>
              <a:path h="5907906" w="6300995">
                <a:moveTo>
                  <a:pt x="0" y="0"/>
                </a:moveTo>
                <a:lnTo>
                  <a:pt x="6300995" y="0"/>
                </a:lnTo>
                <a:lnTo>
                  <a:pt x="6300995" y="5907906"/>
                </a:lnTo>
                <a:lnTo>
                  <a:pt x="0" y="5907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28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1030168" y="8961942"/>
            <a:ext cx="6300995" cy="592716"/>
            <a:chOff x="0" y="0"/>
            <a:chExt cx="8401327" cy="790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01328" cy="790288"/>
            </a:xfrm>
            <a:custGeom>
              <a:avLst/>
              <a:gdLst/>
              <a:ahLst/>
              <a:cxnLst/>
              <a:rect r="r" b="b" t="t" l="l"/>
              <a:pathLst>
                <a:path h="790288" w="8401328">
                  <a:moveTo>
                    <a:pt x="0" y="0"/>
                  </a:moveTo>
                  <a:lnTo>
                    <a:pt x="8401328" y="0"/>
                  </a:lnTo>
                  <a:lnTo>
                    <a:pt x="8401328" y="790288"/>
                  </a:lnTo>
                  <a:lnTo>
                    <a:pt x="0" y="7902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401327" cy="82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 Impact of GAN-Augmented Data on Sleep Stage Classification Performance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73217" y="4907468"/>
            <a:ext cx="7952461" cy="1709346"/>
            <a:chOff x="0" y="0"/>
            <a:chExt cx="10603281" cy="227912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1509218" cy="34778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509218" cy="347783"/>
              </a:xfrm>
              <a:custGeom>
                <a:avLst/>
                <a:gdLst/>
                <a:ahLst/>
                <a:cxnLst/>
                <a:rect r="r" b="b" t="t" l="l"/>
                <a:pathLst>
                  <a:path h="347783" w="1509218">
                    <a:moveTo>
                      <a:pt x="0" y="0"/>
                    </a:moveTo>
                    <a:lnTo>
                      <a:pt x="1509218" y="0"/>
                    </a:lnTo>
                    <a:lnTo>
                      <a:pt x="1509218" y="347783"/>
                    </a:lnTo>
                    <a:lnTo>
                      <a:pt x="0" y="34778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1509218" cy="3573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7640414" y="0"/>
              <a:ext cx="2962867" cy="2279129"/>
            </a:xfrm>
            <a:custGeom>
              <a:avLst/>
              <a:gdLst/>
              <a:ahLst/>
              <a:cxnLst/>
              <a:rect r="r" b="b" t="t" l="l"/>
              <a:pathLst>
                <a:path h="2279129" w="2962867">
                  <a:moveTo>
                    <a:pt x="0" y="0"/>
                  </a:moveTo>
                  <a:lnTo>
                    <a:pt x="2962867" y="0"/>
                  </a:lnTo>
                  <a:lnTo>
                    <a:pt x="2962867" y="2279129"/>
                  </a:lnTo>
                  <a:lnTo>
                    <a:pt x="0" y="2279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0" y="259238"/>
              <a:ext cx="7640414" cy="1760652"/>
              <a:chOff x="0" y="0"/>
              <a:chExt cx="7640414" cy="1760652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7640414" cy="1760652"/>
              </a:xfrm>
              <a:custGeom>
                <a:avLst/>
                <a:gdLst/>
                <a:ahLst/>
                <a:cxnLst/>
                <a:rect r="r" b="b" t="t" l="l"/>
                <a:pathLst>
                  <a:path h="1760652" w="7640414">
                    <a:moveTo>
                      <a:pt x="0" y="0"/>
                    </a:moveTo>
                    <a:lnTo>
                      <a:pt x="7640414" y="0"/>
                    </a:lnTo>
                    <a:lnTo>
                      <a:pt x="7640414" y="1760652"/>
                    </a:lnTo>
                    <a:lnTo>
                      <a:pt x="0" y="17606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7640414" cy="181780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199"/>
                  </a:lnSpc>
                </a:pPr>
                <a:r>
                  <a:rPr lang="en-US" b="true" sz="2999" spc="-29">
                    <a:solidFill>
                      <a:srgbClr val="FFFFFF"/>
                    </a:solidFill>
                    <a:latin typeface="Inter Bold"/>
                    <a:ea typeface="Inter Bold"/>
                    <a:cs typeface="Inter Bold"/>
                    <a:sym typeface="Inter Bold"/>
                  </a:rPr>
                  <a:t>Original + Synthetic Data give highest performance 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83908" y="-1903983"/>
            <a:ext cx="15676268" cy="17919968"/>
          </a:xfrm>
          <a:custGeom>
            <a:avLst/>
            <a:gdLst/>
            <a:ahLst/>
            <a:cxnLst/>
            <a:rect r="r" b="b" t="t" l="l"/>
            <a:pathLst>
              <a:path h="17919968" w="15676268">
                <a:moveTo>
                  <a:pt x="0" y="0"/>
                </a:moveTo>
                <a:lnTo>
                  <a:pt x="15676268" y="0"/>
                </a:lnTo>
                <a:lnTo>
                  <a:pt x="15676268" y="17919968"/>
                </a:lnTo>
                <a:lnTo>
                  <a:pt x="0" y="17919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8101" y="3101662"/>
            <a:ext cx="10451613" cy="2986022"/>
            <a:chOff x="0" y="0"/>
            <a:chExt cx="12547899" cy="35849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47944" cy="3584976"/>
            </a:xfrm>
            <a:custGeom>
              <a:avLst/>
              <a:gdLst/>
              <a:ahLst/>
              <a:cxnLst/>
              <a:rect r="r" b="b" t="t" l="l"/>
              <a:pathLst>
                <a:path h="3584976" w="12547944">
                  <a:moveTo>
                    <a:pt x="0" y="1398614"/>
                  </a:moveTo>
                  <a:cubicBezTo>
                    <a:pt x="0" y="626170"/>
                    <a:pt x="2191707" y="0"/>
                    <a:pt x="4895401" y="0"/>
                  </a:cubicBezTo>
                  <a:lnTo>
                    <a:pt x="7652710" y="0"/>
                  </a:lnTo>
                  <a:cubicBezTo>
                    <a:pt x="10356405" y="0"/>
                    <a:pt x="12547944" y="626170"/>
                    <a:pt x="12547944" y="1398614"/>
                  </a:cubicBezTo>
                  <a:lnTo>
                    <a:pt x="12547944" y="2186377"/>
                  </a:lnTo>
                  <a:cubicBezTo>
                    <a:pt x="12547944" y="2958821"/>
                    <a:pt x="10356405" y="3584976"/>
                    <a:pt x="7652710" y="3584976"/>
                  </a:cubicBezTo>
                  <a:lnTo>
                    <a:pt x="4895401" y="3584976"/>
                  </a:lnTo>
                  <a:cubicBezTo>
                    <a:pt x="2191707" y="3584976"/>
                    <a:pt x="0" y="2958821"/>
                    <a:pt x="0" y="21863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CE6D6">
                    <a:alpha val="100000"/>
                  </a:srgbClr>
                </a:gs>
                <a:gs pos="100000">
                  <a:srgbClr val="45BCD7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67400" y="3501965"/>
            <a:ext cx="8033017" cy="2185416"/>
            <a:chOff x="0" y="0"/>
            <a:chExt cx="10710689" cy="29138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10689" cy="2913888"/>
            </a:xfrm>
            <a:custGeom>
              <a:avLst/>
              <a:gdLst/>
              <a:ahLst/>
              <a:cxnLst/>
              <a:rect r="r" b="b" t="t" l="l"/>
              <a:pathLst>
                <a:path h="2913888" w="10710689">
                  <a:moveTo>
                    <a:pt x="0" y="0"/>
                  </a:moveTo>
                  <a:lnTo>
                    <a:pt x="10710689" y="0"/>
                  </a:lnTo>
                  <a:lnTo>
                    <a:pt x="10710689" y="2913888"/>
                  </a:lnTo>
                  <a:lnTo>
                    <a:pt x="0" y="29138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710689" cy="29138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Final Model</a:t>
              </a:r>
            </a:p>
          </p:txBody>
        </p:sp>
      </p:grpSp>
    </p:spTree>
  </p:cSld>
  <p:clrMapOvr>
    <a:masterClrMapping/>
  </p:clrMapOvr>
  <p:transition spd="slow">
    <p:cover dir="ld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37170" y="1028700"/>
            <a:ext cx="14613660" cy="1083182"/>
            <a:chOff x="0" y="0"/>
            <a:chExt cx="19484880" cy="1444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Summary of Experiments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37170" y="2489203"/>
            <a:ext cx="13794373" cy="1082501"/>
            <a:chOff x="0" y="0"/>
            <a:chExt cx="18392497" cy="144333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584433" cy="1443335"/>
              <a:chOff x="0" y="0"/>
              <a:chExt cx="312974" cy="28510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12974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312974">
                    <a:moveTo>
                      <a:pt x="0" y="0"/>
                    </a:moveTo>
                    <a:lnTo>
                      <a:pt x="312974" y="0"/>
                    </a:lnTo>
                    <a:lnTo>
                      <a:pt x="312974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"/>
                <a:ext cx="312974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Exp 1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1186660" y="0"/>
              <a:ext cx="7205837" cy="1437811"/>
              <a:chOff x="0" y="0"/>
              <a:chExt cx="1423375" cy="28401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2337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1423375">
                    <a:moveTo>
                      <a:pt x="0" y="0"/>
                    </a:moveTo>
                    <a:lnTo>
                      <a:pt x="1423375" y="0"/>
                    </a:lnTo>
                    <a:lnTo>
                      <a:pt x="142337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423375" cy="2935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GASF method achieved the best performance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84433" y="0"/>
              <a:ext cx="9602227" cy="1443335"/>
              <a:chOff x="0" y="0"/>
              <a:chExt cx="1896736" cy="2851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896736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1896736">
                    <a:moveTo>
                      <a:pt x="0" y="0"/>
                    </a:moveTo>
                    <a:lnTo>
                      <a:pt x="1896736" y="0"/>
                    </a:lnTo>
                    <a:lnTo>
                      <a:pt x="1896736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896736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891021" y="52389"/>
              <a:ext cx="9295639" cy="1390947"/>
              <a:chOff x="0" y="0"/>
              <a:chExt cx="9295639" cy="139094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295640" cy="1390947"/>
              </a:xfrm>
              <a:custGeom>
                <a:avLst/>
                <a:gdLst/>
                <a:ahLst/>
                <a:cxnLst/>
                <a:rect r="r" b="b" t="t" l="l"/>
                <a:pathLst>
                  <a:path h="1390947" w="9295640">
                    <a:moveTo>
                      <a:pt x="0" y="0"/>
                    </a:moveTo>
                    <a:lnTo>
                      <a:pt x="9295640" y="0"/>
                    </a:lnTo>
                    <a:lnTo>
                      <a:pt x="9295640" y="1390947"/>
                    </a:lnTo>
                    <a:lnTo>
                      <a:pt x="0" y="139094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9295639" cy="14385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00"/>
                  </a:lnSpc>
                </a:pPr>
                <a:r>
                  <a:rPr lang="en-US" sz="2000" spc="-2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Evaluation of Image Transformation Techniques</a:t>
                </a: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837170" y="3723291"/>
            <a:ext cx="13794373" cy="1082501"/>
            <a:chOff x="0" y="0"/>
            <a:chExt cx="18392497" cy="144333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584433" cy="1443335"/>
              <a:chOff x="0" y="0"/>
              <a:chExt cx="312974" cy="28510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12974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312974">
                    <a:moveTo>
                      <a:pt x="0" y="0"/>
                    </a:moveTo>
                    <a:lnTo>
                      <a:pt x="312974" y="0"/>
                    </a:lnTo>
                    <a:lnTo>
                      <a:pt x="312974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9525"/>
                <a:ext cx="312974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Exp 2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1186660" y="0"/>
              <a:ext cx="7205837" cy="1437811"/>
              <a:chOff x="0" y="0"/>
              <a:chExt cx="1423375" cy="28401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2337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1423375">
                    <a:moveTo>
                      <a:pt x="0" y="0"/>
                    </a:moveTo>
                    <a:lnTo>
                      <a:pt x="1423375" y="0"/>
                    </a:lnTo>
                    <a:lnTo>
                      <a:pt x="142337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1423375" cy="2935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DWT method with 128 Hz frequency achieved the best performance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584433" y="0"/>
              <a:ext cx="9602227" cy="1443335"/>
              <a:chOff x="0" y="0"/>
              <a:chExt cx="1896736" cy="28510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96736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1896736">
                    <a:moveTo>
                      <a:pt x="0" y="0"/>
                    </a:moveTo>
                    <a:lnTo>
                      <a:pt x="1896736" y="0"/>
                    </a:lnTo>
                    <a:lnTo>
                      <a:pt x="1896736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"/>
                <a:ext cx="1896736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891021" y="52389"/>
              <a:ext cx="9295639" cy="1390947"/>
              <a:chOff x="0" y="0"/>
              <a:chExt cx="9295639" cy="139094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295640" cy="1390947"/>
              </a:xfrm>
              <a:custGeom>
                <a:avLst/>
                <a:gdLst/>
                <a:ahLst/>
                <a:cxnLst/>
                <a:rect r="r" b="b" t="t" l="l"/>
                <a:pathLst>
                  <a:path h="1390947" w="9295640">
                    <a:moveTo>
                      <a:pt x="0" y="0"/>
                    </a:moveTo>
                    <a:lnTo>
                      <a:pt x="9295640" y="0"/>
                    </a:lnTo>
                    <a:lnTo>
                      <a:pt x="9295640" y="1390947"/>
                    </a:lnTo>
                    <a:lnTo>
                      <a:pt x="0" y="139094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9295639" cy="14385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00"/>
                  </a:lnSpc>
                </a:pPr>
                <a:r>
                  <a:rPr lang="en-US" sz="2000" spc="-2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Effect of Sampling Frequency and Resampling Method</a:t>
                </a: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837170" y="4958193"/>
            <a:ext cx="13794373" cy="1082501"/>
            <a:chOff x="0" y="0"/>
            <a:chExt cx="18392497" cy="144333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584433" cy="1443335"/>
              <a:chOff x="0" y="0"/>
              <a:chExt cx="312974" cy="28510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12974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312974">
                    <a:moveTo>
                      <a:pt x="0" y="0"/>
                    </a:moveTo>
                    <a:lnTo>
                      <a:pt x="312974" y="0"/>
                    </a:lnTo>
                    <a:lnTo>
                      <a:pt x="312974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"/>
                <a:ext cx="312974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Exp 3</a:t>
                </a: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1186660" y="0"/>
              <a:ext cx="7205837" cy="1437811"/>
              <a:chOff x="0" y="0"/>
              <a:chExt cx="1423375" cy="28401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42337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1423375">
                    <a:moveTo>
                      <a:pt x="0" y="0"/>
                    </a:moveTo>
                    <a:lnTo>
                      <a:pt x="1423375" y="0"/>
                    </a:lnTo>
                    <a:lnTo>
                      <a:pt x="142337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9525"/>
                <a:ext cx="1423375" cy="2935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Pre-trained ViTs outperformed  trained from scratch ViTs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584433" y="0"/>
              <a:ext cx="9602227" cy="1443335"/>
              <a:chOff x="0" y="0"/>
              <a:chExt cx="1896736" cy="28510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896736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1896736">
                    <a:moveTo>
                      <a:pt x="0" y="0"/>
                    </a:moveTo>
                    <a:lnTo>
                      <a:pt x="1896736" y="0"/>
                    </a:lnTo>
                    <a:lnTo>
                      <a:pt x="1896736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9525"/>
                <a:ext cx="1896736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891021" y="52389"/>
              <a:ext cx="9295639" cy="1390947"/>
              <a:chOff x="0" y="0"/>
              <a:chExt cx="9295639" cy="139094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9295640" cy="1390947"/>
              </a:xfrm>
              <a:custGeom>
                <a:avLst/>
                <a:gdLst/>
                <a:ahLst/>
                <a:cxnLst/>
                <a:rect r="r" b="b" t="t" l="l"/>
                <a:pathLst>
                  <a:path h="1390947" w="9295640">
                    <a:moveTo>
                      <a:pt x="0" y="0"/>
                    </a:moveTo>
                    <a:lnTo>
                      <a:pt x="9295640" y="0"/>
                    </a:lnTo>
                    <a:lnTo>
                      <a:pt x="9295640" y="1390947"/>
                    </a:lnTo>
                    <a:lnTo>
                      <a:pt x="0" y="139094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9295639" cy="14385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00"/>
                  </a:lnSpc>
                </a:pPr>
                <a:r>
                  <a:rPr lang="en-US" sz="2000" spc="-2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Effectiveness of Pre-Trained vs. From Scratch ViTs</a:t>
                </a: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837170" y="6193094"/>
            <a:ext cx="13794373" cy="1082501"/>
            <a:chOff x="0" y="0"/>
            <a:chExt cx="18392497" cy="1443335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1584433" cy="1443335"/>
              <a:chOff x="0" y="0"/>
              <a:chExt cx="312974" cy="28510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12974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312974">
                    <a:moveTo>
                      <a:pt x="0" y="0"/>
                    </a:moveTo>
                    <a:lnTo>
                      <a:pt x="312974" y="0"/>
                    </a:lnTo>
                    <a:lnTo>
                      <a:pt x="312974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9525"/>
                <a:ext cx="312974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Exp 4</a:t>
                </a: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11186660" y="0"/>
              <a:ext cx="7205837" cy="1437811"/>
              <a:chOff x="0" y="0"/>
              <a:chExt cx="1423375" cy="28401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42337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1423375">
                    <a:moveTo>
                      <a:pt x="0" y="0"/>
                    </a:moveTo>
                    <a:lnTo>
                      <a:pt x="1423375" y="0"/>
                    </a:lnTo>
                    <a:lnTo>
                      <a:pt x="142337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"/>
                <a:ext cx="1423375" cy="2935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ViT-B/16 achieved the best performance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1584433" y="0"/>
              <a:ext cx="9602227" cy="1443335"/>
              <a:chOff x="0" y="0"/>
              <a:chExt cx="1896736" cy="285103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896736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1896736">
                    <a:moveTo>
                      <a:pt x="0" y="0"/>
                    </a:moveTo>
                    <a:lnTo>
                      <a:pt x="1896736" y="0"/>
                    </a:lnTo>
                    <a:lnTo>
                      <a:pt x="1896736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9525"/>
                <a:ext cx="1896736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891021" y="52389"/>
              <a:ext cx="9295639" cy="1390947"/>
              <a:chOff x="0" y="0"/>
              <a:chExt cx="9295639" cy="1390947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295640" cy="1390947"/>
              </a:xfrm>
              <a:custGeom>
                <a:avLst/>
                <a:gdLst/>
                <a:ahLst/>
                <a:cxnLst/>
                <a:rect r="r" b="b" t="t" l="l"/>
                <a:pathLst>
                  <a:path h="1390947" w="9295640">
                    <a:moveTo>
                      <a:pt x="0" y="0"/>
                    </a:moveTo>
                    <a:lnTo>
                      <a:pt x="9295640" y="0"/>
                    </a:lnTo>
                    <a:lnTo>
                      <a:pt x="9295640" y="1390947"/>
                    </a:lnTo>
                    <a:lnTo>
                      <a:pt x="0" y="139094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47625"/>
                <a:ext cx="9295639" cy="14385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00"/>
                  </a:lnSpc>
                </a:pPr>
                <a:r>
                  <a:rPr lang="en-US" sz="2000" spc="-2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Effectiveness of Different Pre-Trained ViTs</a:t>
                </a:r>
              </a:p>
            </p:txBody>
          </p:sp>
        </p:grpSp>
      </p:grpSp>
      <p:grpSp>
        <p:nvGrpSpPr>
          <p:cNvPr name="Group 58" id="58"/>
          <p:cNvGrpSpPr/>
          <p:nvPr/>
        </p:nvGrpSpPr>
        <p:grpSpPr>
          <a:xfrm rot="0">
            <a:off x="1837170" y="7427996"/>
            <a:ext cx="13794373" cy="1082501"/>
            <a:chOff x="0" y="0"/>
            <a:chExt cx="18392497" cy="1443335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1584433" cy="1443335"/>
              <a:chOff x="0" y="0"/>
              <a:chExt cx="312974" cy="285103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312974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312974">
                    <a:moveTo>
                      <a:pt x="0" y="0"/>
                    </a:moveTo>
                    <a:lnTo>
                      <a:pt x="312974" y="0"/>
                    </a:lnTo>
                    <a:lnTo>
                      <a:pt x="312974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203866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9525"/>
                <a:ext cx="312974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Exp 6</a:t>
                </a: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0">
              <a:off x="11186660" y="0"/>
              <a:ext cx="7205837" cy="1437811"/>
              <a:chOff x="0" y="0"/>
              <a:chExt cx="1423375" cy="284012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423375" cy="284012"/>
              </a:xfrm>
              <a:custGeom>
                <a:avLst/>
                <a:gdLst/>
                <a:ahLst/>
                <a:cxnLst/>
                <a:rect r="r" b="b" t="t" l="l"/>
                <a:pathLst>
                  <a:path h="284012" w="1423375">
                    <a:moveTo>
                      <a:pt x="0" y="0"/>
                    </a:moveTo>
                    <a:lnTo>
                      <a:pt x="1423375" y="0"/>
                    </a:lnTo>
                    <a:lnTo>
                      <a:pt x="1423375" y="284012"/>
                    </a:lnTo>
                    <a:lnTo>
                      <a:pt x="0" y="284012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9525"/>
                <a:ext cx="1423375" cy="2935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Mixed data (Original + Synthetic) achieved the best performance</a:t>
                </a:r>
              </a:p>
            </p:txBody>
          </p:sp>
        </p:grpSp>
        <p:grpSp>
          <p:nvGrpSpPr>
            <p:cNvPr name="Group 65" id="65"/>
            <p:cNvGrpSpPr/>
            <p:nvPr/>
          </p:nvGrpSpPr>
          <p:grpSpPr>
            <a:xfrm rot="0">
              <a:off x="1584433" y="0"/>
              <a:ext cx="9602227" cy="1443335"/>
              <a:chOff x="0" y="0"/>
              <a:chExt cx="1896736" cy="285103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896736" cy="285103"/>
              </a:xfrm>
              <a:custGeom>
                <a:avLst/>
                <a:gdLst/>
                <a:ahLst/>
                <a:cxnLst/>
                <a:rect r="r" b="b" t="t" l="l"/>
                <a:pathLst>
                  <a:path h="285103" w="1896736">
                    <a:moveTo>
                      <a:pt x="0" y="0"/>
                    </a:moveTo>
                    <a:lnTo>
                      <a:pt x="1896736" y="0"/>
                    </a:lnTo>
                    <a:lnTo>
                      <a:pt x="1896736" y="285103"/>
                    </a:lnTo>
                    <a:lnTo>
                      <a:pt x="0" y="28510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9525"/>
                <a:ext cx="1896736" cy="2946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1891021" y="52389"/>
              <a:ext cx="9295639" cy="1390947"/>
              <a:chOff x="0" y="0"/>
              <a:chExt cx="9295639" cy="1390947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9295640" cy="1390947"/>
              </a:xfrm>
              <a:custGeom>
                <a:avLst/>
                <a:gdLst/>
                <a:ahLst/>
                <a:cxnLst/>
                <a:rect r="r" b="b" t="t" l="l"/>
                <a:pathLst>
                  <a:path h="1390947" w="9295640">
                    <a:moveTo>
                      <a:pt x="0" y="0"/>
                    </a:moveTo>
                    <a:lnTo>
                      <a:pt x="9295640" y="0"/>
                    </a:lnTo>
                    <a:lnTo>
                      <a:pt x="9295640" y="1390947"/>
                    </a:lnTo>
                    <a:lnTo>
                      <a:pt x="0" y="139094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47625"/>
                <a:ext cx="9295639" cy="14385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800"/>
                  </a:lnSpc>
                </a:pPr>
                <a:r>
                  <a:rPr lang="en-US" sz="2000" spc="-20" b="true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Effectiveness of GAN-Augmented Data</a:t>
                </a:r>
              </a:p>
            </p:txBody>
          </p:sp>
        </p:grpSp>
      </p:grpSp>
      <p:grpSp>
        <p:nvGrpSpPr>
          <p:cNvPr name="Group 71" id="71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30</a:t>
                </a:r>
              </a:p>
            </p:txBody>
          </p:sp>
        </p:grpSp>
        <p:grpSp>
          <p:nvGrpSpPr>
            <p:cNvPr name="Group 78" id="78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3662" y="0"/>
            <a:ext cx="7232136" cy="11679323"/>
          </a:xfrm>
          <a:custGeom>
            <a:avLst/>
            <a:gdLst/>
            <a:ahLst/>
            <a:cxnLst/>
            <a:rect r="r" b="b" t="t" l="l"/>
            <a:pathLst>
              <a:path h="11679323" w="7232136">
                <a:moveTo>
                  <a:pt x="0" y="0"/>
                </a:moveTo>
                <a:lnTo>
                  <a:pt x="7232136" y="0"/>
                </a:lnTo>
                <a:lnTo>
                  <a:pt x="7232136" y="11679323"/>
                </a:lnTo>
                <a:lnTo>
                  <a:pt x="0" y="11679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39149" y="2482232"/>
            <a:ext cx="12009702" cy="5101313"/>
          </a:xfrm>
          <a:custGeom>
            <a:avLst/>
            <a:gdLst/>
            <a:ahLst/>
            <a:cxnLst/>
            <a:rect r="r" b="b" t="t" l="l"/>
            <a:pathLst>
              <a:path h="5101313" w="12009702">
                <a:moveTo>
                  <a:pt x="0" y="0"/>
                </a:moveTo>
                <a:lnTo>
                  <a:pt x="12009702" y="0"/>
                </a:lnTo>
                <a:lnTo>
                  <a:pt x="12009702" y="5101314"/>
                </a:lnTo>
                <a:lnTo>
                  <a:pt x="0" y="5101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04883" y="8364240"/>
            <a:ext cx="7478234" cy="1465643"/>
            <a:chOff x="0" y="0"/>
            <a:chExt cx="9970978" cy="195419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114800" cy="1954190"/>
              <a:chOff x="0" y="0"/>
              <a:chExt cx="812800" cy="38601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386013"/>
              </a:xfrm>
              <a:custGeom>
                <a:avLst/>
                <a:gdLst/>
                <a:ahLst/>
                <a:cxnLst/>
                <a:rect r="r" b="b" t="t" l="l"/>
                <a:pathLst>
                  <a:path h="386013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386013"/>
                    </a:lnTo>
                    <a:lnTo>
                      <a:pt x="0" y="386013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9525"/>
                <a:ext cx="812800" cy="3764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  <a:r>
                  <a:rPr lang="en-US" b="true" sz="2999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Overall Accuracy</a:t>
                </a: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4114800" y="0"/>
              <a:ext cx="5856178" cy="1954190"/>
              <a:chOff x="0" y="0"/>
              <a:chExt cx="1156776" cy="38601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156776" cy="386013"/>
              </a:xfrm>
              <a:custGeom>
                <a:avLst/>
                <a:gdLst/>
                <a:ahLst/>
                <a:cxnLst/>
                <a:rect r="r" b="b" t="t" l="l"/>
                <a:pathLst>
                  <a:path h="386013" w="1156776">
                    <a:moveTo>
                      <a:pt x="0" y="0"/>
                    </a:moveTo>
                    <a:lnTo>
                      <a:pt x="1156776" y="0"/>
                    </a:lnTo>
                    <a:lnTo>
                      <a:pt x="1156776" y="386013"/>
                    </a:lnTo>
                    <a:lnTo>
                      <a:pt x="0" y="386013"/>
                    </a:lnTo>
                    <a:close/>
                  </a:path>
                </a:pathLst>
              </a:custGeom>
              <a:solidFill>
                <a:srgbClr val="19647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0"/>
                <a:ext cx="1156776" cy="3860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999"/>
                  </a:lnSpc>
                </a:pPr>
                <a:r>
                  <a:rPr lang="en-US" b="true" sz="4999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84.8%</a:t>
                </a: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837170" y="1028700"/>
            <a:ext cx="14613660" cy="1083182"/>
            <a:chOff x="0" y="0"/>
            <a:chExt cx="19484880" cy="14442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Final Model Results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39149" y="7874320"/>
            <a:ext cx="12009702" cy="360385"/>
            <a:chOff x="0" y="0"/>
            <a:chExt cx="16012936" cy="4805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12936" cy="480513"/>
            </a:xfrm>
            <a:custGeom>
              <a:avLst/>
              <a:gdLst/>
              <a:ahLst/>
              <a:cxnLst/>
              <a:rect r="r" b="b" t="t" l="l"/>
              <a:pathLst>
                <a:path h="480513" w="16012936">
                  <a:moveTo>
                    <a:pt x="0" y="0"/>
                  </a:moveTo>
                  <a:lnTo>
                    <a:pt x="16012936" y="0"/>
                  </a:lnTo>
                  <a:lnTo>
                    <a:pt x="16012936" y="480513"/>
                  </a:lnTo>
                  <a:lnTo>
                    <a:pt x="0" y="480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012936" cy="518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sz="1500" spc="-15">
                  <a:solidFill>
                    <a:srgbClr val="1B3862"/>
                  </a:solidFill>
                  <a:latin typeface="Inter"/>
                  <a:ea typeface="Inter"/>
                  <a:cs typeface="Inter"/>
                  <a:sym typeface="Inter"/>
                </a:rPr>
                <a:t>Performance of the Final Model on Individual Sleep Stages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31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3595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32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5669207" y="2364838"/>
          <a:ext cx="6949585" cy="6893462"/>
        </p:xfrm>
        <a:graphic>
          <a:graphicData uri="http://schemas.openxmlformats.org/drawingml/2006/table">
            <a:tbl>
              <a:tblPr/>
              <a:tblGrid>
                <a:gridCol w="4194149"/>
                <a:gridCol w="2755436"/>
              </a:tblGrid>
              <a:tr h="89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Data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47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Accuracy 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475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Healthy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87.9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Insomnia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92.8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Bruxism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82.4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Narcolepsy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88.2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NFLE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86.6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PLM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85.8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RBD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81.0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  <a:tr h="7492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SDB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86.9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5D1"/>
                    </a:solidFill>
                  </a:tcPr>
                </a:tc>
              </a:tr>
            </a:tbl>
          </a:graphicData>
        </a:graphic>
      </p:graphicFrame>
      <p:grpSp>
        <p:nvGrpSpPr>
          <p:cNvPr name="Group 17" id="17"/>
          <p:cNvGrpSpPr/>
          <p:nvPr/>
        </p:nvGrpSpPr>
        <p:grpSpPr>
          <a:xfrm rot="0">
            <a:off x="1837170" y="1028700"/>
            <a:ext cx="14613660" cy="1083182"/>
            <a:chOff x="0" y="0"/>
            <a:chExt cx="19484880" cy="14442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Evaluation on Sleep Disorder Datasets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9298" y="3225781"/>
            <a:ext cx="4878056" cy="4878056"/>
          </a:xfrm>
          <a:custGeom>
            <a:avLst/>
            <a:gdLst/>
            <a:ahLst/>
            <a:cxnLst/>
            <a:rect r="r" b="b" t="t" l="l"/>
            <a:pathLst>
              <a:path h="4878056" w="4878056">
                <a:moveTo>
                  <a:pt x="0" y="0"/>
                </a:moveTo>
                <a:lnTo>
                  <a:pt x="4878056" y="0"/>
                </a:lnTo>
                <a:lnTo>
                  <a:pt x="4878056" y="4878056"/>
                </a:lnTo>
                <a:lnTo>
                  <a:pt x="0" y="4878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37170" y="1028700"/>
            <a:ext cx="14613660" cy="1083182"/>
            <a:chOff x="0" y="0"/>
            <a:chExt cx="19484880" cy="14442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Conclusions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38438" y="4273833"/>
            <a:ext cx="11767270" cy="3389821"/>
            <a:chOff x="0" y="0"/>
            <a:chExt cx="15689694" cy="451976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396190" y="0"/>
              <a:ext cx="13910462" cy="1165926"/>
              <a:chOff x="0" y="0"/>
              <a:chExt cx="2747745" cy="23030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4774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47745">
                    <a:moveTo>
                      <a:pt x="0" y="0"/>
                    </a:moveTo>
                    <a:lnTo>
                      <a:pt x="2747745" y="0"/>
                    </a:lnTo>
                    <a:lnTo>
                      <a:pt x="274774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274774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396190" y="1664202"/>
              <a:ext cx="13910462" cy="1165926"/>
              <a:chOff x="0" y="0"/>
              <a:chExt cx="2747745" cy="23030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74774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47745">
                    <a:moveTo>
                      <a:pt x="0" y="0"/>
                    </a:moveTo>
                    <a:lnTo>
                      <a:pt x="2747745" y="0"/>
                    </a:lnTo>
                    <a:lnTo>
                      <a:pt x="274774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274774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664202"/>
              <a:ext cx="1186480" cy="1186480"/>
              <a:chOff x="0" y="0"/>
              <a:chExt cx="1071200" cy="107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1011" y="1721842"/>
              <a:ext cx="1143195" cy="978629"/>
              <a:chOff x="0" y="0"/>
              <a:chExt cx="1251332" cy="107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396190" y="3333282"/>
              <a:ext cx="13976026" cy="1165926"/>
              <a:chOff x="0" y="0"/>
              <a:chExt cx="2760697" cy="23030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760697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0697">
                    <a:moveTo>
                      <a:pt x="0" y="0"/>
                    </a:moveTo>
                    <a:lnTo>
                      <a:pt x="2760697" y="0"/>
                    </a:lnTo>
                    <a:lnTo>
                      <a:pt x="2760697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2760697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3333282"/>
              <a:ext cx="1186480" cy="1186480"/>
              <a:chOff x="0" y="0"/>
              <a:chExt cx="1071200" cy="1071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21011" y="3390922"/>
              <a:ext cx="1143195" cy="978629"/>
              <a:chOff x="0" y="0"/>
              <a:chExt cx="1251332" cy="107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79937" y="167038"/>
              <a:ext cx="1347154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ViT-B/16 with GASF + DWT at 128 Hz pe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rformed best for sleep stage classification.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579937" y="1841517"/>
              <a:ext cx="13726715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Combi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ning real and synthetic data improved accuracy, but synthetic-only data under performed.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79937" y="3713797"/>
              <a:ext cx="1410975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DCGAN-based augmentation helped address class imbalance and variability.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33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3074" y="3351765"/>
            <a:ext cx="4518654" cy="4518654"/>
          </a:xfrm>
          <a:custGeom>
            <a:avLst/>
            <a:gdLst/>
            <a:ahLst/>
            <a:cxnLst/>
            <a:rect r="r" b="b" t="t" l="l"/>
            <a:pathLst>
              <a:path h="4518654" w="4518654">
                <a:moveTo>
                  <a:pt x="0" y="0"/>
                </a:moveTo>
                <a:lnTo>
                  <a:pt x="4518654" y="0"/>
                </a:lnTo>
                <a:lnTo>
                  <a:pt x="4518654" y="4518654"/>
                </a:lnTo>
                <a:lnTo>
                  <a:pt x="0" y="4518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37170" y="1028700"/>
            <a:ext cx="14613660" cy="1083182"/>
            <a:chOff x="0" y="0"/>
            <a:chExt cx="19484880" cy="1444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Limitations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35950" y="-659011"/>
            <a:ext cx="14398476" cy="11491615"/>
            <a:chOff x="0" y="0"/>
            <a:chExt cx="19197969" cy="15322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01000" cy="15322153"/>
            </a:xfrm>
            <a:custGeom>
              <a:avLst/>
              <a:gdLst/>
              <a:ahLst/>
              <a:cxnLst/>
              <a:rect r="r" b="b" t="t" l="l"/>
              <a:pathLst>
                <a:path h="15322153" w="5701000">
                  <a:moveTo>
                    <a:pt x="0" y="0"/>
                  </a:moveTo>
                  <a:lnTo>
                    <a:pt x="5701000" y="0"/>
                  </a:lnTo>
                  <a:lnTo>
                    <a:pt x="5701000" y="15322153"/>
                  </a:lnTo>
                  <a:lnTo>
                    <a:pt x="0" y="15322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5221942" y="5265717"/>
              <a:ext cx="13910462" cy="1165926"/>
              <a:chOff x="0" y="0"/>
              <a:chExt cx="2747745" cy="23030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74774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47745">
                    <a:moveTo>
                      <a:pt x="0" y="0"/>
                    </a:moveTo>
                    <a:lnTo>
                      <a:pt x="2747745" y="0"/>
                    </a:lnTo>
                    <a:lnTo>
                      <a:pt x="274774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9525"/>
                <a:ext cx="274774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825752" y="5265717"/>
              <a:ext cx="1186480" cy="1186480"/>
              <a:chOff x="0" y="0"/>
              <a:chExt cx="1071200" cy="10712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3846763" y="5323357"/>
              <a:ext cx="1143195" cy="978629"/>
              <a:chOff x="0" y="0"/>
              <a:chExt cx="1251332" cy="1071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221942" y="6929919"/>
              <a:ext cx="13910462" cy="1165926"/>
              <a:chOff x="0" y="0"/>
              <a:chExt cx="2747745" cy="23030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74774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47745">
                    <a:moveTo>
                      <a:pt x="0" y="0"/>
                    </a:moveTo>
                    <a:lnTo>
                      <a:pt x="2747745" y="0"/>
                    </a:lnTo>
                    <a:lnTo>
                      <a:pt x="274774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274774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3825752" y="6929919"/>
              <a:ext cx="1186480" cy="1186480"/>
              <a:chOff x="0" y="0"/>
              <a:chExt cx="1071200" cy="10712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846763" y="6987559"/>
              <a:ext cx="1143195" cy="978629"/>
              <a:chOff x="0" y="0"/>
              <a:chExt cx="1251332" cy="1071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221942" y="8598999"/>
              <a:ext cx="13976026" cy="1165926"/>
              <a:chOff x="0" y="0"/>
              <a:chExt cx="2760697" cy="23030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760697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0697">
                    <a:moveTo>
                      <a:pt x="0" y="0"/>
                    </a:moveTo>
                    <a:lnTo>
                      <a:pt x="2760697" y="0"/>
                    </a:lnTo>
                    <a:lnTo>
                      <a:pt x="2760697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2760697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3825752" y="8598999"/>
              <a:ext cx="1186480" cy="1186480"/>
              <a:chOff x="0" y="0"/>
              <a:chExt cx="1071200" cy="1071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3846763" y="8656639"/>
              <a:ext cx="1143195" cy="978629"/>
              <a:chOff x="0" y="0"/>
              <a:chExt cx="1251332" cy="107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5221942" y="10268079"/>
              <a:ext cx="13976026" cy="1165926"/>
              <a:chOff x="0" y="0"/>
              <a:chExt cx="2760697" cy="23030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760697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0697">
                    <a:moveTo>
                      <a:pt x="0" y="0"/>
                    </a:moveTo>
                    <a:lnTo>
                      <a:pt x="2760697" y="0"/>
                    </a:lnTo>
                    <a:lnTo>
                      <a:pt x="2760697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2760697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3825752" y="10268079"/>
              <a:ext cx="1186480" cy="1186480"/>
              <a:chOff x="0" y="0"/>
              <a:chExt cx="1071200" cy="10712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3846763" y="10325719"/>
              <a:ext cx="1143195" cy="978629"/>
              <a:chOff x="0" y="0"/>
              <a:chExt cx="1251332" cy="107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5405689" y="5432755"/>
              <a:ext cx="1347154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model gen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eralizability to broader sleep conditions and populations remains uncertain.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405689" y="7107234"/>
              <a:ext cx="1347154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GAN-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generated data helped with class imbalance but was not reliable when used independently, requiring better GAN architectures.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5393930" y="8776314"/>
              <a:ext cx="13738474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Vision Transformers are resource-intensive, making real-time deployment in wearable devices challenging.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5405689" y="10399109"/>
              <a:ext cx="13483307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ViTs function as black boxes, making it difficult to understand their decision-making process; explainability techniques are needed.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34</a:t>
                </a: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12800" y="-659011"/>
            <a:ext cx="4275750" cy="11491615"/>
          </a:xfrm>
          <a:custGeom>
            <a:avLst/>
            <a:gdLst/>
            <a:ahLst/>
            <a:cxnLst/>
            <a:rect r="r" b="b" t="t" l="l"/>
            <a:pathLst>
              <a:path h="11491615" w="4275750">
                <a:moveTo>
                  <a:pt x="0" y="0"/>
                </a:moveTo>
                <a:lnTo>
                  <a:pt x="4275750" y="0"/>
                </a:lnTo>
                <a:lnTo>
                  <a:pt x="4275750" y="11491614"/>
                </a:lnTo>
                <a:lnTo>
                  <a:pt x="0" y="1149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37170" y="1028700"/>
            <a:ext cx="14613660" cy="1083182"/>
            <a:chOff x="0" y="0"/>
            <a:chExt cx="19484880" cy="1444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84880" cy="1444243"/>
            </a:xfrm>
            <a:custGeom>
              <a:avLst/>
              <a:gdLst/>
              <a:ahLst/>
              <a:cxnLst/>
              <a:rect r="r" b="b" t="t" l="l"/>
              <a:pathLst>
                <a:path h="1444243" w="19484880">
                  <a:moveTo>
                    <a:pt x="0" y="0"/>
                  </a:moveTo>
                  <a:lnTo>
                    <a:pt x="19484880" y="0"/>
                  </a:lnTo>
                  <a:lnTo>
                    <a:pt x="19484880" y="1444243"/>
                  </a:lnTo>
                  <a:lnTo>
                    <a:pt x="0" y="1444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9484880" cy="14347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9"/>
                </a:lnSpc>
              </a:pPr>
              <a:r>
                <a:rPr lang="en-US" sz="5999" b="true">
                  <a:solidFill>
                    <a:srgbClr val="203866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Further Work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21513" y="2774313"/>
            <a:ext cx="11529162" cy="5893441"/>
            <a:chOff x="0" y="0"/>
            <a:chExt cx="15372217" cy="785792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396190" y="0"/>
              <a:ext cx="13910462" cy="1165926"/>
              <a:chOff x="0" y="0"/>
              <a:chExt cx="2747745" cy="23030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4774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47745">
                    <a:moveTo>
                      <a:pt x="0" y="0"/>
                    </a:moveTo>
                    <a:lnTo>
                      <a:pt x="2747745" y="0"/>
                    </a:lnTo>
                    <a:lnTo>
                      <a:pt x="274774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9525"/>
                <a:ext cx="274774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186480" cy="1186480"/>
              <a:chOff x="0" y="0"/>
              <a:chExt cx="1071200" cy="1071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1011" y="57640"/>
              <a:ext cx="1143195" cy="978629"/>
              <a:chOff x="0" y="0"/>
              <a:chExt cx="1251332" cy="10712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1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96190" y="1664202"/>
              <a:ext cx="13910462" cy="1165926"/>
              <a:chOff x="0" y="0"/>
              <a:chExt cx="2747745" cy="23030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747745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47745">
                    <a:moveTo>
                      <a:pt x="0" y="0"/>
                    </a:moveTo>
                    <a:lnTo>
                      <a:pt x="2747745" y="0"/>
                    </a:lnTo>
                    <a:lnTo>
                      <a:pt x="2747745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2747745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664202"/>
              <a:ext cx="1186480" cy="1186480"/>
              <a:chOff x="0" y="0"/>
              <a:chExt cx="1071200" cy="1071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21011" y="1721842"/>
              <a:ext cx="1143195" cy="978629"/>
              <a:chOff x="0" y="0"/>
              <a:chExt cx="1251332" cy="1071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2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396190" y="3333282"/>
              <a:ext cx="13976026" cy="1165926"/>
              <a:chOff x="0" y="0"/>
              <a:chExt cx="2760697" cy="23030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760697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0697">
                    <a:moveTo>
                      <a:pt x="0" y="0"/>
                    </a:moveTo>
                    <a:lnTo>
                      <a:pt x="2760697" y="0"/>
                    </a:lnTo>
                    <a:lnTo>
                      <a:pt x="2760697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9525"/>
                <a:ext cx="2760697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3333282"/>
              <a:ext cx="1186480" cy="1186480"/>
              <a:chOff x="0" y="0"/>
              <a:chExt cx="1071200" cy="10712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21011" y="3390922"/>
              <a:ext cx="1143195" cy="978629"/>
              <a:chOff x="0" y="0"/>
              <a:chExt cx="1251332" cy="1071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3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579937" y="167038"/>
              <a:ext cx="1347154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Enhance synthetic data quality by using advanc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ed GANs like StyleGAN or cGANs to reduce artifacts and blurring.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79937" y="1841517"/>
              <a:ext cx="13726715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</a:t>
              </a: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valuate the model on larger, more diverse datasets beyond used dataset to enhance generalization across populations and sleep conditions.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579937" y="3500320"/>
              <a:ext cx="1347154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Evaluate the model on real-world sleep studies, including clinical datasets and long-term wearable device data, to assess practical applicability.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1396190" y="5002362"/>
              <a:ext cx="13976026" cy="1165926"/>
              <a:chOff x="0" y="0"/>
              <a:chExt cx="2760697" cy="23030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760697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0697">
                    <a:moveTo>
                      <a:pt x="0" y="0"/>
                    </a:moveTo>
                    <a:lnTo>
                      <a:pt x="2760697" y="0"/>
                    </a:lnTo>
                    <a:lnTo>
                      <a:pt x="2760697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2760697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5002362"/>
              <a:ext cx="1186480" cy="1186480"/>
              <a:chOff x="0" y="0"/>
              <a:chExt cx="1071200" cy="10712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1011" y="5060002"/>
              <a:ext cx="1143195" cy="978629"/>
              <a:chOff x="0" y="0"/>
              <a:chExt cx="1251332" cy="1071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4</a:t>
                </a: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568178" y="5133392"/>
              <a:ext cx="1380403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Explore hybrid models combining ViTs with CNNs or RNNs to improve performance, especially for sequential data.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1396190" y="6671442"/>
              <a:ext cx="13976026" cy="1165926"/>
              <a:chOff x="0" y="0"/>
              <a:chExt cx="2760697" cy="230306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760697" cy="230306"/>
              </a:xfrm>
              <a:custGeom>
                <a:avLst/>
                <a:gdLst/>
                <a:ahLst/>
                <a:cxnLst/>
                <a:rect r="r" b="b" t="t" l="l"/>
                <a:pathLst>
                  <a:path h="230306" w="2760697">
                    <a:moveTo>
                      <a:pt x="0" y="0"/>
                    </a:moveTo>
                    <a:lnTo>
                      <a:pt x="2760697" y="0"/>
                    </a:lnTo>
                    <a:lnTo>
                      <a:pt x="2760697" y="230306"/>
                    </a:lnTo>
                    <a:lnTo>
                      <a:pt x="0" y="230306"/>
                    </a:lnTo>
                    <a:close/>
                  </a:path>
                </a:pathLst>
              </a:custGeom>
              <a:solidFill>
                <a:srgbClr val="DEE5EB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9525"/>
                <a:ext cx="2760697" cy="2398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2400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6671442"/>
              <a:ext cx="1186480" cy="1186480"/>
              <a:chOff x="0" y="0"/>
              <a:chExt cx="1071200" cy="10712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71245" cy="1071245"/>
              </a:xfrm>
              <a:custGeom>
                <a:avLst/>
                <a:gdLst/>
                <a:ahLst/>
                <a:cxnLst/>
                <a:rect r="r" b="b" t="t" l="l"/>
                <a:pathLst>
                  <a:path h="1071245" w="1071245">
                    <a:moveTo>
                      <a:pt x="0" y="417957"/>
                    </a:moveTo>
                    <a:cubicBezTo>
                      <a:pt x="0" y="187071"/>
                      <a:pt x="187071" y="0"/>
                      <a:pt x="417957" y="0"/>
                    </a:cubicBezTo>
                    <a:lnTo>
                      <a:pt x="653288" y="0"/>
                    </a:lnTo>
                    <a:cubicBezTo>
                      <a:pt x="884047" y="0"/>
                      <a:pt x="1071245" y="187071"/>
                      <a:pt x="1071245" y="417957"/>
                    </a:cubicBezTo>
                    <a:lnTo>
                      <a:pt x="1071245" y="653288"/>
                    </a:lnTo>
                    <a:cubicBezTo>
                      <a:pt x="1071245" y="884047"/>
                      <a:pt x="884174" y="1071245"/>
                      <a:pt x="653288" y="1071245"/>
                    </a:cubicBezTo>
                    <a:lnTo>
                      <a:pt x="417957" y="1071245"/>
                    </a:lnTo>
                    <a:cubicBezTo>
                      <a:pt x="187071" y="1071245"/>
                      <a:pt x="0" y="884047"/>
                      <a:pt x="0" y="653288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ACE6D6">
                      <a:alpha val="100000"/>
                    </a:srgbClr>
                  </a:gs>
                  <a:gs pos="100000">
                    <a:srgbClr val="45BCD7">
                      <a:alpha val="100000"/>
                    </a:srgbClr>
                  </a:gs>
                </a:gsLst>
                <a:lin ang="0"/>
              </a:gradFill>
            </p:spPr>
          </p:sp>
        </p:grpSp>
        <p:grpSp>
          <p:nvGrpSpPr>
            <p:cNvPr name="Group 48" id="48"/>
            <p:cNvGrpSpPr/>
            <p:nvPr/>
          </p:nvGrpSpPr>
          <p:grpSpPr>
            <a:xfrm rot="0">
              <a:off x="21011" y="6729082"/>
              <a:ext cx="1143195" cy="978629"/>
              <a:chOff x="0" y="0"/>
              <a:chExt cx="1251332" cy="10712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251332" cy="1071200"/>
              </a:xfrm>
              <a:custGeom>
                <a:avLst/>
                <a:gdLst/>
                <a:ahLst/>
                <a:cxnLst/>
                <a:rect r="r" b="b" t="t" l="l"/>
                <a:pathLst>
                  <a:path h="1071200" w="1251332">
                    <a:moveTo>
                      <a:pt x="0" y="0"/>
                    </a:moveTo>
                    <a:lnTo>
                      <a:pt x="1251332" y="0"/>
                    </a:lnTo>
                    <a:lnTo>
                      <a:pt x="1251332" y="1071200"/>
                    </a:lnTo>
                    <a:lnTo>
                      <a:pt x="0" y="1071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0"/>
                <a:ext cx="1251332" cy="107120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800"/>
                  </a:lnSpc>
                </a:pPr>
                <a:r>
                  <a:rPr lang="en-US" b="true" sz="4000">
                    <a:solidFill>
                      <a:srgbClr val="FFFFFF"/>
                    </a:solidFill>
                    <a:latin typeface="Amaranth Bold"/>
                    <a:ea typeface="Amaranth Bold"/>
                    <a:cs typeface="Amaranth Bold"/>
                    <a:sym typeface="Amaranth Bold"/>
                  </a:rPr>
                  <a:t>5</a:t>
                </a: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568178" y="6802472"/>
              <a:ext cx="13804038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Focus on model interpretability to enhance trust and understanding, especially for clinical applications.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443564" y="3107569"/>
            <a:ext cx="5297277" cy="5297277"/>
          </a:xfrm>
          <a:custGeom>
            <a:avLst/>
            <a:gdLst/>
            <a:ahLst/>
            <a:cxnLst/>
            <a:rect r="r" b="b" t="t" l="l"/>
            <a:pathLst>
              <a:path h="5297277" w="5297277">
                <a:moveTo>
                  <a:pt x="0" y="0"/>
                </a:moveTo>
                <a:lnTo>
                  <a:pt x="5297277" y="0"/>
                </a:lnTo>
                <a:lnTo>
                  <a:pt x="5297277" y="5297276"/>
                </a:lnTo>
                <a:lnTo>
                  <a:pt x="0" y="5297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0" y="9921328"/>
            <a:ext cx="4620600" cy="679962"/>
            <a:chOff x="0" y="0"/>
            <a:chExt cx="6160800" cy="906616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2046000" y="0"/>
              <a:ext cx="4114800" cy="906616"/>
              <a:chOff x="0" y="0"/>
              <a:chExt cx="812800" cy="17908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179085"/>
              </a:xfrm>
              <a:custGeom>
                <a:avLst/>
                <a:gdLst/>
                <a:ahLst/>
                <a:cxnLst/>
                <a:rect r="r" b="b" t="t" l="l"/>
                <a:pathLst>
                  <a:path h="179085" w="812800">
                    <a:moveTo>
                      <a:pt x="203200" y="0"/>
                    </a:moveTo>
                    <a:lnTo>
                      <a:pt x="812800" y="0"/>
                    </a:lnTo>
                    <a:lnTo>
                      <a:pt x="609600" y="179085"/>
                    </a:lnTo>
                    <a:lnTo>
                      <a:pt x="0" y="17908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0ADA6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101600" y="0"/>
                <a:ext cx="609600" cy="1790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4092000" y="0"/>
              <a:ext cx="1393778" cy="541359"/>
              <a:chOff x="0" y="0"/>
              <a:chExt cx="1217033" cy="47271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217033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1217033">
                    <a:moveTo>
                      <a:pt x="0" y="0"/>
                    </a:moveTo>
                    <a:lnTo>
                      <a:pt x="1217033" y="0"/>
                    </a:lnTo>
                    <a:lnTo>
                      <a:pt x="1217033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1217033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   35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0" y="0"/>
              <a:ext cx="4092000" cy="541359"/>
              <a:chOff x="0" y="0"/>
              <a:chExt cx="808296" cy="106935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808296" cy="106935"/>
              </a:xfrm>
              <a:custGeom>
                <a:avLst/>
                <a:gdLst/>
                <a:ahLst/>
                <a:cxnLst/>
                <a:rect r="r" b="b" t="t" l="l"/>
                <a:pathLst>
                  <a:path h="106935" w="808296">
                    <a:moveTo>
                      <a:pt x="0" y="0"/>
                    </a:moveTo>
                    <a:lnTo>
                      <a:pt x="808296" y="0"/>
                    </a:lnTo>
                    <a:lnTo>
                      <a:pt x="808296" y="106935"/>
                    </a:lnTo>
                    <a:lnTo>
                      <a:pt x="0" y="106935"/>
                    </a:lnTo>
                    <a:close/>
                  </a:path>
                </a:pathLst>
              </a:custGeom>
              <a:solidFill>
                <a:srgbClr val="1B3862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0"/>
                <a:ext cx="808296" cy="1069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60093" y="0"/>
              <a:ext cx="4064653" cy="541359"/>
              <a:chOff x="0" y="0"/>
              <a:chExt cx="3549215" cy="47271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3549215" cy="472710"/>
              </a:xfrm>
              <a:custGeom>
                <a:avLst/>
                <a:gdLst/>
                <a:ahLst/>
                <a:cxnLst/>
                <a:rect r="r" b="b" t="t" l="l"/>
                <a:pathLst>
                  <a:path h="472710" w="3549215">
                    <a:moveTo>
                      <a:pt x="0" y="0"/>
                    </a:moveTo>
                    <a:lnTo>
                      <a:pt x="3549215" y="0"/>
                    </a:lnTo>
                    <a:lnTo>
                      <a:pt x="3549215" y="472710"/>
                    </a:lnTo>
                    <a:lnTo>
                      <a:pt x="0" y="47271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47625"/>
                <a:ext cx="3549215" cy="520335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ctr">
                  <a:lnSpc>
                    <a:spcPts val="2640"/>
                  </a:lnSpc>
                </a:pPr>
                <a:r>
                  <a:rPr lang="en-US" sz="2200" b="true">
                    <a:solidFill>
                      <a:srgbClr val="FFFFFF"/>
                    </a:solidFill>
                    <a:latin typeface="Arial MT Pro Bold"/>
                    <a:ea typeface="Arial MT Pro Bold"/>
                    <a:cs typeface="Arial MT Pro Bold"/>
                    <a:sym typeface="Arial MT Pro Bold"/>
                  </a:rPr>
                  <a:t>Page</a:t>
                </a:r>
              </a:p>
            </p:txBody>
          </p:sp>
        </p:grpSp>
      </p:grpSp>
    </p:spTree>
  </p:cSld>
  <p:clrMapOvr>
    <a:masterClrMapping/>
  </p:clrMapOvr>
  <p:transition spd="slow">
    <p:cover dir="ld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01683" y="-4163642"/>
            <a:ext cx="26314083" cy="18722362"/>
          </a:xfrm>
          <a:custGeom>
            <a:avLst/>
            <a:gdLst/>
            <a:ahLst/>
            <a:cxnLst/>
            <a:rect r="r" b="b" t="t" l="l"/>
            <a:pathLst>
              <a:path h="18722362" w="26314083">
                <a:moveTo>
                  <a:pt x="0" y="0"/>
                </a:moveTo>
                <a:lnTo>
                  <a:pt x="26314083" y="0"/>
                </a:lnTo>
                <a:lnTo>
                  <a:pt x="26314083" y="18722362"/>
                </a:lnTo>
                <a:lnTo>
                  <a:pt x="0" y="18722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22627" y="2141400"/>
            <a:ext cx="14042746" cy="6004200"/>
            <a:chOff x="0" y="0"/>
            <a:chExt cx="18723661" cy="8005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23662" cy="8005600"/>
            </a:xfrm>
            <a:custGeom>
              <a:avLst/>
              <a:gdLst/>
              <a:ahLst/>
              <a:cxnLst/>
              <a:rect r="r" b="b" t="t" l="l"/>
              <a:pathLst>
                <a:path h="8005600" w="18723662">
                  <a:moveTo>
                    <a:pt x="0" y="0"/>
                  </a:moveTo>
                  <a:lnTo>
                    <a:pt x="18723662" y="0"/>
                  </a:lnTo>
                  <a:lnTo>
                    <a:pt x="18723662" y="8005600"/>
                  </a:lnTo>
                  <a:lnTo>
                    <a:pt x="0" y="80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8723661" cy="801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120"/>
                </a:lnSpc>
              </a:pPr>
              <a:r>
                <a:rPr lang="en-US" sz="17600" b="true">
                  <a:solidFill>
                    <a:srgbClr val="196475"/>
                  </a:solidFill>
                  <a:latin typeface="Amaranth Bold"/>
                  <a:ea typeface="Amaranth Bold"/>
                  <a:cs typeface="Amaranth Bold"/>
                  <a:sym typeface="Amaranth Bold"/>
                </a:rPr>
                <a:t>Thank You!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DAGik37Ynq0</dc:identifier>
  <dcterms:modified xsi:type="dcterms:W3CDTF">2011-08-01T06:04:30Z</dcterms:modified>
  <cp:revision>1</cp:revision>
  <dc:title>Sleep Stage Thesis</dc:title>
</cp:coreProperties>
</file>