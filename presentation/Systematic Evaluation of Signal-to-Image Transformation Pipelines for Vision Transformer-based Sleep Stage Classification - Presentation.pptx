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2.jfif" ContentType="image/jpe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9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800" b="1">
                <a:latin typeface="Arial"/>
              </a:rPr>
              <a:t>Epoch share by sleep stage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Epochs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1-D7B6-42D6-953E-DD38759F4724}"/>
              </c:ext>
            </c:extLst>
          </c:dPt>
          <c:dPt>
            <c:idx val="1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3-D7B6-42D6-953E-DD38759F4724}"/>
              </c:ext>
            </c:extLst>
          </c:dPt>
          <c:dPt>
            <c:idx val="2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5-D7B6-42D6-953E-DD38759F4724}"/>
              </c:ext>
            </c:extLst>
          </c:dPt>
          <c:dPt>
            <c:idx val="3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7-D7B6-42D6-953E-DD38759F4724}"/>
              </c:ext>
            </c:extLst>
          </c:dPt>
          <c:dPt>
            <c:idx val="4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9-D7B6-42D6-953E-DD38759F4724}"/>
              </c:ext>
            </c:extLst>
          </c:dPt>
          <c:dPt>
            <c:idx val="5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B-D7B6-42D6-953E-DD38759F4724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6.5</c:v>
                </c:pt>
                <c:pt idx="2">
                  <c:v>47.7</c:v>
                </c:pt>
                <c:pt idx="3">
                  <c:v>10.5</c:v>
                </c:pt>
                <c:pt idx="4">
                  <c:v>8.6</c:v>
                </c:pt>
                <c:pt idx="5">
                  <c:v>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C-D7B6-42D6-953E-DD38759F472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6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6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E31A-449E-9C4D-97A31F60BE4C}"/>
              </c:ext>
            </c:extLst>
          </c:dPt>
          <c:dPt>
            <c:idx val="1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3-E31A-449E-9C4D-97A31F60BE4C}"/>
              </c:ext>
            </c:extLst>
          </c:dPt>
          <c:dPt>
            <c:idx val="2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5-E31A-449E-9C4D-97A31F60BE4C}"/>
              </c:ext>
            </c:extLst>
          </c:dPt>
          <c:dPt>
            <c:idx val="3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7-E31A-449E-9C4D-97A31F60BE4C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GASF</c:v>
                </c:pt>
                <c:pt idx="1">
                  <c:v>GADF</c:v>
                </c:pt>
                <c:pt idx="2">
                  <c:v>MTF</c:v>
                </c:pt>
                <c:pt idx="3">
                  <c:v>Spectrogram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78.5</c:v>
                </c:pt>
                <c:pt idx="1">
                  <c:v>77.2</c:v>
                </c:pt>
                <c:pt idx="2">
                  <c:v>75.8</c:v>
                </c:pt>
                <c:pt idx="3">
                  <c:v>74.099999999999994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E31A-449E-9C4D-97A31F60BE4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2"/>
          <c:min val="6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DWT</c:v>
                </c:pt>
              </c:strCache>
            </c:strRef>
          </c:tx>
          <c:spPr>
            <a:ln w="44450">
              <a:solidFill>
                <a:srgbClr val="6A2C91"/>
              </a:solidFill>
            </a:ln>
          </c:spPr>
          <c:marker>
            <c:symbol val="diamond"/>
            <c:size val="9"/>
            <c:spPr>
              <a:solidFill>
                <a:srgbClr val="6A2C91"/>
              </a:solidFill>
              <a:ln>
                <a:solidFill>
                  <a:srgbClr val="6A2C91"/>
                </a:solidFill>
              </a:ln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75.900000000000006</c:v>
                </c:pt>
                <c:pt idx="1">
                  <c:v>80.3</c:v>
                </c:pt>
                <c:pt idx="2">
                  <c:v>79.099999999999994</c:v>
                </c:pt>
                <c:pt idx="3">
                  <c:v>78.5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BB-46E3-88D1-FEBADA9511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FFT</c:v>
                </c:pt>
              </c:strCache>
            </c:strRef>
          </c:tx>
          <c:spPr>
            <a:ln w="44450">
              <a:solidFill>
                <a:srgbClr val="B8B8C0"/>
              </a:solidFill>
            </a:ln>
          </c:spPr>
          <c:marker>
            <c:symbol val="square"/>
            <c:size val="9"/>
            <c:spPr>
              <a:solidFill>
                <a:srgbClr val="B8B8C0"/>
              </a:solidFill>
              <a:ln>
                <a:solidFill>
                  <a:srgbClr val="B8B8C0"/>
                </a:solidFill>
              </a:ln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73.5</c:v>
                </c:pt>
                <c:pt idx="1">
                  <c:v>76.2</c:v>
                </c:pt>
                <c:pt idx="2">
                  <c:v>77.8</c:v>
                </c:pt>
                <c:pt idx="3">
                  <c:v>78.5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BB-46E3-88D1-FEBADA95115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82"/>
          <c:min val="7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2118791784"/>
        <c:crosses val="autoZero"/>
        <c:crossBetween val="between"/>
        <c:majorUnit val="4"/>
      </c:valAx>
    </c:plotArea>
    <c:legend>
      <c:legendPos val="b"/>
      <c:overlay val="0"/>
      <c:txPr>
        <a:bodyPr/>
        <a:lstStyle/>
        <a:p>
          <a:pPr>
            <a:defRPr sz="1800"/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Pre-trained ViT-B/16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86.2</c:v>
                </c:pt>
                <c:pt idx="1">
                  <c:v>80.5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8F2-4F60-900E-49DE2B1A12B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From scratch</c:v>
                </c:pt>
              </c:strCache>
            </c:strRef>
          </c:tx>
          <c:spPr>
            <a:solidFill>
              <a:srgbClr val="B8B8C0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74.8</c:v>
                </c:pt>
                <c:pt idx="1">
                  <c:v>68.3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8F2-4F60-900E-49DE2B1A12B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2"/>
          <c:min val="5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10"/>
      </c:valAx>
    </c:plotArea>
    <c:legend>
      <c:legendPos val="b"/>
      <c:overlay val="0"/>
      <c:txPr>
        <a:bodyPr/>
        <a:lstStyle/>
        <a:p>
          <a:pPr>
            <a:defRPr sz="18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1-B2B5-404B-924E-BC2C707EC10A}"/>
              </c:ext>
            </c:extLst>
          </c:dPt>
          <c:dPt>
            <c:idx val="1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3-B2B5-404B-924E-BC2C707EC10A}"/>
              </c:ext>
            </c:extLst>
          </c:dPt>
          <c:dPt>
            <c:idx val="2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5-B2B5-404B-924E-BC2C707EC10A}"/>
              </c:ext>
            </c:extLst>
          </c:dPt>
          <c:dPt>
            <c:idx val="3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7-B2B5-404B-924E-BC2C707EC10A}"/>
              </c:ext>
            </c:extLst>
          </c:dPt>
          <c:dPt>
            <c:idx val="4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9-B2B5-404B-924E-BC2C707EC10A}"/>
              </c:ext>
            </c:extLst>
          </c:dPt>
          <c:dPt>
            <c:idx val="5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B-B2B5-404B-924E-BC2C707EC10A}"/>
              </c:ext>
            </c:extLst>
          </c:dPt>
          <c:dPt>
            <c:idx val="6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D-B2B5-404B-924E-BC2C707EC10A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ResNet-50</c:v>
                </c:pt>
                <c:pt idx="1">
                  <c:v>PVT-Small</c:v>
                </c:pt>
                <c:pt idx="2">
                  <c:v>ViT-B/32</c:v>
                </c:pt>
                <c:pt idx="3">
                  <c:v>DeiT-B</c:v>
                </c:pt>
                <c:pt idx="4">
                  <c:v>BEiT-B</c:v>
                </c:pt>
                <c:pt idx="5">
                  <c:v>Swin-B</c:v>
                </c:pt>
                <c:pt idx="6">
                  <c:v>ViT-B/16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76.2</c:v>
                </c:pt>
                <c:pt idx="1">
                  <c:v>81.8</c:v>
                </c:pt>
                <c:pt idx="2">
                  <c:v>83.2</c:v>
                </c:pt>
                <c:pt idx="3">
                  <c:v>84.3</c:v>
                </c:pt>
                <c:pt idx="4">
                  <c:v>84.6</c:v>
                </c:pt>
                <c:pt idx="5">
                  <c:v>85.1</c:v>
                </c:pt>
                <c:pt idx="6">
                  <c:v>86.2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E-B2B5-404B-924E-BC2C707EC10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0"/>
          <c:min val="70"/>
        </c:scaling>
        <c:delete val="0"/>
        <c:axPos val="b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800" b="1">
                <a:latin typeface="Arial"/>
              </a:rPr>
              <a:t>Per-class F1 score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Balanced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0.90500000000000003</c:v>
                </c:pt>
                <c:pt idx="1">
                  <c:v>0.72099999999999997</c:v>
                </c:pt>
                <c:pt idx="2">
                  <c:v>0.92200000000000004</c:v>
                </c:pt>
                <c:pt idx="3">
                  <c:v>0.8</c:v>
                </c:pt>
                <c:pt idx="4">
                  <c:v>0.78400000000000003</c:v>
                </c:pt>
                <c:pt idx="5">
                  <c:v>0.79500000000000004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030-4E08-A552-41F681A9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Imbalanced</c:v>
                </c:pt>
              </c:strCache>
            </c:strRef>
          </c:tx>
          <c:spPr>
            <a:solidFill>
              <a:srgbClr val="B8B8C0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0.85199999999999998</c:v>
                </c:pt>
                <c:pt idx="1">
                  <c:v>0.51200000000000001</c:v>
                </c:pt>
                <c:pt idx="2">
                  <c:v>0.88700000000000001</c:v>
                </c:pt>
                <c:pt idx="3">
                  <c:v>0.66700000000000004</c:v>
                </c:pt>
                <c:pt idx="4">
                  <c:v>0.64700000000000002</c:v>
                </c:pt>
                <c:pt idx="5">
                  <c:v>0.85099999999999998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030-4E08-A552-41F681A924E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4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0.25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223329-03F0-FF8F-B36F-125319C667C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DAE4C0-6C13-ACE3-E4D0-367369B332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C30534-A088-416E-A2F9-35D140DE51C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C4B510-C6C8-FC79-60AA-55D1C9A048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0B21A2-5BE4-97DB-6582-2D288265E5D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54FF4C-B3CD-4FE6-A436-84C841BE6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136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5C05B-51E2-45C0-825E-6D2B9E51675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2BBA8-BED4-4509-B761-494B8FCD1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711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1CBE5-77A0-4FDD-85F7-FC2D1852FEF2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193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4F44A-77D3-4BB8-9A23-DA098C140D0C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26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0C2B9-7629-4850-85D5-711B31CBC5B4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39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35A0E-08F7-45F6-B9C3-BFE3E108BB1A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7742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58671-6C49-4FB4-B44C-0EF2DF8CC272}" type="datetime1">
              <a:rPr lang="en-GB" smtClean="0"/>
              <a:t>07/10/2026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46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36E87-C810-4AA2-A0C3-D9F9E17DC1BA}" type="datetime1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095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0574A-20FB-4D1F-BE5E-DEF165510D6A}" type="datetime1">
              <a:rPr lang="en-GB" smtClean="0"/>
              <a:t>07/10/2026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778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36B1B-D984-4E94-893A-04A31792E094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5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DF240-5094-4DA6-BEA6-75E5E377CA15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7363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D2B9-55BA-4BF0-819B-00B31A404040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371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95255-AC07-47F9-AA41-C5403224B816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33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7C2D0-045A-4468-98A8-AC6B66F93128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44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fif"/><Relationship Id="rId4" Type="http://schemas.openxmlformats.org/officeDocument/2006/relationships/image" Target="../media/image3.jpeg"/><Relationship Id="rId5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5.png"/><Relationship Id="rId7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3.xml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4.xml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6.xml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2.png"/><Relationship Id="rId8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fif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2850000"/>
            <a:ext cx="9966960" cy="1828800"/>
          </a:xfrm>
        </p:spPr>
        <p:txBody>
          <a:bodyPr anchor="ctr">
            <a:noAutofit/>
          </a:bodyPr>
          <a:lstStyle/>
          <a:p>
            <a:r>
              <a:rPr sz="3400" b="1" i="0">
                <a:solidFill>
                  <a:srgbClr val="222222"/>
                </a:solidFill>
                <a:latin typeface="Arial"/>
              </a:rPr>
              <a:t>Systematic Evaluation of Signal-to-Image Transformation Pipelines for Vision Transformer-based Sleep Stage Classification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480000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 b="0" i="0">
                <a:solidFill>
                  <a:srgbClr val="222222"/>
                </a:solidFill>
                <a:latin typeface="Arial"/>
              </a:rPr>
              <a:t>Janith R.R.H. Ramanayakage and Chandima N.P.G. Arachchige</a:t>
            </a:r>
          </a:p>
          <a:p>
            <a:pPr algn="ctr">
              <a:spcBef>
                <a:spcPts val="10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Department of Statistics, Faculty of Science, University of Colombo, Sri Lanka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45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  <p:pic>
        <p:nvPicPr>
          <p:cNvPr id="23" name="University of Colombo logo" descr="Universityof-colomb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8433" y="1450000"/>
            <a:ext cx="1090415" cy="12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749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59B51-D589-9B48-9902-466A83A5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>
            <a:normAutofit/>
          </a:bodyPr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Why automate sleep staging?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8" name="Icon badge"/>
          <p:cNvSpPr/>
          <p:nvPr/>
        </p:nvSpPr>
        <p:spPr>
          <a:xfrm>
            <a:off x="841248" y="1691640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con moon" descr="mo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1847088"/>
            <a:ext cx="466344" cy="466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1645920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Sleep disorders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(insomnia, apnoea, narcolepsy) are widespread</a:t>
            </a:r>
          </a:p>
        </p:txBody>
      </p:sp>
      <p:sp>
        <p:nvSpPr>
          <p:cNvPr id="11" name="Icon badge"/>
          <p:cNvSpPr/>
          <p:nvPr/>
        </p:nvSpPr>
        <p:spPr>
          <a:xfrm>
            <a:off x="841248" y="2770632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Icon wave" descr="wav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2926080"/>
            <a:ext cx="466344" cy="4663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83080" y="2724912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Gold standard: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manual scoring of polysomnography (PSG)</a:t>
            </a:r>
          </a:p>
        </p:txBody>
      </p:sp>
      <p:sp>
        <p:nvSpPr>
          <p:cNvPr id="14" name="Icon badge"/>
          <p:cNvSpPr/>
          <p:nvPr/>
        </p:nvSpPr>
        <p:spPr>
          <a:xfrm>
            <a:off x="841248" y="3849624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Icon clock" descr="c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4005072"/>
            <a:ext cx="466344" cy="466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83080" y="3803904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Slow and subjective: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hours per night; experts disagree</a:t>
            </a:r>
          </a:p>
        </p:txBody>
      </p:sp>
      <p:sp>
        <p:nvSpPr>
          <p:cNvPr id="17" name="Icon badge"/>
          <p:cNvSpPr/>
          <p:nvPr/>
        </p:nvSpPr>
        <p:spPr>
          <a:xfrm>
            <a:off x="841248" y="4928616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Icon brain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5084064"/>
            <a:ext cx="466344" cy="4663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83080" y="4882896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Deep learning: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CNN/RNN → Vision Transformers (ViTs)</a:t>
            </a:r>
          </a:p>
        </p:txBody>
      </p:sp>
      <p:sp>
        <p:nvSpPr>
          <p:cNvPr id="20" name="Stat card"/>
          <p:cNvSpPr/>
          <p:nvPr/>
        </p:nvSpPr>
        <p:spPr>
          <a:xfrm>
            <a:off x="694944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at value"/>
          <p:cNvSpPr txBox="1"/>
          <p:nvPr/>
        </p:nvSpPr>
        <p:spPr>
          <a:xfrm>
            <a:off x="6949440" y="1764792"/>
            <a:ext cx="22860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2–4 h</a:t>
            </a:r>
          </a:p>
        </p:txBody>
      </p:sp>
      <p:sp>
        <p:nvSpPr>
          <p:cNvPr id="22" name="Stat label"/>
          <p:cNvSpPr txBox="1"/>
          <p:nvPr/>
        </p:nvSpPr>
        <p:spPr>
          <a:xfrm>
            <a:off x="7040879" y="2715768"/>
            <a:ext cx="210312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to score one full-night recording</a:t>
            </a:r>
          </a:p>
        </p:txBody>
      </p:sp>
      <p:sp>
        <p:nvSpPr>
          <p:cNvPr id="23" name="Stat card"/>
          <p:cNvSpPr/>
          <p:nvPr/>
        </p:nvSpPr>
        <p:spPr>
          <a:xfrm>
            <a:off x="941832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at value"/>
          <p:cNvSpPr txBox="1"/>
          <p:nvPr/>
        </p:nvSpPr>
        <p:spPr>
          <a:xfrm>
            <a:off x="9418320" y="1764792"/>
            <a:ext cx="22860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82.6%</a:t>
            </a:r>
          </a:p>
        </p:txBody>
      </p:sp>
      <p:sp>
        <p:nvSpPr>
          <p:cNvPr id="25" name="Stat label"/>
          <p:cNvSpPr txBox="1"/>
          <p:nvPr/>
        </p:nvSpPr>
        <p:spPr>
          <a:xfrm>
            <a:off x="9509760" y="2715768"/>
            <a:ext cx="210312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inter-scorer agreement, experienced experts</a:t>
            </a:r>
          </a:p>
        </p:txBody>
      </p:sp>
      <p:sp>
        <p:nvSpPr>
          <p:cNvPr id="26" name="Stat card"/>
          <p:cNvSpPr/>
          <p:nvPr/>
        </p:nvSpPr>
        <p:spPr>
          <a:xfrm>
            <a:off x="6949440" y="370332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tat value"/>
          <p:cNvSpPr txBox="1"/>
          <p:nvPr/>
        </p:nvSpPr>
        <p:spPr>
          <a:xfrm>
            <a:off x="6949440" y="3776472"/>
            <a:ext cx="475488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50–70 M</a:t>
            </a:r>
          </a:p>
        </p:txBody>
      </p:sp>
      <p:sp>
        <p:nvSpPr>
          <p:cNvPr id="28" name="Stat label"/>
          <p:cNvSpPr txBox="1"/>
          <p:nvPr/>
        </p:nvSpPr>
        <p:spPr>
          <a:xfrm>
            <a:off x="7040879" y="4727448"/>
            <a:ext cx="457200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US adults living with a sleep disorder</a:t>
            </a:r>
          </a:p>
        </p:txBody>
      </p:sp>
    </p:spTree>
    <p:extLst>
      <p:ext uri="{BB962C8B-B14F-4D97-AF65-F5344CB8AC3E}">
        <p14:creationId xmlns:p14="http://schemas.microsoft.com/office/powerpoint/2010/main" val="42363681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Research gap and objectives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3</a:t>
            </a:fld>
            <a:endParaRPr lang="en-GB"/>
          </a:p>
        </p:txBody>
      </p:sp>
      <p:sp>
        <p:nvSpPr>
          <p:cNvPr id="8" name="Gap card"/>
          <p:cNvSpPr/>
          <p:nvPr/>
        </p:nvSpPr>
        <p:spPr>
          <a:xfrm>
            <a:off x="841248" y="1645920"/>
            <a:ext cx="5029200" cy="420624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con badge"/>
          <p:cNvSpPr/>
          <p:nvPr/>
        </p:nvSpPr>
        <p:spPr>
          <a:xfrm>
            <a:off x="100584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search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84708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1737360"/>
            <a:ext cx="393192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The gap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1005840" y="251460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Prior ViT work uses spectrograms or raw signals only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GASF, GADF and MTF never compared for ViTs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Best sampling rate before imaging unknown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Pre-training value on PSG images unclear</a:t>
            </a:r>
          </a:p>
        </p:txBody>
      </p:sp>
      <p:sp>
        <p:nvSpPr>
          <p:cNvPr id="13" name="Icon badge"/>
          <p:cNvSpPr/>
          <p:nvPr/>
        </p:nvSpPr>
        <p:spPr>
          <a:xfrm>
            <a:off x="635508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con flask" descr="flas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847088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0" y="1737360"/>
            <a:ext cx="429768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Four experiments</a:t>
            </a:r>
          </a:p>
        </p:txBody>
      </p:sp>
      <p:sp>
        <p:nvSpPr>
          <p:cNvPr id="16" name="Number badge"/>
          <p:cNvSpPr/>
          <p:nvPr/>
        </p:nvSpPr>
        <p:spPr>
          <a:xfrm>
            <a:off x="6355080" y="251460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46888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Image transformation: GASF, GADF, MTF, spectrogram</a:t>
            </a:r>
          </a:p>
        </p:txBody>
      </p:sp>
      <p:sp>
        <p:nvSpPr>
          <p:cNvPr id="18" name="Number badge"/>
          <p:cNvSpPr/>
          <p:nvPr/>
        </p:nvSpPr>
        <p:spPr>
          <a:xfrm>
            <a:off x="6355080" y="333756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29184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Sampling rate: 512 / 256 / 128 / 64 Hz, FFT vs DWT</a:t>
            </a:r>
          </a:p>
        </p:txBody>
      </p:sp>
      <p:sp>
        <p:nvSpPr>
          <p:cNvPr id="20" name="Number badge"/>
          <p:cNvSpPr/>
          <p:nvPr/>
        </p:nvSpPr>
        <p:spPr>
          <a:xfrm>
            <a:off x="6355080" y="416052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11480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Pre-trained vs from-scratch ViT, balanced vs imbalanced</a:t>
            </a:r>
          </a:p>
        </p:txBody>
      </p:sp>
      <p:sp>
        <p:nvSpPr>
          <p:cNvPr id="22" name="Number badge"/>
          <p:cNvSpPr/>
          <p:nvPr/>
        </p:nvSpPr>
        <p:spPr>
          <a:xfrm>
            <a:off x="6355080" y="498348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93776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Seven architectures incl. ResNet-50 baseline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Dataset: CAP Sleep Database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4</a:t>
            </a:fld>
            <a:endParaRPr lang="en-GB"/>
          </a:p>
        </p:txBody>
      </p:sp>
      <p:sp>
        <p:nvSpPr>
          <p:cNvPr id="8" name="Stat card"/>
          <p:cNvSpPr/>
          <p:nvPr/>
        </p:nvSpPr>
        <p:spPr>
          <a:xfrm>
            <a:off x="841248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tat value"/>
          <p:cNvSpPr txBox="1"/>
          <p:nvPr/>
        </p:nvSpPr>
        <p:spPr>
          <a:xfrm>
            <a:off x="841248" y="171907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</a:t>
            </a:r>
          </a:p>
        </p:txBody>
      </p:sp>
      <p:sp>
        <p:nvSpPr>
          <p:cNvPr id="10" name="Stat label"/>
          <p:cNvSpPr txBox="1"/>
          <p:nvPr/>
        </p:nvSpPr>
        <p:spPr>
          <a:xfrm>
            <a:off x="932688" y="241401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recordings (6 healthy, 74 patients)</a:t>
            </a:r>
          </a:p>
        </p:txBody>
      </p:sp>
      <p:sp>
        <p:nvSpPr>
          <p:cNvPr id="11" name="Stat card"/>
          <p:cNvSpPr/>
          <p:nvPr/>
        </p:nvSpPr>
        <p:spPr>
          <a:xfrm>
            <a:off x="3474720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at value"/>
          <p:cNvSpPr txBox="1"/>
          <p:nvPr/>
        </p:nvSpPr>
        <p:spPr>
          <a:xfrm>
            <a:off x="3474720" y="171907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80,667</a:t>
            </a:r>
          </a:p>
        </p:txBody>
      </p:sp>
      <p:sp>
        <p:nvSpPr>
          <p:cNvPr id="13" name="Stat label"/>
          <p:cNvSpPr txBox="1"/>
          <p:nvPr/>
        </p:nvSpPr>
        <p:spPr>
          <a:xfrm>
            <a:off x="3566160" y="241401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30-second epochs</a:t>
            </a:r>
          </a:p>
        </p:txBody>
      </p:sp>
      <p:sp>
        <p:nvSpPr>
          <p:cNvPr id="14" name="Stat card"/>
          <p:cNvSpPr/>
          <p:nvPr/>
        </p:nvSpPr>
        <p:spPr>
          <a:xfrm>
            <a:off x="841248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at value"/>
          <p:cNvSpPr txBox="1"/>
          <p:nvPr/>
        </p:nvSpPr>
        <p:spPr>
          <a:xfrm>
            <a:off x="841248" y="327355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16</a:t>
            </a:r>
          </a:p>
        </p:txBody>
      </p:sp>
      <p:sp>
        <p:nvSpPr>
          <p:cNvPr id="16" name="Stat label"/>
          <p:cNvSpPr txBox="1"/>
          <p:nvPr/>
        </p:nvSpPr>
        <p:spPr>
          <a:xfrm>
            <a:off x="932688" y="396849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channels at 512 Hz</a:t>
            </a:r>
          </a:p>
        </p:txBody>
      </p:sp>
      <p:sp>
        <p:nvSpPr>
          <p:cNvPr id="17" name="Stat card"/>
          <p:cNvSpPr/>
          <p:nvPr/>
        </p:nvSpPr>
        <p:spPr>
          <a:xfrm>
            <a:off x="3474720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tat value"/>
          <p:cNvSpPr txBox="1"/>
          <p:nvPr/>
        </p:nvSpPr>
        <p:spPr>
          <a:xfrm>
            <a:off x="3474720" y="327355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6</a:t>
            </a:r>
          </a:p>
        </p:txBody>
      </p:sp>
      <p:sp>
        <p:nvSpPr>
          <p:cNvPr id="19" name="Stat label"/>
          <p:cNvSpPr txBox="1"/>
          <p:nvPr/>
        </p:nvSpPr>
        <p:spPr>
          <a:xfrm>
            <a:off x="3566160" y="396849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stages: Wake, S1–S4, REM</a:t>
            </a:r>
          </a:p>
        </p:txBody>
      </p:sp>
      <p:sp>
        <p:nvSpPr>
          <p:cNvPr id="20" name="Validation note"/>
          <p:cNvSpPr/>
          <p:nvPr/>
        </p:nvSpPr>
        <p:spPr>
          <a:xfrm>
            <a:off x="841248" y="4754880"/>
            <a:ext cx="5102352" cy="10972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800600"/>
            <a:ext cx="489204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6A2C91"/>
                </a:solidFill>
                <a:latin typeface="Arial"/>
              </a:rPr>
              <a:t>Subject-wise 5-fold CV: </a:t>
            </a:r>
            <a:r>
              <a:rPr sz="1800" b="0" i="0">
                <a:solidFill>
                  <a:srgbClr val="222222"/>
                </a:solidFill>
                <a:latin typeface="Arial"/>
              </a:rPr>
              <a:t>no subject in both train and test</a:t>
            </a:r>
          </a:p>
        </p:txBody>
      </p:sp>
      <p:graphicFrame>
        <p:nvGraphicFramePr>
          <p:cNvPr id="22" name="Chart"/>
          <p:cNvGraphicFramePr>
            <a:graphicFrameLocks noGrp="1"/>
          </p:cNvGraphicFramePr>
          <p:nvPr/>
        </p:nvGraphicFramePr>
        <p:xfrm>
          <a:off x="6217920" y="1600200"/>
          <a:ext cx="53949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 dirty="0">
                <a:solidFill>
                  <a:srgbClr val="222222"/>
                </a:solidFill>
                <a:latin typeface="Arial"/>
              </a:rPr>
              <a:t>Proposed </a:t>
            </a:r>
            <a:r>
              <a:rPr lang="en-US" sz="4000" b="1" i="0" dirty="0">
                <a:solidFill>
                  <a:srgbClr val="222222"/>
                </a:solidFill>
                <a:latin typeface="Arial"/>
              </a:rPr>
              <a:t>P</a:t>
            </a:r>
            <a:r>
              <a:rPr sz="4000" b="1" i="0" dirty="0">
                <a:solidFill>
                  <a:srgbClr val="222222"/>
                </a:solidFill>
                <a:latin typeface="Arial"/>
              </a:rPr>
              <a:t>ipeline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5</a:t>
            </a:fld>
            <a:endParaRPr lang="en-GB"/>
          </a:p>
        </p:txBody>
      </p:sp>
      <p:sp>
        <p:nvSpPr>
          <p:cNvPr id="8" name="Figure backing"/>
          <p:cNvSpPr/>
          <p:nvPr/>
        </p:nvSpPr>
        <p:spPr>
          <a:xfrm>
            <a:off x="1794248" y="1371600"/>
            <a:ext cx="8603197" cy="42976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Figure 1 pipeline" descr="new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408" y="1543586"/>
            <a:ext cx="8328877" cy="3953707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841248" y="5760720"/>
            <a:ext cx="76809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666666"/>
                </a:solidFill>
                <a:latin typeface="Arial"/>
              </a:rPr>
              <a:t>Figure 1. Overall five-stage pipeline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wipe dir="r"/>
      </p:transition>
    </mc:Choice>
    <mc:Fallback>
      <p:transition spd="med">
        <p:wipe dir="r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Four </a:t>
            </a:r>
            <a:r>
              <a:rPr lang="en-US" sz="4000" b="1" i="0">
                <a:solidFill>
                  <a:srgbClr val="222222"/>
                </a:solidFill>
                <a:latin typeface="Arial"/>
              </a:rPr>
              <a:t>S</a:t>
            </a:r>
            <a:r>
              <a:rPr sz="4000" b="1" i="0">
                <a:solidFill>
                  <a:srgbClr val="222222"/>
                </a:solidFill>
                <a:latin typeface="Arial"/>
              </a:rPr>
              <a:t>ignal-</a:t>
            </a:r>
            <a:r>
              <a:rPr lang="en-US" sz="4000" b="1">
                <a:solidFill>
                  <a:srgbClr val="222222"/>
                </a:solidFill>
                <a:latin typeface="Arial"/>
              </a:rPr>
              <a:t>t</a:t>
            </a:r>
            <a:r>
              <a:rPr sz="4000" b="1" i="0">
                <a:solidFill>
                  <a:srgbClr val="222222"/>
                </a:solidFill>
                <a:latin typeface="Arial"/>
              </a:rPr>
              <a:t>o-</a:t>
            </a:r>
            <a:r>
              <a:rPr lang="en-US" sz="4000" b="1" i="0">
                <a:solidFill>
                  <a:srgbClr val="222222"/>
                </a:solidFill>
                <a:latin typeface="Arial"/>
              </a:rPr>
              <a:t>I</a:t>
            </a:r>
            <a:r>
              <a:rPr sz="4000" b="1" i="0">
                <a:solidFill>
                  <a:srgbClr val="222222"/>
                </a:solidFill>
                <a:latin typeface="Arial"/>
              </a:rPr>
              <a:t>mage </a:t>
            </a:r>
            <a:r>
              <a:rPr sz="4000" b="1" i="0" dirty="0">
                <a:solidFill>
                  <a:srgbClr val="222222"/>
                </a:solidFill>
                <a:latin typeface="Arial"/>
              </a:rPr>
              <a:t>transformations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8" name="Method card"/>
          <p:cNvSpPr/>
          <p:nvPr/>
        </p:nvSpPr>
        <p:spPr>
          <a:xfrm>
            <a:off x="84124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con badge"/>
          <p:cNvSpPr/>
          <p:nvPr/>
        </p:nvSpPr>
        <p:spPr>
          <a:xfrm>
            <a:off x="1709928" y="18288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img" descr="im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232" y="197510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2688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cos(φᵢ + φⱼ)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Summed angles; preserves global temporal correlation</a:t>
            </a:r>
          </a:p>
        </p:txBody>
      </p:sp>
      <p:sp>
        <p:nvSpPr>
          <p:cNvPr id="14" name="Method card"/>
          <p:cNvSpPr/>
          <p:nvPr/>
        </p:nvSpPr>
        <p:spPr>
          <a:xfrm>
            <a:off x="349300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Icon badge"/>
          <p:cNvSpPr/>
          <p:nvPr/>
        </p:nvSpPr>
        <p:spPr>
          <a:xfrm>
            <a:off x="436168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Icon layer" descr="lay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97510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GADF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sin(φᵢ − φⱼ)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Difference of angles; less globally coherent</a:t>
            </a:r>
          </a:p>
        </p:txBody>
      </p:sp>
      <p:sp>
        <p:nvSpPr>
          <p:cNvPr id="20" name="Method card"/>
          <p:cNvSpPr/>
          <p:nvPr/>
        </p:nvSpPr>
        <p:spPr>
          <a:xfrm>
            <a:off x="614476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Icon badge"/>
          <p:cNvSpPr/>
          <p:nvPr/>
        </p:nvSpPr>
        <p:spPr>
          <a:xfrm>
            <a:off x="701344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cogs" descr="cog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197510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6207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MTF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Markov transition probs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32 bins; quantisation loss, slow (5 s/epoch)</a:t>
            </a:r>
          </a:p>
        </p:txBody>
      </p:sp>
      <p:sp>
        <p:nvSpPr>
          <p:cNvPr id="26" name="Method card"/>
          <p:cNvSpPr/>
          <p:nvPr/>
        </p:nvSpPr>
        <p:spPr>
          <a:xfrm>
            <a:off x="879652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con badge"/>
          <p:cNvSpPr/>
          <p:nvPr/>
        </p:nvSpPr>
        <p:spPr>
          <a:xfrm>
            <a:off x="9665207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on wave" descr="wav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1" y="1975104"/>
            <a:ext cx="438912" cy="4389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87967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Spectrogram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7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STFT, Hamming 256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68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Fixed time–frequency resolution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16636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Icon bolt" descr="bol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9848" y="5330952"/>
            <a:ext cx="493776" cy="493776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728216" y="5166360"/>
            <a:ext cx="9326880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16 images → 4×4 grid → 224×224×3 → ViT-B/16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GASF performs best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7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78.5%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GASF accuracy (macro-F1 0.773)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5.0 s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MTF time per epoch vs 0.2 s for GASF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GASF ≈ GADF; both clearly beat MTF and spectrogram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DWT at 128 Hz is optimal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8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80.3%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DWT @ 128 Hz (macro-F1 0.791)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+1.8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original 512 Hz signals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DWT beats FFT at every reduced rate; peak at 128 Hz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Pre-training adds 11+ points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9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+11.4 pp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balanced: 86.2% vs 74.8%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+12.2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imbalanced: 80.5% vs 68.3%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Balancing (DCGAN, training folds only) adds ≈ 5.7 pp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ViT-B/16 beats other models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10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86.2%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ViT-B/16 (macro-F1 0.853)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+10.0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ResNet-50 CNN baseline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Transformers outperform the CNN; PVT-Small is the efficient option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Class-wise results and limitations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11</a:t>
            </a:fld>
            <a:endParaRPr lang="en-GB"/>
          </a:p>
        </p:txBody>
      </p:sp>
      <p:graphicFrame>
        <p:nvGraphicFramePr>
          <p:cNvPr id="8" name="Chart"/>
          <p:cNvGraphicFramePr>
            <a:graphicFrameLocks noGrp="1"/>
          </p:cNvGraphicFramePr>
          <p:nvPr/>
        </p:nvGraphicFramePr>
        <p:xfrm>
          <a:off x="548640" y="1554480"/>
          <a:ext cx="64922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Icon badge"/>
          <p:cNvSpPr/>
          <p:nvPr/>
        </p:nvSpPr>
        <p:spPr>
          <a:xfrm>
            <a:off x="7498079" y="164592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warn" descr="war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07" y="175564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1645920"/>
            <a:ext cx="329184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Limitations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7498079" y="23774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S1 (6.5% of data) is weakest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Single database; no cross-dataset test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R&amp;K labels, not AASM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No formal significance tests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4×4 channel layout not ablated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push dir="l"/>
      </p:transition>
    </mc:Choice>
    <mc:Fallback>
      <p:transition spd="med">
        <p:push dir="l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Conclusions and future work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12</a:t>
            </a:fld>
            <a:endParaRPr lang="en-GB"/>
          </a:p>
        </p:txBody>
      </p:sp>
      <p:sp>
        <p:nvSpPr>
          <p:cNvPr id="8" name="Conclusion card"/>
          <p:cNvSpPr/>
          <p:nvPr/>
        </p:nvSpPr>
        <p:spPr>
          <a:xfrm>
            <a:off x="841248" y="1645920"/>
            <a:ext cx="6400800" cy="438912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737360"/>
            <a:ext cx="5852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Best pipeline</a:t>
            </a:r>
          </a:p>
        </p:txBody>
      </p:sp>
      <p:sp>
        <p:nvSpPr>
          <p:cNvPr id="10" name="Icon badge"/>
          <p:cNvSpPr/>
          <p:nvPr/>
        </p:nvSpPr>
        <p:spPr>
          <a:xfrm>
            <a:off x="1097280" y="256032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con img" descr="im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665" y="2673705"/>
            <a:ext cx="340156" cy="3401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251460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 encoding</a:t>
            </a:r>
          </a:p>
        </p:txBody>
      </p:sp>
      <p:sp>
        <p:nvSpPr>
          <p:cNvPr id="13" name="Icon badge"/>
          <p:cNvSpPr/>
          <p:nvPr/>
        </p:nvSpPr>
        <p:spPr>
          <a:xfrm>
            <a:off x="1097280" y="342900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con filter" descr="filter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665" y="3542385"/>
            <a:ext cx="340156" cy="3401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28800" y="338328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DWT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resampling to 128 Hz</a:t>
            </a:r>
          </a:p>
        </p:txBody>
      </p:sp>
      <p:sp>
        <p:nvSpPr>
          <p:cNvPr id="16" name="Icon badge"/>
          <p:cNvSpPr/>
          <p:nvPr/>
        </p:nvSpPr>
        <p:spPr>
          <a:xfrm>
            <a:off x="1097280" y="429767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 brain" descr="brain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0665" y="4411065"/>
            <a:ext cx="340156" cy="3401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28800" y="4251959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Fine-tuned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ImageNet ViT-B/16</a:t>
            </a:r>
          </a:p>
        </p:txBody>
      </p:sp>
      <p:sp>
        <p:nvSpPr>
          <p:cNvPr id="19" name="Icon badge"/>
          <p:cNvSpPr/>
          <p:nvPr/>
        </p:nvSpPr>
        <p:spPr>
          <a:xfrm>
            <a:off x="1097280" y="516635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Icon medal" descr="medal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0665" y="5279745"/>
            <a:ext cx="340156" cy="3401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28800" y="512064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86.2%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accuracy, 0.853 macro-F1</a:t>
            </a:r>
          </a:p>
        </p:txBody>
      </p:sp>
      <p:sp>
        <p:nvSpPr>
          <p:cNvPr id="22" name="Future card"/>
          <p:cNvSpPr/>
          <p:nvPr/>
        </p:nvSpPr>
        <p:spPr>
          <a:xfrm>
            <a:off x="7498079" y="1645920"/>
            <a:ext cx="3858768" cy="438912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6679" y="1737360"/>
            <a:ext cx="347472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6A2C91"/>
                </a:solidFill>
                <a:latin typeface="Arial"/>
              </a:rPr>
              <a:t>Future work</a:t>
            </a:r>
          </a:p>
        </p:txBody>
      </p:sp>
      <p:sp>
        <p:nvSpPr>
          <p:cNvPr id="24" name="Icon badge"/>
          <p:cNvSpPr/>
          <p:nvPr/>
        </p:nvSpPr>
        <p:spPr>
          <a:xfrm>
            <a:off x="7726679" y="265176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Icon layer" descr="lay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0065" y="2765145"/>
            <a:ext cx="340156" cy="3401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0" y="2560320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Multimodal fusion</a:t>
            </a:r>
          </a:p>
        </p:txBody>
      </p:sp>
      <p:sp>
        <p:nvSpPr>
          <p:cNvPr id="27" name="Icon badge"/>
          <p:cNvSpPr/>
          <p:nvPr/>
        </p:nvSpPr>
        <p:spPr>
          <a:xfrm>
            <a:off x="7726679" y="3749039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on bolt" descr="bol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0065" y="3862425"/>
            <a:ext cx="340156" cy="3401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412480" y="3657599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Lightweight ViTs for edge use</a:t>
            </a:r>
          </a:p>
        </p:txBody>
      </p:sp>
      <p:sp>
        <p:nvSpPr>
          <p:cNvPr id="30" name="Icon badge"/>
          <p:cNvSpPr/>
          <p:nvPr/>
        </p:nvSpPr>
        <p:spPr>
          <a:xfrm>
            <a:off x="7726679" y="484632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Icon db" descr="d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0065" y="4959705"/>
            <a:ext cx="340156" cy="3401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12480" y="4754880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Cross-dataset validation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1828800"/>
            <a:ext cx="9966960" cy="1828800"/>
          </a:xfrm>
        </p:spPr>
        <p:txBody>
          <a:bodyPr anchor="ctr">
            <a:noAutofit/>
          </a:bodyPr>
          <a:lstStyle/>
          <a:p>
            <a:r>
              <a:rPr sz="6000" b="1" i="0">
                <a:solidFill>
                  <a:srgbClr val="6A2C91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384048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0" i="0">
                <a:solidFill>
                  <a:srgbClr val="222222"/>
                </a:solidFill>
                <a:latin typeface="Arial"/>
              </a:rPr>
              <a:t>Questions?</a:t>
            </a:r>
          </a:p>
          <a:p>
            <a:pPr algn="ctr">
              <a:spcBef>
                <a:spcPts val="14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janithramanayake523@gmail.com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45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2130</TotalTime>
  <Words>685</Words>
  <Application>Microsoft Office PowerPoint</Application>
  <PresentationFormat>Widescreen</PresentationFormat>
  <Paragraphs>133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Systematic Evaluation of Signal-to-Image Transformation Pipelines for Vision Transformer-based Sleep Stage Classification</vt:lpstr>
      <vt:lpstr>Why automate sleep staging?</vt:lpstr>
      <vt:lpstr>Research gap and objectives</vt:lpstr>
      <vt:lpstr>Dataset: CAP Sleep Database</vt:lpstr>
      <vt:lpstr>Proposed Pipeline</vt:lpstr>
      <vt:lpstr>Four Signal-to-Image transformations</vt:lpstr>
      <vt:lpstr>GASF performs best</vt:lpstr>
      <vt:lpstr>DWT at 128 Hz is optimal</vt:lpstr>
      <vt:lpstr>Pre-training adds 11+ points</vt:lpstr>
      <vt:lpstr>ViT-B/16 beats other models</vt:lpstr>
      <vt:lpstr>Class-wise results and limitations</vt:lpstr>
      <vt:lpstr>Conclusions and future work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AP02  BIOMOLECULES</dc:title>
  <dc:creator>Suvini Karunaratne</dc:creator>
  <cp:lastModifiedBy>1399</cp:lastModifiedBy>
  <cp:revision>46</cp:revision>
  <dcterms:created xsi:type="dcterms:W3CDTF">2020-02-23T10:07:47Z</dcterms:created>
  <dcterms:modified xsi:type="dcterms:W3CDTF">2026-10-07T17:09:32Z</dcterms:modified>
</cp:coreProperties>
</file>