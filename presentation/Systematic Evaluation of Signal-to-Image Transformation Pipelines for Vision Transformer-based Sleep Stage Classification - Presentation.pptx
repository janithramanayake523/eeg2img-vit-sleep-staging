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9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9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800" b="1">
                <a:latin typeface="Arial"/>
              </a:rPr>
              <a:t>Epoch share by sleep stage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Epochs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1-D7B6-42D6-953E-DD38759F4724}"/>
              </c:ext>
            </c:extLst>
          </c:dPt>
          <c:dPt>
            <c:idx val="1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3-D7B6-42D6-953E-DD38759F4724}"/>
              </c:ext>
            </c:extLst>
          </c:dPt>
          <c:dPt>
            <c:idx val="2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5-D7B6-42D6-953E-DD38759F4724}"/>
              </c:ext>
            </c:extLst>
          </c:dPt>
          <c:dPt>
            <c:idx val="3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7-D7B6-42D6-953E-DD38759F4724}"/>
              </c:ext>
            </c:extLst>
          </c:dPt>
          <c:dPt>
            <c:idx val="4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9-D7B6-42D6-953E-DD38759F4724}"/>
              </c:ext>
            </c:extLst>
          </c:dPt>
          <c:dPt>
            <c:idx val="5"/>
            <c:invertIfNegative val="1"/>
            <c:bubble3D val="0"/>
            <c:spPr>
              <a:solidFill>
                <a:srgbClr val="A76FC9"/>
              </a:solidFill>
            </c:spPr>
            <c:extLst>
              <c:ext xmlns:c16="http://schemas.microsoft.com/office/drawing/2014/chart" uri="{C3380CC4-5D6E-409C-BE32-E72D297353CC}">
                <c16:uniqueId val="{0000000B-D7B6-42D6-953E-DD38759F4724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13.5</c:v>
                </c:pt>
                <c:pt idx="1">
                  <c:v>6.5</c:v>
                </c:pt>
                <c:pt idx="2">
                  <c:v>47.7</c:v>
                </c:pt>
                <c:pt idx="3">
                  <c:v>10.5</c:v>
                </c:pt>
                <c:pt idx="4">
                  <c:v>8.6</c:v>
                </c:pt>
                <c:pt idx="5">
                  <c:v>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C-D7B6-42D6-953E-DD38759F472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6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6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1"/>
  </c:chart>
  <c:txPr>
    <a:bodyPr/>
    <a:lstStyle/>
    <a:p>
      <a:pPr>
        <a:defRPr sz="16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E31A-449E-9C4D-97A31F60BE4C}"/>
              </c:ext>
            </c:extLst>
          </c:dPt>
          <c:dPt>
            <c:idx val="1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3-E31A-449E-9C4D-97A31F60BE4C}"/>
              </c:ext>
            </c:extLst>
          </c:dPt>
          <c:dPt>
            <c:idx val="2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5-E31A-449E-9C4D-97A31F60BE4C}"/>
              </c:ext>
            </c:extLst>
          </c:dPt>
          <c:dPt>
            <c:idx val="3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7-E31A-449E-9C4D-97A31F60BE4C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GASF</c:v>
                </c:pt>
                <c:pt idx="1">
                  <c:v>GADF</c:v>
                </c:pt>
                <c:pt idx="2">
                  <c:v>MTF</c:v>
                </c:pt>
                <c:pt idx="3">
                  <c:v>Spectrogram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78.5</c:v>
                </c:pt>
                <c:pt idx="1">
                  <c:v>77.2</c:v>
                </c:pt>
                <c:pt idx="2">
                  <c:v>75.8</c:v>
                </c:pt>
                <c:pt idx="3">
                  <c:v>74.099999999999994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8-E31A-449E-9C4D-97A31F60BE4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2"/>
          <c:min val="6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DWT</c:v>
                </c:pt>
              </c:strCache>
            </c:strRef>
          </c:tx>
          <c:spPr>
            <a:ln w="44450">
              <a:solidFill>
                <a:srgbClr val="6A2C91"/>
              </a:solidFill>
            </a:ln>
          </c:spPr>
          <c:marker>
            <c:symbol val="diamond"/>
            <c:size val="9"/>
            <c:spPr>
              <a:solidFill>
                <a:srgbClr val="6A2C91"/>
              </a:solidFill>
              <a:ln>
                <a:solidFill>
                  <a:srgbClr val="6A2C91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75.900000000000006</c:v>
                </c:pt>
                <c:pt idx="1">
                  <c:v>80.3</c:v>
                </c:pt>
                <c:pt idx="2">
                  <c:v>79.099999999999994</c:v>
                </c:pt>
                <c:pt idx="3">
                  <c:v>78.5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BB-46E3-88D1-FEBADA95115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FFT</c:v>
                </c:pt>
              </c:strCache>
            </c:strRef>
          </c:tx>
          <c:spPr>
            <a:ln w="44450">
              <a:solidFill>
                <a:srgbClr val="B8B8C0"/>
              </a:solidFill>
            </a:ln>
          </c:spPr>
          <c:marker>
            <c:symbol val="square"/>
            <c:size val="9"/>
            <c:spPr>
              <a:solidFill>
                <a:srgbClr val="B8B8C0"/>
              </a:solidFill>
              <a:ln>
                <a:solidFill>
                  <a:srgbClr val="B8B8C0"/>
                </a:solidFill>
              </a:ln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1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64 Hz</c:v>
                </c:pt>
                <c:pt idx="1">
                  <c:v>128 Hz</c:v>
                </c:pt>
                <c:pt idx="2">
                  <c:v>256 Hz</c:v>
                </c:pt>
                <c:pt idx="3">
                  <c:v>512 Hz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73.5</c:v>
                </c:pt>
                <c:pt idx="1">
                  <c:v>76.2</c:v>
                </c:pt>
                <c:pt idx="2">
                  <c:v>77.8</c:v>
                </c:pt>
                <c:pt idx="3">
                  <c:v>78.5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BB-46E3-88D1-FEBADA951150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82"/>
          <c:min val="7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2118791784"/>
        <c:crosses val="autoZero"/>
        <c:crossBetween val="between"/>
        <c:majorUnit val="4"/>
      </c:valAx>
    </c:plotArea>
    <c:legend>
      <c:legendPos val="b"/>
      <c:overlay val="0"/>
      <c:txPr>
        <a:bodyPr/>
        <a:lstStyle/>
        <a:p>
          <a:pPr>
            <a:defRPr sz="1800"/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Pre-trained ViT-B/16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86.2</c:v>
                </c:pt>
                <c:pt idx="1">
                  <c:v>80.5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8F2-4F60-900E-49DE2B1A12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From scratch</c:v>
                </c:pt>
              </c:strCache>
            </c:strRef>
          </c:tx>
          <c:spPr>
            <a:solidFill>
              <a:srgbClr val="B8B8C0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Balanced</c:v>
                </c:pt>
                <c:pt idx="1">
                  <c:v>Imbalanced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74.8</c:v>
                </c:pt>
                <c:pt idx="1">
                  <c:v>68.3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8F2-4F60-900E-49DE2B1A12B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2"/>
          <c:min val="5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10"/>
      </c:valAx>
    </c:plotArea>
    <c:legend>
      <c:legendPos val="b"/>
      <c:overlay val="0"/>
      <c:txPr>
        <a:bodyPr/>
        <a:lstStyle/>
        <a:p>
          <a:pPr>
            <a:defRPr sz="18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1-B2B5-404B-924E-BC2C707EC10A}"/>
              </c:ext>
            </c:extLst>
          </c:dPt>
          <c:dPt>
            <c:idx val="1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3-B2B5-404B-924E-BC2C707EC10A}"/>
              </c:ext>
            </c:extLst>
          </c:dPt>
          <c:dPt>
            <c:idx val="2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5-B2B5-404B-924E-BC2C707EC10A}"/>
              </c:ext>
            </c:extLst>
          </c:dPt>
          <c:dPt>
            <c:idx val="3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7-B2B5-404B-924E-BC2C707EC10A}"/>
              </c:ext>
            </c:extLst>
          </c:dPt>
          <c:dPt>
            <c:idx val="4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9-B2B5-404B-924E-BC2C707EC10A}"/>
              </c:ext>
            </c:extLst>
          </c:dPt>
          <c:dPt>
            <c:idx val="5"/>
            <c:invertIfNegative val="1"/>
            <c:bubble3D val="0"/>
            <c:spPr>
              <a:solidFill>
                <a:srgbClr val="B8B8C0"/>
              </a:solidFill>
            </c:spPr>
            <c:extLst>
              <c:ext xmlns:c16="http://schemas.microsoft.com/office/drawing/2014/chart" uri="{C3380CC4-5D6E-409C-BE32-E72D297353CC}">
                <c16:uniqueId val="{0000000B-B2B5-404B-924E-BC2C707EC10A}"/>
              </c:ext>
            </c:extLst>
          </c:dPt>
          <c:dPt>
            <c:idx val="6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D-B2B5-404B-924E-BC2C707EC10A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ResNet-50</c:v>
                </c:pt>
                <c:pt idx="1">
                  <c:v>PVT-Small</c:v>
                </c:pt>
                <c:pt idx="2">
                  <c:v>ViT-B/32</c:v>
                </c:pt>
                <c:pt idx="3">
                  <c:v>DeiT-B</c:v>
                </c:pt>
                <c:pt idx="4">
                  <c:v>BEiT-B</c:v>
                </c:pt>
                <c:pt idx="5">
                  <c:v>Swin-B</c:v>
                </c:pt>
                <c:pt idx="6">
                  <c:v>ViT-B/16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76.2</c:v>
                </c:pt>
                <c:pt idx="1">
                  <c:v>81.8</c:v>
                </c:pt>
                <c:pt idx="2">
                  <c:v>83.2</c:v>
                </c:pt>
                <c:pt idx="3">
                  <c:v>84.3</c:v>
                </c:pt>
                <c:pt idx="4">
                  <c:v>84.6</c:v>
                </c:pt>
                <c:pt idx="5">
                  <c:v>85.1</c:v>
                </c:pt>
                <c:pt idx="6">
                  <c:v>86.2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E-B2B5-404B-924E-BC2C707EC10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8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0"/>
          <c:min val="70"/>
        </c:scaling>
        <c:delete val="0"/>
        <c:axPos val="b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8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5"/>
      </c:valAx>
    </c:plotArea>
    <c:plotVisOnly val="1"/>
    <c:dispBlanksAs val="gap"/>
    <c:showDLblsOverMax val="1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800" b="1">
                <a:latin typeface="Arial"/>
              </a:rPr>
              <a:t>Per-class F1 score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Balanced</c:v>
                </c:pt>
              </c:strCache>
            </c:strRef>
          </c:tx>
          <c:spPr>
            <a:solidFill>
              <a:srgbClr val="6A2C91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0.90500000000000003</c:v>
                </c:pt>
                <c:pt idx="1">
                  <c:v>0.72099999999999997</c:v>
                </c:pt>
                <c:pt idx="2">
                  <c:v>0.92200000000000004</c:v>
                </c:pt>
                <c:pt idx="3">
                  <c:v>0.8</c:v>
                </c:pt>
                <c:pt idx="4">
                  <c:v>0.78400000000000003</c:v>
                </c:pt>
                <c:pt idx="5">
                  <c:v>0.79500000000000004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030-4E08-A552-41F681A9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Imbalanced</c:v>
                </c:pt>
              </c:strCache>
            </c:strRef>
          </c:tx>
          <c:spPr>
            <a:solidFill>
              <a:srgbClr val="B8B8C0"/>
            </a:solidFill>
          </c:spPr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Wake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REM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0.85199999999999998</c:v>
                </c:pt>
                <c:pt idx="1">
                  <c:v>0.51200000000000001</c:v>
                </c:pt>
                <c:pt idx="2">
                  <c:v>0.88700000000000001</c:v>
                </c:pt>
                <c:pt idx="3">
                  <c:v>0.66700000000000004</c:v>
                </c:pt>
                <c:pt idx="4">
                  <c:v>0.64700000000000002</c:v>
                </c:pt>
                <c:pt idx="5">
                  <c:v>0.85099999999999998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030-4E08-A552-41F681A924E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AAAAAA"/>
            </a:solidFill>
          </a:ln>
        </c:spPr>
        <c:txPr>
          <a:bodyPr/>
          <a:lstStyle/>
          <a:p>
            <a:pPr>
              <a:defRPr sz="1400">
                <a:solidFill>
                  <a:srgbClr val="222222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666666"/>
                </a:solidFill>
              </a:defRPr>
            </a:pPr>
            <a:endParaRPr lang="en-US"/>
          </a:p>
        </c:txPr>
        <c:crossAx val="-2068027336"/>
        <c:crosses val="autoZero"/>
        <c:crossBetween val="between"/>
        <c:majorUnit val="0.25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223329-03F0-FF8F-B36F-125319C667C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DAE4C0-6C13-ACE3-E4D0-367369B3320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C30534-A088-416E-A2F9-35D140DE51C7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C4B510-C6C8-FC79-60AA-55D1C9A048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0B21A2-5BE4-97DB-6582-2D288265E5D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54FF4C-B3CD-4FE6-A436-84C841BE64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136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C05B-51E2-45C0-825E-6D2B9E51675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62BBA8-BED4-4509-B761-494B8FCD1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711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1CBE5-77A0-4FDD-85F7-FC2D1852FEF2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1930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84F44A-77D3-4BB8-9A23-DA098C140D0C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26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0C2B9-7629-4850-85D5-711B31CBC5B4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39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35A0E-08F7-45F6-B9C3-BFE3E108BB1A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742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58671-6C49-4FB4-B44C-0EF2DF8CC272}" type="datetime1">
              <a:rPr lang="en-GB" smtClean="0"/>
              <a:t>07/10/2026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462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36E87-C810-4AA2-A0C3-D9F9E17DC1BA}" type="datetime1">
              <a:rPr lang="en-GB" smtClean="0"/>
              <a:t>07/10/2026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095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60574A-20FB-4D1F-BE5E-DEF165510D6A}" type="datetime1">
              <a:rPr lang="en-GB" smtClean="0"/>
              <a:t>07/10/2026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778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36B1B-D984-4E94-893A-04A31792E094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5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DF240-5094-4DA6-BEA6-75E5E377CA15}" type="datetime1">
              <a:rPr lang="en-GB" smtClean="0"/>
              <a:t>07/10/2026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7363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EBD2B9-55BA-4BF0-819B-00B31A404040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371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595255-AC07-47F9-AA41-C5403224B816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335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7C2D0-045A-4468-98A8-AC6B66F93128}" type="datetime1">
              <a:rPr lang="en-GB" smtClean="0"/>
              <a:t>07/10/2026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9C41-6B9F-4AAA-9F31-D78B57F455E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442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1828800"/>
            <a:ext cx="9966960" cy="1828800"/>
          </a:xfrm>
        </p:spPr>
        <p:txBody>
          <a:bodyPr anchor="ctr">
            <a:noAutofit/>
          </a:bodyPr>
          <a:lstStyle/>
          <a:p>
            <a:r>
              <a:rPr sz="3400" b="1" i="0">
                <a:solidFill>
                  <a:srgbClr val="222222"/>
                </a:solidFill>
                <a:latin typeface="Arial"/>
              </a:rPr>
              <a:t>Systematic Evaluation of Signal-to-Image Transformation Pipelines for Vision Transformer-based Sleep Stage Classification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402336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 b="0" i="0">
                <a:solidFill>
                  <a:srgbClr val="222222"/>
                </a:solidFill>
                <a:latin typeface="Arial"/>
              </a:rPr>
              <a:t>Janith R.R.H. Ramanayakage and Chandima N.P.G. Arachchige</a:t>
            </a:r>
          </a:p>
          <a:p>
            <a:pPr algn="ctr">
              <a:spcBef>
                <a:spcPts val="10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Department of Statistics, Faculty of Science, University of Colombo, Sri Lanka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45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749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59B51-D589-9B48-9902-466A83A5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>
            <a:normAutofit/>
          </a:bodyPr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Why automate sleep staging?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2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8" name="Icon badge"/>
          <p:cNvSpPr/>
          <p:nvPr/>
        </p:nvSpPr>
        <p:spPr>
          <a:xfrm>
            <a:off x="841248" y="1691640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con moon" descr="mo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1847088"/>
            <a:ext cx="466344" cy="4663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83080" y="1645920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Sleep disorders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(insomnia, apnoea, narcolepsy) are widespread</a:t>
            </a:r>
          </a:p>
        </p:txBody>
      </p:sp>
      <p:sp>
        <p:nvSpPr>
          <p:cNvPr id="11" name="Icon badge"/>
          <p:cNvSpPr/>
          <p:nvPr/>
        </p:nvSpPr>
        <p:spPr>
          <a:xfrm>
            <a:off x="841248" y="2770632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Icon wave" descr="wav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2926080"/>
            <a:ext cx="466344" cy="4663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83080" y="2724912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Gold standard: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manual scoring of polysomnography (PSG)</a:t>
            </a:r>
          </a:p>
        </p:txBody>
      </p:sp>
      <p:sp>
        <p:nvSpPr>
          <p:cNvPr id="14" name="Icon badge"/>
          <p:cNvSpPr/>
          <p:nvPr/>
        </p:nvSpPr>
        <p:spPr>
          <a:xfrm>
            <a:off x="841248" y="3849624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Icon clock" descr="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4005072"/>
            <a:ext cx="466344" cy="466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783080" y="3803904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Slow and subjective: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hours per night; experts disagree</a:t>
            </a:r>
          </a:p>
        </p:txBody>
      </p:sp>
      <p:sp>
        <p:nvSpPr>
          <p:cNvPr id="17" name="Icon badge"/>
          <p:cNvSpPr/>
          <p:nvPr/>
        </p:nvSpPr>
        <p:spPr>
          <a:xfrm>
            <a:off x="841248" y="4928616"/>
            <a:ext cx="777240" cy="7772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Icon brain" descr="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5084064"/>
            <a:ext cx="466344" cy="4663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783080" y="4882896"/>
            <a:ext cx="4937760" cy="8686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6A2C91"/>
                </a:solidFill>
                <a:latin typeface="Arial"/>
              </a:rPr>
              <a:t>Deep learning:</a:t>
            </a:r>
            <a:r>
              <a:rPr sz="2200" b="0" i="0">
                <a:solidFill>
                  <a:srgbClr val="222222"/>
                </a:solidFill>
                <a:latin typeface="Arial"/>
              </a:rPr>
              <a:t> CNN/RNN → Vision Transformers (ViTs)</a:t>
            </a:r>
          </a:p>
        </p:txBody>
      </p:sp>
      <p:sp>
        <p:nvSpPr>
          <p:cNvPr id="20" name="Stat card"/>
          <p:cNvSpPr/>
          <p:nvPr/>
        </p:nvSpPr>
        <p:spPr>
          <a:xfrm>
            <a:off x="694944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at value"/>
          <p:cNvSpPr txBox="1"/>
          <p:nvPr/>
        </p:nvSpPr>
        <p:spPr>
          <a:xfrm>
            <a:off x="6949440" y="1764792"/>
            <a:ext cx="22860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2–4 h</a:t>
            </a:r>
          </a:p>
        </p:txBody>
      </p:sp>
      <p:sp>
        <p:nvSpPr>
          <p:cNvPr id="22" name="Stat label"/>
          <p:cNvSpPr txBox="1"/>
          <p:nvPr/>
        </p:nvSpPr>
        <p:spPr>
          <a:xfrm>
            <a:off x="7040879" y="2715768"/>
            <a:ext cx="210312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to score one full-night recording</a:t>
            </a:r>
          </a:p>
        </p:txBody>
      </p:sp>
      <p:sp>
        <p:nvSpPr>
          <p:cNvPr id="23" name="Stat card"/>
          <p:cNvSpPr/>
          <p:nvPr/>
        </p:nvSpPr>
        <p:spPr>
          <a:xfrm>
            <a:off x="9418320" y="16916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at value"/>
          <p:cNvSpPr txBox="1"/>
          <p:nvPr/>
        </p:nvSpPr>
        <p:spPr>
          <a:xfrm>
            <a:off x="9418320" y="1764792"/>
            <a:ext cx="228600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6A2C91"/>
                </a:solidFill>
                <a:latin typeface="Arial"/>
              </a:rPr>
              <a:t>82.6%</a:t>
            </a:r>
          </a:p>
        </p:txBody>
      </p:sp>
      <p:sp>
        <p:nvSpPr>
          <p:cNvPr id="25" name="Stat label"/>
          <p:cNvSpPr txBox="1"/>
          <p:nvPr/>
        </p:nvSpPr>
        <p:spPr>
          <a:xfrm>
            <a:off x="9509760" y="2715768"/>
            <a:ext cx="210312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inter-scorer agreement, experienced experts</a:t>
            </a:r>
          </a:p>
        </p:txBody>
      </p:sp>
      <p:sp>
        <p:nvSpPr>
          <p:cNvPr id="26" name="Stat card"/>
          <p:cNvSpPr/>
          <p:nvPr/>
        </p:nvSpPr>
        <p:spPr>
          <a:xfrm>
            <a:off x="6949440" y="3703320"/>
            <a:ext cx="4754880" cy="18288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tat value"/>
          <p:cNvSpPr txBox="1"/>
          <p:nvPr/>
        </p:nvSpPr>
        <p:spPr>
          <a:xfrm>
            <a:off x="6949440" y="3776472"/>
            <a:ext cx="475488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50–70 M</a:t>
            </a:r>
          </a:p>
        </p:txBody>
      </p:sp>
      <p:sp>
        <p:nvSpPr>
          <p:cNvPr id="28" name="Stat label"/>
          <p:cNvSpPr txBox="1"/>
          <p:nvPr/>
        </p:nvSpPr>
        <p:spPr>
          <a:xfrm>
            <a:off x="7040879" y="4727448"/>
            <a:ext cx="4572000" cy="76809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US adults living with a sleep disorder</a:t>
            </a:r>
          </a:p>
        </p:txBody>
      </p:sp>
    </p:spTree>
    <p:extLst>
      <p:ext uri="{BB962C8B-B14F-4D97-AF65-F5344CB8AC3E}">
        <p14:creationId xmlns:p14="http://schemas.microsoft.com/office/powerpoint/2010/main" val="42363681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Research gap and objectives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3</a:t>
            </a:fld>
            <a:endParaRPr lang="en-GB"/>
          </a:p>
        </p:txBody>
      </p:sp>
      <p:sp>
        <p:nvSpPr>
          <p:cNvPr id="8" name="Gap card"/>
          <p:cNvSpPr/>
          <p:nvPr/>
        </p:nvSpPr>
        <p:spPr>
          <a:xfrm>
            <a:off x="841248" y="1645920"/>
            <a:ext cx="5029200" cy="420624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con badge"/>
          <p:cNvSpPr/>
          <p:nvPr/>
        </p:nvSpPr>
        <p:spPr>
          <a:xfrm>
            <a:off x="100584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search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84708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91640" y="1737360"/>
            <a:ext cx="393192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The gap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1005840" y="251460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Prior ViT work uses spectrograms or raw signals only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GASF, GADF and MTF never compared for ViTs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Best sampling rate before imaging unknown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200" b="0" i="0">
                <a:solidFill>
                  <a:srgbClr val="222222"/>
                </a:solidFill>
                <a:latin typeface="Arial"/>
              </a:rPr>
              <a:t>Pre-training value on PSG images unclear</a:t>
            </a:r>
          </a:p>
        </p:txBody>
      </p:sp>
      <p:sp>
        <p:nvSpPr>
          <p:cNvPr id="13" name="Icon badge"/>
          <p:cNvSpPr/>
          <p:nvPr/>
        </p:nvSpPr>
        <p:spPr>
          <a:xfrm>
            <a:off x="6355080" y="173736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con flask" descr="flas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847088"/>
            <a:ext cx="329184" cy="3291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40880" y="1737360"/>
            <a:ext cx="429768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Four experiments</a:t>
            </a:r>
          </a:p>
        </p:txBody>
      </p:sp>
      <p:sp>
        <p:nvSpPr>
          <p:cNvPr id="16" name="Number badge"/>
          <p:cNvSpPr/>
          <p:nvPr/>
        </p:nvSpPr>
        <p:spPr>
          <a:xfrm>
            <a:off x="6355080" y="251460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6888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Image transformation: GASF, GADF, MTF, spectrogram</a:t>
            </a:r>
          </a:p>
        </p:txBody>
      </p:sp>
      <p:sp>
        <p:nvSpPr>
          <p:cNvPr id="18" name="Number badge"/>
          <p:cNvSpPr/>
          <p:nvPr/>
        </p:nvSpPr>
        <p:spPr>
          <a:xfrm>
            <a:off x="6355080" y="333756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29184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Sampling rate: 512 / 256 / 128 / 64 Hz, FFT vs DWT</a:t>
            </a:r>
          </a:p>
        </p:txBody>
      </p:sp>
      <p:sp>
        <p:nvSpPr>
          <p:cNvPr id="20" name="Number badge"/>
          <p:cNvSpPr/>
          <p:nvPr/>
        </p:nvSpPr>
        <p:spPr>
          <a:xfrm>
            <a:off x="6355080" y="416052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411480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Pre-trained vs from-scratch ViT, balanced vs imbalanced</a:t>
            </a:r>
          </a:p>
        </p:txBody>
      </p:sp>
      <p:sp>
        <p:nvSpPr>
          <p:cNvPr id="22" name="Number badge"/>
          <p:cNvSpPr/>
          <p:nvPr/>
        </p:nvSpPr>
        <p:spPr>
          <a:xfrm>
            <a:off x="6355080" y="4983480"/>
            <a:ext cx="640080" cy="640080"/>
          </a:xfrm>
          <a:prstGeom prst="ellipse">
            <a:avLst/>
          </a:prstGeom>
          <a:solidFill>
            <a:srgbClr val="6A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937760"/>
            <a:ext cx="4297680" cy="7772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Seven architectures incl. ResNet-50 baseline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Dataset: CAP Sleep Database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4</a:t>
            </a:fld>
            <a:endParaRPr lang="en-GB"/>
          </a:p>
        </p:txBody>
      </p:sp>
      <p:sp>
        <p:nvSpPr>
          <p:cNvPr id="8" name="Stat card"/>
          <p:cNvSpPr/>
          <p:nvPr/>
        </p:nvSpPr>
        <p:spPr>
          <a:xfrm>
            <a:off x="841248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tat value"/>
          <p:cNvSpPr txBox="1"/>
          <p:nvPr/>
        </p:nvSpPr>
        <p:spPr>
          <a:xfrm>
            <a:off x="841248" y="171907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</a:t>
            </a:r>
          </a:p>
        </p:txBody>
      </p:sp>
      <p:sp>
        <p:nvSpPr>
          <p:cNvPr id="10" name="Stat label"/>
          <p:cNvSpPr txBox="1"/>
          <p:nvPr/>
        </p:nvSpPr>
        <p:spPr>
          <a:xfrm>
            <a:off x="932688" y="241401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recordings (6 healthy, 74 patients)</a:t>
            </a:r>
          </a:p>
        </p:txBody>
      </p:sp>
      <p:sp>
        <p:nvSpPr>
          <p:cNvPr id="11" name="Stat card"/>
          <p:cNvSpPr/>
          <p:nvPr/>
        </p:nvSpPr>
        <p:spPr>
          <a:xfrm>
            <a:off x="3474720" y="16459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at value"/>
          <p:cNvSpPr txBox="1"/>
          <p:nvPr/>
        </p:nvSpPr>
        <p:spPr>
          <a:xfrm>
            <a:off x="3474720" y="171907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80,667</a:t>
            </a:r>
          </a:p>
        </p:txBody>
      </p:sp>
      <p:sp>
        <p:nvSpPr>
          <p:cNvPr id="13" name="Stat label"/>
          <p:cNvSpPr txBox="1"/>
          <p:nvPr/>
        </p:nvSpPr>
        <p:spPr>
          <a:xfrm>
            <a:off x="3566160" y="241401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30-second epochs</a:t>
            </a:r>
          </a:p>
        </p:txBody>
      </p:sp>
      <p:sp>
        <p:nvSpPr>
          <p:cNvPr id="14" name="Stat card"/>
          <p:cNvSpPr/>
          <p:nvPr/>
        </p:nvSpPr>
        <p:spPr>
          <a:xfrm>
            <a:off x="841248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at value"/>
          <p:cNvSpPr txBox="1"/>
          <p:nvPr/>
        </p:nvSpPr>
        <p:spPr>
          <a:xfrm>
            <a:off x="841248" y="327355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16</a:t>
            </a:r>
          </a:p>
        </p:txBody>
      </p:sp>
      <p:sp>
        <p:nvSpPr>
          <p:cNvPr id="16" name="Stat label"/>
          <p:cNvSpPr txBox="1"/>
          <p:nvPr/>
        </p:nvSpPr>
        <p:spPr>
          <a:xfrm>
            <a:off x="932688" y="396849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channels at 512 Hz</a:t>
            </a:r>
          </a:p>
        </p:txBody>
      </p:sp>
      <p:sp>
        <p:nvSpPr>
          <p:cNvPr id="17" name="Stat card"/>
          <p:cNvSpPr/>
          <p:nvPr/>
        </p:nvSpPr>
        <p:spPr>
          <a:xfrm>
            <a:off x="3474720" y="320040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tat value"/>
          <p:cNvSpPr txBox="1"/>
          <p:nvPr/>
        </p:nvSpPr>
        <p:spPr>
          <a:xfrm>
            <a:off x="3474720" y="3273552"/>
            <a:ext cx="2468880" cy="7543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6A2C91"/>
                </a:solidFill>
                <a:latin typeface="Arial"/>
              </a:rPr>
              <a:t>6</a:t>
            </a:r>
          </a:p>
        </p:txBody>
      </p:sp>
      <p:sp>
        <p:nvSpPr>
          <p:cNvPr id="19" name="Stat label"/>
          <p:cNvSpPr txBox="1"/>
          <p:nvPr/>
        </p:nvSpPr>
        <p:spPr>
          <a:xfrm>
            <a:off x="3566160" y="3968496"/>
            <a:ext cx="2286000" cy="57607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stages: Wake, S1–S4, REM</a:t>
            </a:r>
          </a:p>
        </p:txBody>
      </p:sp>
      <p:sp>
        <p:nvSpPr>
          <p:cNvPr id="20" name="Validation note"/>
          <p:cNvSpPr/>
          <p:nvPr/>
        </p:nvSpPr>
        <p:spPr>
          <a:xfrm>
            <a:off x="841248" y="4754880"/>
            <a:ext cx="5102352" cy="10972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4800600"/>
            <a:ext cx="4892040" cy="10058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6A2C91"/>
                </a:solidFill>
                <a:latin typeface="Arial"/>
              </a:rPr>
              <a:t>Subject-wise 5-fold CV: </a:t>
            </a:r>
            <a:r>
              <a:rPr sz="1800" b="0" i="0">
                <a:solidFill>
                  <a:srgbClr val="222222"/>
                </a:solidFill>
                <a:latin typeface="Arial"/>
              </a:rPr>
              <a:t>no subject in both train and test</a:t>
            </a:r>
          </a:p>
        </p:txBody>
      </p:sp>
      <p:graphicFrame>
        <p:nvGraphicFramePr>
          <p:cNvPr id="22" name="Chart"/>
          <p:cNvGraphicFramePr>
            <a:graphicFrameLocks noGrp="1"/>
          </p:cNvGraphicFramePr>
          <p:nvPr/>
        </p:nvGraphicFramePr>
        <p:xfrm>
          <a:off x="6217920" y="1600200"/>
          <a:ext cx="53949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 dirty="0">
                <a:solidFill>
                  <a:srgbClr val="222222"/>
                </a:solidFill>
                <a:latin typeface="Arial"/>
              </a:rPr>
              <a:t>Proposed </a:t>
            </a:r>
            <a:r>
              <a:rPr lang="en-US" sz="4000" b="1" i="0" dirty="0">
                <a:solidFill>
                  <a:srgbClr val="222222"/>
                </a:solidFill>
                <a:latin typeface="Arial"/>
              </a:rPr>
              <a:t>P</a:t>
            </a:r>
            <a:r>
              <a:rPr sz="4000" b="1" i="0" dirty="0">
                <a:solidFill>
                  <a:srgbClr val="222222"/>
                </a:solidFill>
                <a:latin typeface="Arial"/>
              </a:rPr>
              <a:t>ipeline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5</a:t>
            </a:fld>
            <a:endParaRPr lang="en-GB"/>
          </a:p>
        </p:txBody>
      </p:sp>
      <p:sp>
        <p:nvSpPr>
          <p:cNvPr id="8" name="Figure backing"/>
          <p:cNvSpPr/>
          <p:nvPr/>
        </p:nvSpPr>
        <p:spPr>
          <a:xfrm>
            <a:off x="1794248" y="1371600"/>
            <a:ext cx="8603197" cy="429768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Figure 1 pipeline" descr="new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1408" y="1543586"/>
            <a:ext cx="8328877" cy="3953707"/>
          </a:xfrm>
          <a:prstGeom prst="rect">
            <a:avLst/>
          </a:prstGeom>
        </p:spPr>
      </p:pic>
      <p:sp>
        <p:nvSpPr>
          <p:cNvPr id="10" name="Caption"/>
          <p:cNvSpPr txBox="1"/>
          <p:nvPr/>
        </p:nvSpPr>
        <p:spPr>
          <a:xfrm>
            <a:off x="841248" y="5760720"/>
            <a:ext cx="7680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666666"/>
                </a:solidFill>
                <a:latin typeface="Arial"/>
              </a:rPr>
              <a:t>Figure 1. Overall five-stage pipeline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Four </a:t>
            </a:r>
            <a:r>
              <a:rPr lang="en-US" sz="4000" b="1" i="0">
                <a:solidFill>
                  <a:srgbClr val="222222"/>
                </a:solidFill>
                <a:latin typeface="Arial"/>
              </a:rPr>
              <a:t>S</a:t>
            </a:r>
            <a:r>
              <a:rPr sz="4000" b="1" i="0">
                <a:solidFill>
                  <a:srgbClr val="222222"/>
                </a:solidFill>
                <a:latin typeface="Arial"/>
              </a:rPr>
              <a:t>ignal-</a:t>
            </a:r>
            <a:r>
              <a:rPr lang="en-US" sz="4000" b="1">
                <a:solidFill>
                  <a:srgbClr val="222222"/>
                </a:solidFill>
                <a:latin typeface="Arial"/>
              </a:rPr>
              <a:t>t</a:t>
            </a:r>
            <a:r>
              <a:rPr sz="4000" b="1" i="0">
                <a:solidFill>
                  <a:srgbClr val="222222"/>
                </a:solidFill>
                <a:latin typeface="Arial"/>
              </a:rPr>
              <a:t>o-</a:t>
            </a:r>
            <a:r>
              <a:rPr lang="en-US" sz="4000" b="1" i="0">
                <a:solidFill>
                  <a:srgbClr val="222222"/>
                </a:solidFill>
                <a:latin typeface="Arial"/>
              </a:rPr>
              <a:t>I</a:t>
            </a:r>
            <a:r>
              <a:rPr sz="4000" b="1" i="0">
                <a:solidFill>
                  <a:srgbClr val="222222"/>
                </a:solidFill>
                <a:latin typeface="Arial"/>
              </a:rPr>
              <a:t>mage </a:t>
            </a:r>
            <a:r>
              <a:rPr sz="4000" b="1" i="0" dirty="0">
                <a:solidFill>
                  <a:srgbClr val="222222"/>
                </a:solidFill>
                <a:latin typeface="Arial"/>
              </a:rPr>
              <a:t>transformations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6</a:t>
            </a:fld>
            <a:endParaRPr lang="en-GB"/>
          </a:p>
        </p:txBody>
      </p:sp>
      <p:sp>
        <p:nvSpPr>
          <p:cNvPr id="8" name="Method card"/>
          <p:cNvSpPr/>
          <p:nvPr/>
        </p:nvSpPr>
        <p:spPr>
          <a:xfrm>
            <a:off x="84124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con badge"/>
          <p:cNvSpPr/>
          <p:nvPr/>
        </p:nvSpPr>
        <p:spPr>
          <a:xfrm>
            <a:off x="1709928" y="18288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img" descr="im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232" y="197510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2688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cos(φᵢ + φⱼ)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Summed angles; preserves global temporal correlation</a:t>
            </a:r>
          </a:p>
        </p:txBody>
      </p:sp>
      <p:sp>
        <p:nvSpPr>
          <p:cNvPr id="14" name="Method card"/>
          <p:cNvSpPr/>
          <p:nvPr/>
        </p:nvSpPr>
        <p:spPr>
          <a:xfrm>
            <a:off x="349300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Icon badge"/>
          <p:cNvSpPr/>
          <p:nvPr/>
        </p:nvSpPr>
        <p:spPr>
          <a:xfrm>
            <a:off x="436168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Icon layer" descr="lay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975104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GADF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4448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sin(φᵢ − φⱼ)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Difference of angles; less globally coherent</a:t>
            </a:r>
          </a:p>
        </p:txBody>
      </p:sp>
      <p:sp>
        <p:nvSpPr>
          <p:cNvPr id="20" name="Method card"/>
          <p:cNvSpPr/>
          <p:nvPr/>
        </p:nvSpPr>
        <p:spPr>
          <a:xfrm>
            <a:off x="614476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con badge"/>
          <p:cNvSpPr/>
          <p:nvPr/>
        </p:nvSpPr>
        <p:spPr>
          <a:xfrm>
            <a:off x="7013448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cogs" descr="cog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9752" y="1975104"/>
            <a:ext cx="438912" cy="4389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6207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MTF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7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Markov transition probs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192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32 bins; quantisation loss, slow (5 s/epoch)</a:t>
            </a:r>
          </a:p>
        </p:txBody>
      </p:sp>
      <p:sp>
        <p:nvSpPr>
          <p:cNvPr id="26" name="Method card"/>
          <p:cNvSpPr/>
          <p:nvPr/>
        </p:nvSpPr>
        <p:spPr>
          <a:xfrm>
            <a:off x="8796528" y="1691640"/>
            <a:ext cx="2468880" cy="320040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con badge"/>
          <p:cNvSpPr/>
          <p:nvPr/>
        </p:nvSpPr>
        <p:spPr>
          <a:xfrm>
            <a:off x="9665207" y="1828800"/>
            <a:ext cx="731520" cy="73152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on wave" descr="wav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1511" y="1975104"/>
            <a:ext cx="438912" cy="43891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87967" y="2606040"/>
            <a:ext cx="22860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6A2C91"/>
                </a:solidFill>
                <a:latin typeface="Arial"/>
              </a:rPr>
              <a:t>Spectrogram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7" y="3108960"/>
            <a:ext cx="22860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22222"/>
                </a:solidFill>
                <a:latin typeface="Arial"/>
              </a:rPr>
              <a:t>STFT, Hamming 256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688" y="3840480"/>
            <a:ext cx="21945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Fixed time–frequency resolution</a:t>
            </a:r>
          </a:p>
        </p:txBody>
      </p:sp>
      <p:sp>
        <p:nvSpPr>
          <p:cNvPr id="32" name="Takeaway card"/>
          <p:cNvSpPr/>
          <p:nvPr/>
        </p:nvSpPr>
        <p:spPr>
          <a:xfrm>
            <a:off x="841248" y="5166360"/>
            <a:ext cx="10515600" cy="8229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Icon bolt" descr="bol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848" y="5330952"/>
            <a:ext cx="493776" cy="493776"/>
          </a:xfrm>
          <a:prstGeom prst="rect">
            <a:avLst/>
          </a:prstGeom>
        </p:spPr>
      </p:pic>
      <p:sp>
        <p:nvSpPr>
          <p:cNvPr id="34" name="Takeaway"/>
          <p:cNvSpPr txBox="1"/>
          <p:nvPr/>
        </p:nvSpPr>
        <p:spPr>
          <a:xfrm>
            <a:off x="1728216" y="5166360"/>
            <a:ext cx="9326880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16 images → 4×4 grid → 224×224×3 → ViT-B/16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GASF performs best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7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78.5%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GASF accuracy (macro-F1 0.773)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5.0 s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MTF time per epoch vs 0.2 s for GASF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GASF ≈ GADF; both clearly beat MTF and spectrogram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DWT at 128 Hz is optimal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8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80.3%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DWT @ 128 Hz (macro-F1 0.791)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+1.8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original 512 Hz signals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DWT beats FFT at every reduced rate; peak at 128 Hz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Pre-training adds 11+ points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9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+11.4 pp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balanced: 86.2% vs 74.8%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+12.2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imbalanced: 80.5% vs 68.3%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Balancing (DCGAN, training folds only) adds ≈ 5.7 pp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ViT-B/16 beats other models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10</a:t>
            </a:fld>
            <a:endParaRPr lang="en-GB"/>
          </a:p>
        </p:txBody>
      </p:sp>
      <p:sp>
        <p:nvSpPr>
          <p:cNvPr id="8" name="Experiment tag"/>
          <p:cNvSpPr/>
          <p:nvPr/>
        </p:nvSpPr>
        <p:spPr>
          <a:xfrm>
            <a:off x="8915400" y="868680"/>
            <a:ext cx="2514600" cy="457200"/>
          </a:xfrm>
          <a:prstGeom prst="roundRect">
            <a:avLst>
              <a:gd name="adj" fmla="val 50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ag text"/>
          <p:cNvSpPr txBox="1"/>
          <p:nvPr/>
        </p:nvSpPr>
        <p:spPr>
          <a:xfrm>
            <a:off x="9025128" y="868680"/>
            <a:ext cx="141732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A2C91"/>
                </a:solidFill>
                <a:latin typeface="Arial"/>
              </a:rPr>
              <a:t>EXPERIMENT</a:t>
            </a:r>
          </a:p>
        </p:txBody>
      </p:sp>
      <p:sp>
        <p:nvSpPr>
          <p:cNvPr id="10" name="Progress dot"/>
          <p:cNvSpPr/>
          <p:nvPr/>
        </p:nvSpPr>
        <p:spPr>
          <a:xfrm>
            <a:off x="10332720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Progress dot"/>
          <p:cNvSpPr/>
          <p:nvPr/>
        </p:nvSpPr>
        <p:spPr>
          <a:xfrm>
            <a:off x="10588752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Progress dot"/>
          <p:cNvSpPr/>
          <p:nvPr/>
        </p:nvSpPr>
        <p:spPr>
          <a:xfrm>
            <a:off x="10844784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Progress dot"/>
          <p:cNvSpPr/>
          <p:nvPr/>
        </p:nvSpPr>
        <p:spPr>
          <a:xfrm>
            <a:off x="11100816" y="996695"/>
            <a:ext cx="201168" cy="201168"/>
          </a:xfrm>
          <a:prstGeom prst="ellipse">
            <a:avLst/>
          </a:prstGeom>
          <a:solidFill>
            <a:srgbClr val="6A2C91"/>
          </a:solidFill>
          <a:ln w="19050">
            <a:solidFill>
              <a:srgbClr val="6A2C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41248" y="1554480"/>
          <a:ext cx="694944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Stat card"/>
          <p:cNvSpPr/>
          <p:nvPr/>
        </p:nvSpPr>
        <p:spPr>
          <a:xfrm>
            <a:off x="8138160" y="16459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 value"/>
          <p:cNvSpPr txBox="1"/>
          <p:nvPr/>
        </p:nvSpPr>
        <p:spPr>
          <a:xfrm>
            <a:off x="8138160" y="171907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86.2%</a:t>
            </a:r>
          </a:p>
        </p:txBody>
      </p:sp>
      <p:sp>
        <p:nvSpPr>
          <p:cNvPr id="17" name="Stat label"/>
          <p:cNvSpPr txBox="1"/>
          <p:nvPr/>
        </p:nvSpPr>
        <p:spPr>
          <a:xfrm>
            <a:off x="8229600" y="261884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ViT-B/16 (macro-F1 0.853)</a:t>
            </a:r>
          </a:p>
        </p:txBody>
      </p:sp>
      <p:sp>
        <p:nvSpPr>
          <p:cNvPr id="18" name="Stat card"/>
          <p:cNvSpPr/>
          <p:nvPr/>
        </p:nvSpPr>
        <p:spPr>
          <a:xfrm>
            <a:off x="8138160" y="356616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at value"/>
          <p:cNvSpPr txBox="1"/>
          <p:nvPr/>
        </p:nvSpPr>
        <p:spPr>
          <a:xfrm>
            <a:off x="8138160" y="3639312"/>
            <a:ext cx="3200400" cy="955547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6A2C91"/>
                </a:solidFill>
                <a:latin typeface="Arial"/>
              </a:rPr>
              <a:t>+10.0 pp</a:t>
            </a:r>
          </a:p>
        </p:txBody>
      </p:sp>
      <p:sp>
        <p:nvSpPr>
          <p:cNvPr id="20" name="Stat label"/>
          <p:cNvSpPr txBox="1"/>
          <p:nvPr/>
        </p:nvSpPr>
        <p:spPr>
          <a:xfrm>
            <a:off x="8229600" y="4539081"/>
            <a:ext cx="3017520" cy="72969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22222"/>
                </a:solidFill>
                <a:latin typeface="Arial"/>
              </a:rPr>
              <a:t>over ResNet-50 CNN baseline</a:t>
            </a:r>
          </a:p>
        </p:txBody>
      </p:sp>
      <p:sp>
        <p:nvSpPr>
          <p:cNvPr id="21" name="Takeaway card"/>
          <p:cNvSpPr/>
          <p:nvPr/>
        </p:nvSpPr>
        <p:spPr>
          <a:xfrm>
            <a:off x="841248" y="5760720"/>
            <a:ext cx="10515600" cy="54864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con bolt" descr="bol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5870448"/>
            <a:ext cx="329184" cy="329184"/>
          </a:xfrm>
          <a:prstGeom prst="rect">
            <a:avLst/>
          </a:prstGeom>
        </p:spPr>
      </p:pic>
      <p:sp>
        <p:nvSpPr>
          <p:cNvPr id="23" name="Takeaway"/>
          <p:cNvSpPr txBox="1"/>
          <p:nvPr/>
        </p:nvSpPr>
        <p:spPr>
          <a:xfrm>
            <a:off x="1508760" y="5760720"/>
            <a:ext cx="96012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Transformers outperform the CNN; PVT-Small is the efficient option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Class-wise results and limitations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11</a:t>
            </a:fld>
            <a:endParaRPr lang="en-GB"/>
          </a:p>
        </p:txBody>
      </p:sp>
      <p:graphicFrame>
        <p:nvGraphicFramePr>
          <p:cNvPr id="8" name="Chart"/>
          <p:cNvGraphicFramePr>
            <a:graphicFrameLocks noGrp="1"/>
          </p:cNvGraphicFramePr>
          <p:nvPr/>
        </p:nvGraphicFramePr>
        <p:xfrm>
          <a:off x="548640" y="1554480"/>
          <a:ext cx="64922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Icon badge"/>
          <p:cNvSpPr/>
          <p:nvPr/>
        </p:nvSpPr>
        <p:spPr>
          <a:xfrm>
            <a:off x="7498079" y="1645920"/>
            <a:ext cx="548640" cy="548640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 warn" descr="war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7" y="1755648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1645920"/>
            <a:ext cx="329184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6A2C91"/>
                </a:solidFill>
                <a:latin typeface="Arial"/>
              </a:rPr>
              <a:t>Limitations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7498079" y="237744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S1 (6.5% of data) is weakest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Single database; no cross-dataset test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R&amp;K labels, not AASM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No formal significance tests</a:t>
            </a:r>
          </a:p>
          <a:p>
            <a:pPr marL="285750" indent="-285750">
              <a:spcAft>
                <a:spcPts val="1000"/>
              </a:spcAft>
              <a:buChar char="•"/>
            </a:pPr>
            <a:r>
              <a:rPr sz="2000" b="0" i="0">
                <a:solidFill>
                  <a:srgbClr val="222222"/>
                </a:solidFill>
                <a:latin typeface="Arial"/>
              </a:rPr>
              <a:t>4×4 channel layout not ablated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48640"/>
            <a:ext cx="10515600" cy="868680"/>
          </a:xfrm>
        </p:spPr>
        <p:txBody>
          <a:bodyPr anchor="ctr"/>
          <a:lstStyle/>
          <a:p>
            <a:r>
              <a:rPr sz="4000" b="1" i="0">
                <a:solidFill>
                  <a:srgbClr val="222222"/>
                </a:solidFill>
                <a:latin typeface="Arial"/>
              </a:rPr>
              <a:t>Conclusions and future work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D61A49B-2A57-9774-88AA-46117D53DEE4}"/>
              </a:ext>
            </a:extLst>
          </p:cNvPr>
          <p:cNvGrpSpPr/>
          <p:nvPr/>
        </p:nvGrpSpPr>
        <p:grpSpPr>
          <a:xfrm>
            <a:off x="285674" y="30506"/>
            <a:ext cx="11701900" cy="480834"/>
            <a:chOff x="285674" y="30506"/>
            <a:chExt cx="11701900" cy="48083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9A7A8A-4F4A-E934-FAAA-1305669F46EC}"/>
                </a:ext>
              </a:extLst>
            </p:cNvPr>
            <p:cNvSpPr txBox="1"/>
            <p:nvPr/>
          </p:nvSpPr>
          <p:spPr>
            <a:xfrm>
              <a:off x="285674" y="145223"/>
              <a:ext cx="69828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BioMed Frontiers 2026 | International Conference on Biomedical Innovation</a:t>
              </a:r>
              <a:endParaRPr lang="en-US" sz="160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30C2F2A-83C9-29D7-D322-09CA5A630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593851" y="30506"/>
              <a:ext cx="1393723" cy="480834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8C85-B377-2DB1-EF8F-00D922D8F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9C41-6B9F-4AAA-9F31-D78B57F455E2}" type="slidenum">
              <a:rPr lang="en-GB" smtClean="0"/>
              <a:t>12</a:t>
            </a:fld>
            <a:endParaRPr lang="en-GB"/>
          </a:p>
        </p:txBody>
      </p:sp>
      <p:sp>
        <p:nvSpPr>
          <p:cNvPr id="8" name="Conclusion card"/>
          <p:cNvSpPr/>
          <p:nvPr/>
        </p:nvSpPr>
        <p:spPr>
          <a:xfrm>
            <a:off x="841248" y="1645920"/>
            <a:ext cx="6400800" cy="4389120"/>
          </a:xfrm>
          <a:prstGeom prst="roundRect">
            <a:avLst>
              <a:gd name="adj" fmla="val 6000"/>
            </a:avLst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737360"/>
            <a:ext cx="5852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Best pipeline</a:t>
            </a:r>
          </a:p>
        </p:txBody>
      </p:sp>
      <p:sp>
        <p:nvSpPr>
          <p:cNvPr id="10" name="Icon badge"/>
          <p:cNvSpPr/>
          <p:nvPr/>
        </p:nvSpPr>
        <p:spPr>
          <a:xfrm>
            <a:off x="1097280" y="256032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con img" descr="img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665" y="2673705"/>
            <a:ext cx="340156" cy="3401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0" y="251460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GASF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 encoding</a:t>
            </a:r>
          </a:p>
        </p:txBody>
      </p:sp>
      <p:sp>
        <p:nvSpPr>
          <p:cNvPr id="13" name="Icon badge"/>
          <p:cNvSpPr/>
          <p:nvPr/>
        </p:nvSpPr>
        <p:spPr>
          <a:xfrm>
            <a:off x="1097280" y="3429000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Icon filter" descr="filter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665" y="3542385"/>
            <a:ext cx="340156" cy="3401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28800" y="338328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DWT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resampling to 128 Hz</a:t>
            </a:r>
          </a:p>
        </p:txBody>
      </p:sp>
      <p:sp>
        <p:nvSpPr>
          <p:cNvPr id="16" name="Icon badge"/>
          <p:cNvSpPr/>
          <p:nvPr/>
        </p:nvSpPr>
        <p:spPr>
          <a:xfrm>
            <a:off x="1097280" y="429767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Icon brain" descr="brai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0665" y="4411065"/>
            <a:ext cx="340156" cy="3401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28800" y="4251959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Fine-tuned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ImageNet ViT-B/16</a:t>
            </a:r>
          </a:p>
        </p:txBody>
      </p:sp>
      <p:sp>
        <p:nvSpPr>
          <p:cNvPr id="19" name="Icon badge"/>
          <p:cNvSpPr/>
          <p:nvPr/>
        </p:nvSpPr>
        <p:spPr>
          <a:xfrm>
            <a:off x="1097280" y="5166359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Icon medal" descr="medal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0665" y="5279745"/>
            <a:ext cx="340156" cy="3401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828800" y="5120640"/>
            <a:ext cx="5212080" cy="65836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86.2%</a:t>
            </a:r>
            <a:r>
              <a:rPr sz="2400" b="0" i="0">
                <a:solidFill>
                  <a:srgbClr val="FFFFFF"/>
                </a:solidFill>
                <a:latin typeface="Arial"/>
              </a:rPr>
              <a:t> accuracy, 0.853 macro-F1</a:t>
            </a:r>
          </a:p>
        </p:txBody>
      </p:sp>
      <p:sp>
        <p:nvSpPr>
          <p:cNvPr id="22" name="Future card"/>
          <p:cNvSpPr/>
          <p:nvPr/>
        </p:nvSpPr>
        <p:spPr>
          <a:xfrm>
            <a:off x="7498079" y="1645920"/>
            <a:ext cx="3858768" cy="4389120"/>
          </a:xfrm>
          <a:prstGeom prst="roundRect">
            <a:avLst>
              <a:gd name="adj" fmla="val 6000"/>
            </a:avLst>
          </a:prstGeom>
          <a:solidFill>
            <a:srgbClr val="F1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1737360"/>
            <a:ext cx="347472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6A2C91"/>
                </a:solidFill>
                <a:latin typeface="Arial"/>
              </a:rPr>
              <a:t>Future work</a:t>
            </a:r>
          </a:p>
        </p:txBody>
      </p:sp>
      <p:sp>
        <p:nvSpPr>
          <p:cNvPr id="24" name="Icon badge"/>
          <p:cNvSpPr/>
          <p:nvPr/>
        </p:nvSpPr>
        <p:spPr>
          <a:xfrm>
            <a:off x="7726679" y="265176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Icon layer" descr="layer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0065" y="2765145"/>
            <a:ext cx="340156" cy="3401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12480" y="2560320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Multimodal fusion</a:t>
            </a:r>
          </a:p>
        </p:txBody>
      </p:sp>
      <p:sp>
        <p:nvSpPr>
          <p:cNvPr id="27" name="Icon badge"/>
          <p:cNvSpPr/>
          <p:nvPr/>
        </p:nvSpPr>
        <p:spPr>
          <a:xfrm>
            <a:off x="7726679" y="3749039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on bolt" descr="bol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40065" y="3862425"/>
            <a:ext cx="340156" cy="3401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412480" y="3657599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Lightweight ViTs for edge use</a:t>
            </a:r>
          </a:p>
        </p:txBody>
      </p:sp>
      <p:sp>
        <p:nvSpPr>
          <p:cNvPr id="30" name="Icon badge"/>
          <p:cNvSpPr/>
          <p:nvPr/>
        </p:nvSpPr>
        <p:spPr>
          <a:xfrm>
            <a:off x="7726679" y="4846320"/>
            <a:ext cx="566928" cy="566928"/>
          </a:xfrm>
          <a:prstGeom prst="ellipse">
            <a:avLst/>
          </a:prstGeom>
          <a:solidFill>
            <a:srgbClr val="6A2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Icon db" descr="d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0065" y="4959705"/>
            <a:ext cx="340156" cy="34015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412480" y="4754880"/>
            <a:ext cx="2834640" cy="74980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Arial"/>
              </a:rPr>
              <a:t>Cross-dataset validation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0160" y="1828800"/>
            <a:ext cx="9966960" cy="1828800"/>
          </a:xfrm>
        </p:spPr>
        <p:txBody>
          <a:bodyPr anchor="ctr">
            <a:noAutofit/>
          </a:bodyPr>
          <a:lstStyle/>
          <a:p>
            <a:r>
              <a:rPr sz="6000" b="1" i="0">
                <a:solidFill>
                  <a:srgbClr val="6A2C91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56A496-4F77-3583-3F8B-718D9DBA80B5}"/>
              </a:ext>
            </a:extLst>
          </p:cNvPr>
          <p:cNvSpPr txBox="1"/>
          <p:nvPr/>
        </p:nvSpPr>
        <p:spPr>
          <a:xfrm>
            <a:off x="639297" y="32826"/>
            <a:ext cx="71576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BioMed Frontiers 2026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International Conference on Biomedical Innovation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2D04B73-364B-763C-6356-6B65E41FDF88}"/>
              </a:ext>
            </a:extLst>
          </p:cNvPr>
          <p:cNvSpPr txBox="1">
            <a:spLocks/>
          </p:cNvSpPr>
          <p:nvPr/>
        </p:nvSpPr>
        <p:spPr>
          <a:xfrm>
            <a:off x="1280160" y="3840480"/>
            <a:ext cx="996696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3600" b="0" i="0">
                <a:solidFill>
                  <a:srgbClr val="222222"/>
                </a:solidFill>
                <a:latin typeface="Arial"/>
              </a:rPr>
              <a:t>Questions?</a:t>
            </a:r>
          </a:p>
          <a:p>
            <a:pPr algn="ctr">
              <a:spcBef>
                <a:spcPts val="1400"/>
              </a:spcBef>
            </a:pPr>
            <a:r>
              <a:rPr sz="2000" b="0" i="0">
                <a:solidFill>
                  <a:srgbClr val="666666"/>
                </a:solidFill>
                <a:latin typeface="Arial"/>
              </a:rPr>
              <a:t>janithramanayake523@gmail.com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27911C-0848-35C2-F1D9-7C0729DFB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51" y="160642"/>
            <a:ext cx="1393723" cy="4808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B16FE5-67AF-EC55-1026-D554106B541F}"/>
              </a:ext>
            </a:extLst>
          </p:cNvPr>
          <p:cNvSpPr txBox="1"/>
          <p:nvPr/>
        </p:nvSpPr>
        <p:spPr>
          <a:xfrm>
            <a:off x="639297" y="617537"/>
            <a:ext cx="66266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Paper ID: 45 </a:t>
            </a:r>
            <a:endParaRPr lang="en-US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A627C2F-1A9D-9FB5-8032-6FE0A548C2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594" y="-60006"/>
            <a:ext cx="712435" cy="6947502"/>
          </a:xfrm>
          <a:prstGeom prst="rect">
            <a:avLst/>
          </a:prstGeom>
        </p:spPr>
      </p:pic>
      <p:pic>
        <p:nvPicPr>
          <p:cNvPr id="3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5E5E8475-DC2F-14D7-48F2-CF6706CC06D3}"/>
              </a:ext>
            </a:extLst>
          </p:cNvPr>
          <p:cNvPicPr>
            <a:picLocks/>
          </p:cNvPicPr>
          <p:nvPr/>
        </p:nvPicPr>
        <p:blipFill>
          <a:blip r:embed="rId4" cstate="print"/>
          <a:srcRect r="55514"/>
          <a:stretch>
            <a:fillRect/>
          </a:stretch>
        </p:blipFill>
        <p:spPr>
          <a:xfrm>
            <a:off x="6877516" y="106423"/>
            <a:ext cx="2109170" cy="711201"/>
          </a:xfrm>
          <a:prstGeom prst="rect">
            <a:avLst/>
          </a:prstGeom>
        </p:spPr>
      </p:pic>
      <p:pic>
        <p:nvPicPr>
          <p:cNvPr id="7" name="Image 3" descr="A close-up of a logo  AI-generated content may be incorrect.">
            <a:extLst>
              <a:ext uri="{FF2B5EF4-FFF2-40B4-BE49-F238E27FC236}">
                <a16:creationId xmlns:a16="http://schemas.microsoft.com/office/drawing/2014/main" id="{CFBF7450-3208-9B32-2482-51B84D6C3A78}"/>
              </a:ext>
            </a:extLst>
          </p:cNvPr>
          <p:cNvPicPr>
            <a:picLocks/>
          </p:cNvPicPr>
          <p:nvPr/>
        </p:nvPicPr>
        <p:blipFill>
          <a:blip r:embed="rId4" cstate="print"/>
          <a:srcRect l="72390" t="24311"/>
          <a:stretch>
            <a:fillRect/>
          </a:stretch>
        </p:blipFill>
        <p:spPr>
          <a:xfrm>
            <a:off x="9045683" y="170912"/>
            <a:ext cx="1393723" cy="7112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2130</TotalTime>
  <Words>685</Words>
  <Application>Microsoft Office PowerPoint</Application>
  <PresentationFormat>Widescreen</PresentationFormat>
  <Paragraphs>133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Systematic Evaluation of Signal-to-Image Transformation Pipelines for Vision Transformer-based Sleep Stage Classification</vt:lpstr>
      <vt:lpstr>Why automate sleep staging?</vt:lpstr>
      <vt:lpstr>Research gap and objectives</vt:lpstr>
      <vt:lpstr>Dataset: CAP Sleep Database</vt:lpstr>
      <vt:lpstr>Proposed Pipeline</vt:lpstr>
      <vt:lpstr>Four Signal-to-Image transformations</vt:lpstr>
      <vt:lpstr>GASF performs best</vt:lpstr>
      <vt:lpstr>DWT at 128 Hz is optimal</vt:lpstr>
      <vt:lpstr>Pre-training adds 11+ points</vt:lpstr>
      <vt:lpstr>ViT-B/16 beats other models</vt:lpstr>
      <vt:lpstr>Class-wise results and limitations</vt:lpstr>
      <vt:lpstr>Conclusions and future work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AP02  BIOMOLECULES</dc:title>
  <dc:creator>Suvini Karunaratne</dc:creator>
  <cp:lastModifiedBy>1399</cp:lastModifiedBy>
  <cp:revision>46</cp:revision>
  <dcterms:created xsi:type="dcterms:W3CDTF">2020-02-23T10:07:47Z</dcterms:created>
  <dcterms:modified xsi:type="dcterms:W3CDTF">2026-10-07T17:09:32Z</dcterms:modified>
</cp:coreProperties>
</file>