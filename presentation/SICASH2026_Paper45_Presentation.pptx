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2.jfif" ContentType="image/jpe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9" r:id="rId3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latin typeface="Arial"/>
              </a:rPr>
              <a:t>Epoch share by sleep stage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Epochs (%)</c:v>
                </c:pt>
              </c:strCache>
            </c:strRef>
          </c:tx>
          <c:spPr>
            <a:solidFill>
              <a:srgbClr val="6A2C91"/>
            </a:solidFill>
          </c:spPr>
          <c:dPt>
            <c:idx val="0"/>
            <c:spPr>
              <a:solidFill>
                <a:srgbClr val="A76FC9"/>
              </a:solidFill>
            </c:spPr>
          </c:dPt>
          <c:dPt>
            <c:idx val="1"/>
            <c:spPr>
              <a:solidFill>
                <a:srgbClr val="A76FC9"/>
              </a:solidFill>
            </c:spPr>
          </c:dPt>
          <c:dPt>
            <c:idx val="2"/>
            <c:spPr>
              <a:solidFill>
                <a:srgbClr val="6A2C91"/>
              </a:solidFill>
            </c:spPr>
          </c:dPt>
          <c:dPt>
            <c:idx val="3"/>
            <c:spPr>
              <a:solidFill>
                <a:srgbClr val="A76FC9"/>
              </a:solidFill>
            </c:spPr>
          </c:dPt>
          <c:dPt>
            <c:idx val="4"/>
            <c:spPr>
              <a:solidFill>
                <a:srgbClr val="A76FC9"/>
              </a:solidFill>
            </c:spPr>
          </c:dPt>
          <c:dPt>
            <c:idx val="5"/>
            <c:spPr>
              <a:solidFill>
                <a:srgbClr val="A76FC9"/>
              </a:solidFill>
            </c:spPr>
          </c:dPt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13.5</c:v>
                </c:pt>
                <c:pt idx="1">
                  <c:v>6.5</c:v>
                </c:pt>
                <c:pt idx="2">
                  <c:v>47.7</c:v>
                </c:pt>
                <c:pt idx="3">
                  <c:v>10.5</c:v>
                </c:pt>
                <c:pt idx="4">
                  <c:v>8.6</c:v>
                </c:pt>
                <c:pt idx="5">
                  <c:v>13.3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6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A2C91"/>
            </a:solidFill>
          </c:spPr>
          <c:dPt>
            <c:idx val="0"/>
            <c:spPr>
              <a:solidFill>
                <a:srgbClr val="6A2C91"/>
              </a:solidFill>
            </c:spPr>
          </c:dPt>
          <c:dPt>
            <c:idx val="1"/>
            <c:spPr>
              <a:solidFill>
                <a:srgbClr val="B8B8C0"/>
              </a:solidFill>
            </c:spPr>
          </c:dPt>
          <c:dPt>
            <c:idx val="2"/>
            <c:spPr>
              <a:solidFill>
                <a:srgbClr val="B8B8C0"/>
              </a:solidFill>
            </c:spPr>
          </c:dPt>
          <c:dPt>
            <c:idx val="3"/>
            <c:spPr>
              <a:solidFill>
                <a:srgbClr val="B8B8C0"/>
              </a:solidFill>
            </c:spPr>
          </c:dPt>
          <c:cat>
            <c:strRef>
              <c:f>Sheet1!$A$2:$A$5</c:f>
              <c:strCache>
                <c:ptCount val="4"/>
                <c:pt idx="0">
                  <c:v>GASF</c:v>
                </c:pt>
                <c:pt idx="1">
                  <c:v>GADF</c:v>
                </c:pt>
                <c:pt idx="2">
                  <c:v>MTF</c:v>
                </c:pt>
                <c:pt idx="3">
                  <c:v>Spectrogram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78.5</c:v>
                </c:pt>
                <c:pt idx="1">
                  <c:v>77.2</c:v>
                </c:pt>
                <c:pt idx="2">
                  <c:v>75.8</c:v>
                </c:pt>
                <c:pt idx="3">
                  <c:v>74.1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  <c:min val="6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DWT</c:v>
                </c:pt>
              </c:strCache>
            </c:strRef>
          </c:tx>
          <c:spPr>
            <a:ln w="44450">
              <a:solidFill>
                <a:srgbClr val="6A2C91"/>
              </a:solidFill>
            </a:ln>
          </c:spPr>
          <c:marker>
            <c:size val="9"/>
            <c:spPr>
              <a:solidFill>
                <a:srgbClr val="6A2C91"/>
              </a:solidFill>
              <a:ln>
                <a:solidFill>
                  <a:srgbClr val="6A2C9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64 Hz</c:v>
                </c:pt>
                <c:pt idx="1">
                  <c:v>128 Hz</c:v>
                </c:pt>
                <c:pt idx="2">
                  <c:v>256 Hz</c:v>
                </c:pt>
                <c:pt idx="3">
                  <c:v>512 Hz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75.9</c:v>
                </c:pt>
                <c:pt idx="1">
                  <c:v>80.3</c:v>
                </c:pt>
                <c:pt idx="2">
                  <c:v>79.1</c:v>
                </c:pt>
                <c:pt idx="3">
                  <c:v>78.5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FFT</c:v>
                </c:pt>
              </c:strCache>
            </c:strRef>
          </c:tx>
          <c:spPr>
            <a:ln w="44450">
              <a:solidFill>
                <a:srgbClr val="B8B8C0"/>
              </a:solidFill>
            </a:ln>
          </c:spPr>
          <c:marker>
            <c:size val="9"/>
            <c:spPr>
              <a:solidFill>
                <a:srgbClr val="B8B8C0"/>
              </a:solidFill>
              <a:ln>
                <a:solidFill>
                  <a:srgbClr val="B8B8C0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600" b="1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64 Hz</c:v>
                </c:pt>
                <c:pt idx="1">
                  <c:v>128 Hz</c:v>
                </c:pt>
                <c:pt idx="2">
                  <c:v>256 Hz</c:v>
                </c:pt>
                <c:pt idx="3">
                  <c:v>512 Hz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73.5</c:v>
                </c:pt>
                <c:pt idx="1">
                  <c:v>76.2</c:v>
                </c:pt>
                <c:pt idx="2">
                  <c:v>77.8</c:v>
                </c:pt>
                <c:pt idx="3">
                  <c:v>78.5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600" b="1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2.0"/>
          <c:min val="7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</a:p>
        </c:txPr>
        <c:crossAx val="2118791784"/>
        <c:crosses val="autoZero"/>
        <c:majorUnit val="4.0"/>
      </c:valAx>
    </c:plotArea>
    <c:legend>
      <c:legendPos val="b"/>
      <c:layout/>
      <c:overlay val="0"/>
      <c:txPr>
        <a:bodyPr/>
        <a:lstStyle/>
        <a:p>
          <a:pPr>
            <a:defRPr sz="1800"/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Pre-trained ViT-B/16</c:v>
                </c:pt>
              </c:strCache>
            </c:strRef>
          </c:tx>
          <c:spPr>
            <a:solidFill>
              <a:srgbClr val="6A2C91"/>
            </a:solidFill>
          </c:spPr>
          <c:cat>
            <c:strRef>
              <c:f>Sheet1!$A$2:$A$3</c:f>
              <c:strCache>
                <c:ptCount val="2"/>
                <c:pt idx="0">
                  <c:v>Balanced</c:v>
                </c:pt>
                <c:pt idx="1">
                  <c:v>Imbalanced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86.2</c:v>
                </c:pt>
                <c:pt idx="1">
                  <c:v>80.5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From scratch</c:v>
                </c:pt>
              </c:strCache>
            </c:strRef>
          </c:tx>
          <c:spPr>
            <a:solidFill>
              <a:srgbClr val="B8B8C0"/>
            </a:solidFill>
          </c:spPr>
          <c:cat>
            <c:strRef>
              <c:f>Sheet1!$A$2:$A$3</c:f>
              <c:strCache>
                <c:ptCount val="2"/>
                <c:pt idx="0">
                  <c:v>Balanced</c:v>
                </c:pt>
                <c:pt idx="1">
                  <c:v>Imbalanced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74.8</c:v>
                </c:pt>
                <c:pt idx="1">
                  <c:v>68.3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5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10.0"/>
      </c:valAx>
    </c:plotArea>
    <c:legend>
      <c:legendPos val="b"/>
      <c:overlay val="0"/>
      <c:txPr>
        <a:bodyPr/>
        <a:lstStyle/>
        <a:p>
          <a:pPr>
            <a:defRPr sz="1800"/>
          </a:pPr>
        </a:p>
      </c:txPr>
    </c:legend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A2C91"/>
            </a:solidFill>
          </c:spPr>
          <c:dPt>
            <c:idx val="0"/>
            <c:spPr>
              <a:solidFill>
                <a:srgbClr val="B8B8C0"/>
              </a:solidFill>
            </c:spPr>
          </c:dPt>
          <c:dPt>
            <c:idx val="1"/>
            <c:spPr>
              <a:solidFill>
                <a:srgbClr val="B8B8C0"/>
              </a:solidFill>
            </c:spPr>
          </c:dPt>
          <c:dPt>
            <c:idx val="2"/>
            <c:spPr>
              <a:solidFill>
                <a:srgbClr val="B8B8C0"/>
              </a:solidFill>
            </c:spPr>
          </c:dPt>
          <c:dPt>
            <c:idx val="3"/>
            <c:spPr>
              <a:solidFill>
                <a:srgbClr val="B8B8C0"/>
              </a:solidFill>
            </c:spPr>
          </c:dPt>
          <c:dPt>
            <c:idx val="4"/>
            <c:spPr>
              <a:solidFill>
                <a:srgbClr val="B8B8C0"/>
              </a:solidFill>
            </c:spPr>
          </c:dPt>
          <c:dPt>
            <c:idx val="5"/>
            <c:spPr>
              <a:solidFill>
                <a:srgbClr val="B8B8C0"/>
              </a:solidFill>
            </c:spPr>
          </c:dPt>
          <c:dPt>
            <c:idx val="6"/>
            <c:spPr>
              <a:solidFill>
                <a:srgbClr val="6A2C91"/>
              </a:solidFill>
            </c:spPr>
          </c:dPt>
          <c:cat>
            <c:strRef>
              <c:f>Sheet1!$A$2:$A$8</c:f>
              <c:strCache>
                <c:ptCount val="7"/>
                <c:pt idx="0">
                  <c:v>ResNet-50</c:v>
                </c:pt>
                <c:pt idx="1">
                  <c:v>PVT-Small</c:v>
                </c:pt>
                <c:pt idx="2">
                  <c:v>ViT-B/32</c:v>
                </c:pt>
                <c:pt idx="3">
                  <c:v>DeiT-B</c:v>
                </c:pt>
                <c:pt idx="4">
                  <c:v>BEiT-B</c:v>
                </c:pt>
                <c:pt idx="5">
                  <c:v>Swin-B</c:v>
                </c:pt>
                <c:pt idx="6">
                  <c:v>ViT-B/16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76.2</c:v>
                </c:pt>
                <c:pt idx="1">
                  <c:v>81.8</c:v>
                </c:pt>
                <c:pt idx="2">
                  <c:v>83.2</c:v>
                </c:pt>
                <c:pt idx="3">
                  <c:v>84.3</c:v>
                </c:pt>
                <c:pt idx="4">
                  <c:v>84.6</c:v>
                </c:pt>
                <c:pt idx="5">
                  <c:v>85.1</c:v>
                </c:pt>
                <c:pt idx="6">
                  <c:v>86.2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70.0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latin typeface="Arial"/>
              </a:rPr>
              <a:t>Per-class F1 score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Balanced</c:v>
                </c:pt>
              </c:strCache>
            </c:strRef>
          </c:tx>
          <c:spPr>
            <a:solidFill>
              <a:srgbClr val="6A2C91"/>
            </a:solidFill>
          </c:spPr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0.905</c:v>
                </c:pt>
                <c:pt idx="1">
                  <c:v>0.721</c:v>
                </c:pt>
                <c:pt idx="2">
                  <c:v>0.922</c:v>
                </c:pt>
                <c:pt idx="3">
                  <c:v>0.8</c:v>
                </c:pt>
                <c:pt idx="4">
                  <c:v>0.784</c:v>
                </c:pt>
                <c:pt idx="5">
                  <c:v>0.795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Imbalanced</c:v>
                </c:pt>
              </c:strCache>
            </c:strRef>
          </c:tx>
          <c:spPr>
            <a:solidFill>
              <a:srgbClr val="B8B8C0"/>
            </a:solidFill>
          </c:spPr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0.852</c:v>
                </c:pt>
                <c:pt idx="1">
                  <c:v>0.512</c:v>
                </c:pt>
                <c:pt idx="2">
                  <c:v>0.887</c:v>
                </c:pt>
                <c:pt idx="3">
                  <c:v>0.667</c:v>
                </c:pt>
                <c:pt idx="4">
                  <c:v>0.647</c:v>
                </c:pt>
                <c:pt idx="5">
                  <c:v>0.851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4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0.25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223329-03F0-FF8F-B36F-125319C66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AE4C0-6C13-ACE3-E4D0-367369B332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30534-A088-416E-A2F9-35D140DE51C7}" type="datetimeFigureOut">
              <a:rPr lang="en-US" smtClean="0"/>
              <a:t>02-Oct-26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4B510-C6C8-FC79-60AA-55D1C9A048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B21A2-5BE4-97DB-6582-2D288265E5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4FF4C-B3CD-4FE6-A436-84C841BE6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13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C05B-51E2-45C0-825E-6D2B9E516754}" type="datetimeFigureOut">
              <a:rPr lang="en-US" smtClean="0"/>
              <a:t>02-Oct-26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2BBA8-BED4-4509-B761-494B8FCD1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1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1CBE5-77A0-4FDD-85F7-FC2D1852FEF2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9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F44A-77D3-4BB8-9A23-DA098C140D0C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22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C2B9-7629-4850-85D5-711B31CBC5B4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3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5A0E-08F7-45F6-B9C3-BFE3E108BB1A}" type="datetime1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74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8671-6C49-4FB4-B44C-0EF2DF8CC272}" type="datetime1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46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6E87-C810-4AA2-A0C3-D9F9E17DC1BA}" type="datetime1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09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574A-20FB-4D1F-BE5E-DEF165510D6A}" type="datetime1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77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6B1B-D984-4E94-893A-04A31792E094}" type="datetime1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5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DF240-5094-4DA6-BEA6-75E5E377CA15}" type="datetime1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36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D2B9-55BA-4BF0-819B-00B31A404040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7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5255-AC07-47F9-AA41-C5403224B816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335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7C2D0-045A-4468-98A8-AC6B66F93128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44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fif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chart" Target="../charts/chart2.xml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chart" Target="../charts/chart3.xml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chart" Target="../charts/chart4.xml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chart" Target="../charts/chart5.xml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chart" Target="../charts/chart6.xml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2.png"/><Relationship Id="rId9" Type="http://schemas.openxmlformats.org/officeDocument/2006/relationships/image" Target="../media/image14.png"/><Relationship Id="rId10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fif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1828800"/>
            <a:ext cx="9966960" cy="1828800"/>
          </a:xfrm>
        </p:spPr>
        <p:txBody>
          <a:bodyPr anchor="ctr">
            <a:noAutofit/>
          </a:bodyPr>
          <a:lstStyle/>
          <a:p>
            <a:r>
              <a:rPr sz="3400" b="1" i="0">
                <a:solidFill>
                  <a:srgbClr val="222222"/>
                </a:solidFill>
                <a:latin typeface="Arial"/>
              </a:rPr>
              <a:t>Systematic Evaluation of Signal-to-Image Transformation Pipelines for Vision Transformer-based Sleep Stage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A496-4F77-3583-3F8B-718D9DBA80B5}"/>
              </a:ext>
            </a:extLst>
          </p:cNvPr>
          <p:cNvSpPr txBox="1"/>
          <p:nvPr/>
        </p:nvSpPr>
        <p:spPr>
          <a:xfrm>
            <a:off x="639297" y="32826"/>
            <a:ext cx="715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BioMed Frontiers 2026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Biomedical Innovation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D04B73-364B-763C-6356-6B65E41FDF88}"/>
              </a:ext>
            </a:extLst>
          </p:cNvPr>
          <p:cNvSpPr txBox="1">
            <a:spLocks/>
          </p:cNvSpPr>
          <p:nvPr/>
        </p:nvSpPr>
        <p:spPr>
          <a:xfrm>
            <a:off x="1280160" y="4023360"/>
            <a:ext cx="996696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400" b="0" i="0">
                <a:solidFill>
                  <a:srgbClr val="222222"/>
                </a:solidFill>
                <a:latin typeface="Arial"/>
              </a:rPr>
              <a:t>Janith R.R.H. Ramanayakage and Chandima N.P.G. Arachchige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Arial"/>
              </a:rPr>
              <a:t>Department of Statistics, Faculty of Science, University of Colombo, Sri Lanka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911C-0848-35C2-F1D9-7C0729DF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51" y="160642"/>
            <a:ext cx="1393723" cy="480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B16FE5-67AF-EC55-1026-D554106B541F}"/>
              </a:ext>
            </a:extLst>
          </p:cNvPr>
          <p:cNvSpPr txBox="1"/>
          <p:nvPr/>
        </p:nvSpPr>
        <p:spPr>
          <a:xfrm>
            <a:off x="639297" y="617537"/>
            <a:ext cx="6626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Paper ID: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627C2F-1A9D-9FB5-8032-6FE0A548C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94" y="-60006"/>
            <a:ext cx="712435" cy="6947502"/>
          </a:xfrm>
          <a:prstGeom prst="rect">
            <a:avLst/>
          </a:prstGeom>
        </p:spPr>
      </p:pic>
      <p:pic>
        <p:nvPicPr>
          <p:cNvPr id="3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5E5E8475-DC2F-14D7-48F2-CF6706CC06D3}"/>
              </a:ext>
            </a:extLst>
          </p:cNvPr>
          <p:cNvPicPr>
            <a:picLocks/>
          </p:cNvPicPr>
          <p:nvPr/>
        </p:nvPicPr>
        <p:blipFill>
          <a:blip r:embed="rId4" cstate="print"/>
          <a:srcRect r="55514"/>
          <a:stretch>
            <a:fillRect/>
          </a:stretch>
        </p:blipFill>
        <p:spPr>
          <a:xfrm>
            <a:off x="6877516" y="106423"/>
            <a:ext cx="2109170" cy="711201"/>
          </a:xfrm>
          <a:prstGeom prst="rect">
            <a:avLst/>
          </a:prstGeom>
        </p:spPr>
      </p:pic>
      <p:pic>
        <p:nvPicPr>
          <p:cNvPr id="7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CFBF7450-3208-9B32-2482-51B84D6C3A78}"/>
              </a:ext>
            </a:extLst>
          </p:cNvPr>
          <p:cNvPicPr>
            <a:picLocks/>
          </p:cNvPicPr>
          <p:nvPr/>
        </p:nvPicPr>
        <p:blipFill>
          <a:blip r:embed="rId4" cstate="print"/>
          <a:srcRect l="72390" t="24311"/>
          <a:stretch>
            <a:fillRect/>
          </a:stretch>
        </p:blipFill>
        <p:spPr>
          <a:xfrm>
            <a:off x="9045683" y="170912"/>
            <a:ext cx="1393723" cy="7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49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9B51-D589-9B48-9902-466A83A5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>
            <a:normAutofit/>
          </a:bodyPr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Why automate sleep staging?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8" name="Icon badge"/>
          <p:cNvSpPr/>
          <p:nvPr/>
        </p:nvSpPr>
        <p:spPr>
          <a:xfrm>
            <a:off x="841248" y="1691640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 moon" descr="moo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847088"/>
            <a:ext cx="466344" cy="466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1645920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Sleep disorders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(insomnia, apnoea, narcolepsy) are widespread</a:t>
            </a:r>
          </a:p>
        </p:txBody>
      </p:sp>
      <p:sp>
        <p:nvSpPr>
          <p:cNvPr id="11" name="Icon badge"/>
          <p:cNvSpPr/>
          <p:nvPr/>
        </p:nvSpPr>
        <p:spPr>
          <a:xfrm>
            <a:off x="841248" y="2770632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 wave" descr="wav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2926080"/>
            <a:ext cx="466344" cy="4663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080" y="2724912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Gold standard: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manual scoring of polysomnography (PSG)</a:t>
            </a:r>
          </a:p>
        </p:txBody>
      </p:sp>
      <p:sp>
        <p:nvSpPr>
          <p:cNvPr id="14" name="Icon badge"/>
          <p:cNvSpPr/>
          <p:nvPr/>
        </p:nvSpPr>
        <p:spPr>
          <a:xfrm>
            <a:off x="841248" y="3849624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clock" descr="c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005072"/>
            <a:ext cx="466344" cy="466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83080" y="3803904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Slow and subjective: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hours per night; experts disagree</a:t>
            </a:r>
          </a:p>
        </p:txBody>
      </p:sp>
      <p:sp>
        <p:nvSpPr>
          <p:cNvPr id="17" name="Icon badge"/>
          <p:cNvSpPr/>
          <p:nvPr/>
        </p:nvSpPr>
        <p:spPr>
          <a:xfrm>
            <a:off x="841248" y="4928616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brain" descr="bra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084064"/>
            <a:ext cx="466344" cy="4663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83080" y="4882896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Deep learning: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CNN/RNN → Vision Transformers (ViTs)</a:t>
            </a:r>
          </a:p>
        </p:txBody>
      </p:sp>
      <p:sp>
        <p:nvSpPr>
          <p:cNvPr id="20" name="Stat card"/>
          <p:cNvSpPr/>
          <p:nvPr/>
        </p:nvSpPr>
        <p:spPr>
          <a:xfrm>
            <a:off x="6949440" y="16916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 value"/>
          <p:cNvSpPr txBox="1"/>
          <p:nvPr/>
        </p:nvSpPr>
        <p:spPr>
          <a:xfrm>
            <a:off x="6949440" y="1764792"/>
            <a:ext cx="22860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6A2C91"/>
                </a:solidFill>
                <a:latin typeface="Arial"/>
              </a:rPr>
              <a:t>2–4 h</a:t>
            </a:r>
          </a:p>
        </p:txBody>
      </p:sp>
      <p:sp>
        <p:nvSpPr>
          <p:cNvPr id="22" name="Stat label"/>
          <p:cNvSpPr txBox="1"/>
          <p:nvPr/>
        </p:nvSpPr>
        <p:spPr>
          <a:xfrm>
            <a:off x="7040879" y="2715768"/>
            <a:ext cx="210312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to score one full-night recording</a:t>
            </a:r>
          </a:p>
        </p:txBody>
      </p:sp>
      <p:sp>
        <p:nvSpPr>
          <p:cNvPr id="23" name="Stat card"/>
          <p:cNvSpPr/>
          <p:nvPr/>
        </p:nvSpPr>
        <p:spPr>
          <a:xfrm>
            <a:off x="9418320" y="16916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t value"/>
          <p:cNvSpPr txBox="1"/>
          <p:nvPr/>
        </p:nvSpPr>
        <p:spPr>
          <a:xfrm>
            <a:off x="9418320" y="1764792"/>
            <a:ext cx="22860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6A2C91"/>
                </a:solidFill>
                <a:latin typeface="Arial"/>
              </a:rPr>
              <a:t>82.6%</a:t>
            </a:r>
          </a:p>
        </p:txBody>
      </p:sp>
      <p:sp>
        <p:nvSpPr>
          <p:cNvPr id="25" name="Stat label"/>
          <p:cNvSpPr txBox="1"/>
          <p:nvPr/>
        </p:nvSpPr>
        <p:spPr>
          <a:xfrm>
            <a:off x="9509760" y="2715768"/>
            <a:ext cx="210312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inter-scorer agreement, experienced experts</a:t>
            </a:r>
          </a:p>
        </p:txBody>
      </p:sp>
      <p:sp>
        <p:nvSpPr>
          <p:cNvPr id="26" name="Stat card"/>
          <p:cNvSpPr/>
          <p:nvPr/>
        </p:nvSpPr>
        <p:spPr>
          <a:xfrm>
            <a:off x="6949440" y="370332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t value"/>
          <p:cNvSpPr txBox="1"/>
          <p:nvPr/>
        </p:nvSpPr>
        <p:spPr>
          <a:xfrm>
            <a:off x="6949440" y="3776472"/>
            <a:ext cx="475488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50–70 M</a:t>
            </a:r>
          </a:p>
        </p:txBody>
      </p:sp>
      <p:sp>
        <p:nvSpPr>
          <p:cNvPr id="28" name="Stat label"/>
          <p:cNvSpPr txBox="1"/>
          <p:nvPr/>
        </p:nvSpPr>
        <p:spPr>
          <a:xfrm>
            <a:off x="7040879" y="4727448"/>
            <a:ext cx="457200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US adults living with a sleep disorder</a:t>
            </a:r>
          </a:p>
        </p:txBody>
      </p:sp>
    </p:spTree>
    <p:extLst>
      <p:ext uri="{BB962C8B-B14F-4D97-AF65-F5344CB8AC3E}">
        <p14:creationId xmlns:p14="http://schemas.microsoft.com/office/powerpoint/2010/main" val="423636816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Research gap and objectives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Gap card"/>
          <p:cNvSpPr/>
          <p:nvPr/>
        </p:nvSpPr>
        <p:spPr>
          <a:xfrm>
            <a:off x="841248" y="164592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badge"/>
          <p:cNvSpPr/>
          <p:nvPr/>
        </p:nvSpPr>
        <p:spPr>
          <a:xfrm>
            <a:off x="1005840" y="173736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search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84708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73736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The gap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1005840" y="25146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Prior ViT work uses spectrograms or raw signals only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GASF, GADF and MTF never compared for ViTs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Best sampling rate before imaging unknown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Pre-training value on PSG images unclear</a:t>
            </a:r>
          </a:p>
        </p:txBody>
      </p:sp>
      <p:sp>
        <p:nvSpPr>
          <p:cNvPr id="13" name="Icon badge"/>
          <p:cNvSpPr/>
          <p:nvPr/>
        </p:nvSpPr>
        <p:spPr>
          <a:xfrm>
            <a:off x="6355080" y="173736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lask" descr="flas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84708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1737360"/>
            <a:ext cx="4297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Four experiments</a:t>
            </a:r>
          </a:p>
        </p:txBody>
      </p:sp>
      <p:sp>
        <p:nvSpPr>
          <p:cNvPr id="16" name="Number badge"/>
          <p:cNvSpPr/>
          <p:nvPr/>
        </p:nvSpPr>
        <p:spPr>
          <a:xfrm>
            <a:off x="6355080" y="251460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68880"/>
            <a:ext cx="42976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Image transformation: GASF, GADF, MTF, spectrogram</a:t>
            </a:r>
          </a:p>
        </p:txBody>
      </p:sp>
      <p:sp>
        <p:nvSpPr>
          <p:cNvPr id="18" name="Number badge"/>
          <p:cNvSpPr/>
          <p:nvPr/>
        </p:nvSpPr>
        <p:spPr>
          <a:xfrm>
            <a:off x="6355080" y="333756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91840"/>
            <a:ext cx="42976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Sampling rate: 512 / 256 / 128 / 64 Hz, FFT vs DWT</a:t>
            </a:r>
          </a:p>
        </p:txBody>
      </p:sp>
      <p:sp>
        <p:nvSpPr>
          <p:cNvPr id="20" name="Number badge"/>
          <p:cNvSpPr/>
          <p:nvPr/>
        </p:nvSpPr>
        <p:spPr>
          <a:xfrm>
            <a:off x="6355080" y="416052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114800"/>
            <a:ext cx="42976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Pre-trained vs from-scratch ViT, balanced vs imbalanced</a:t>
            </a:r>
          </a:p>
        </p:txBody>
      </p:sp>
      <p:sp>
        <p:nvSpPr>
          <p:cNvPr id="22" name="Number badge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937760"/>
            <a:ext cx="42976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Seven architectures incl. ResNet-50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Dataset: CAP Sleep Database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Stat card"/>
          <p:cNvSpPr/>
          <p:nvPr/>
        </p:nvSpPr>
        <p:spPr>
          <a:xfrm>
            <a:off x="841248" y="16459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 value"/>
          <p:cNvSpPr txBox="1"/>
          <p:nvPr/>
        </p:nvSpPr>
        <p:spPr>
          <a:xfrm>
            <a:off x="841248" y="1719072"/>
            <a:ext cx="2468880" cy="7543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80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932688" y="2414016"/>
            <a:ext cx="2286000" cy="5760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recordings (6 healthy, 74 patients)</a:t>
            </a:r>
          </a:p>
        </p:txBody>
      </p:sp>
      <p:sp>
        <p:nvSpPr>
          <p:cNvPr id="11" name="Stat card"/>
          <p:cNvSpPr/>
          <p:nvPr/>
        </p:nvSpPr>
        <p:spPr>
          <a:xfrm>
            <a:off x="3474720" y="16459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 value"/>
          <p:cNvSpPr txBox="1"/>
          <p:nvPr/>
        </p:nvSpPr>
        <p:spPr>
          <a:xfrm>
            <a:off x="3474720" y="1719072"/>
            <a:ext cx="2468880" cy="7543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80,667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3566160" y="2414016"/>
            <a:ext cx="2286000" cy="5760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30-second epochs</a:t>
            </a:r>
          </a:p>
        </p:txBody>
      </p:sp>
      <p:sp>
        <p:nvSpPr>
          <p:cNvPr id="14" name="Stat card"/>
          <p:cNvSpPr/>
          <p:nvPr/>
        </p:nvSpPr>
        <p:spPr>
          <a:xfrm>
            <a:off x="841248" y="3200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 value"/>
          <p:cNvSpPr txBox="1"/>
          <p:nvPr/>
        </p:nvSpPr>
        <p:spPr>
          <a:xfrm>
            <a:off x="841248" y="3273552"/>
            <a:ext cx="2468880" cy="7543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16</a:t>
            </a:r>
          </a:p>
        </p:txBody>
      </p:sp>
      <p:sp>
        <p:nvSpPr>
          <p:cNvPr id="16" name="Stat label"/>
          <p:cNvSpPr txBox="1"/>
          <p:nvPr/>
        </p:nvSpPr>
        <p:spPr>
          <a:xfrm>
            <a:off x="932688" y="3968496"/>
            <a:ext cx="2286000" cy="5760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channels at 512 Hz</a:t>
            </a:r>
          </a:p>
        </p:txBody>
      </p:sp>
      <p:sp>
        <p:nvSpPr>
          <p:cNvPr id="17" name="Stat card"/>
          <p:cNvSpPr/>
          <p:nvPr/>
        </p:nvSpPr>
        <p:spPr>
          <a:xfrm>
            <a:off x="3474720" y="3200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 value"/>
          <p:cNvSpPr txBox="1"/>
          <p:nvPr/>
        </p:nvSpPr>
        <p:spPr>
          <a:xfrm>
            <a:off x="3474720" y="3273552"/>
            <a:ext cx="2468880" cy="7543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6</a:t>
            </a:r>
          </a:p>
        </p:txBody>
      </p:sp>
      <p:sp>
        <p:nvSpPr>
          <p:cNvPr id="19" name="Stat label"/>
          <p:cNvSpPr txBox="1"/>
          <p:nvPr/>
        </p:nvSpPr>
        <p:spPr>
          <a:xfrm>
            <a:off x="3566160" y="3968496"/>
            <a:ext cx="2286000" cy="5760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stages: Wake, S1–S4, REM</a:t>
            </a:r>
          </a:p>
        </p:txBody>
      </p:sp>
      <p:sp>
        <p:nvSpPr>
          <p:cNvPr id="20" name="Validation note"/>
          <p:cNvSpPr/>
          <p:nvPr/>
        </p:nvSpPr>
        <p:spPr>
          <a:xfrm>
            <a:off x="841248" y="4754880"/>
            <a:ext cx="5102352" cy="109728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800600"/>
            <a:ext cx="48920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6A2C91"/>
                </a:solidFill>
                <a:latin typeface="Arial"/>
              </a:rPr>
              <a:t>Subject-wise 5-fold CV: </a:t>
            </a:r>
            <a:r>
              <a:rPr sz="1800" b="0" i="0">
                <a:solidFill>
                  <a:srgbClr val="222222"/>
                </a:solidFill>
                <a:latin typeface="Arial"/>
              </a:rPr>
              <a:t>no subject in both train and test</a:t>
            </a:r>
          </a:p>
        </p:txBody>
      </p:sp>
      <p:graphicFrame>
        <p:nvGraphicFramePr>
          <p:cNvPr id="22" name="Chart"/>
          <p:cNvGraphicFramePr>
            <a:graphicFrameLocks noGrp="1"/>
          </p:cNvGraphicFramePr>
          <p:nvPr/>
        </p:nvGraphicFramePr>
        <p:xfrm>
          <a:off x="6217920" y="1600200"/>
          <a:ext cx="5394960" cy="4297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Proposed pipeline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Figure backing"/>
          <p:cNvSpPr/>
          <p:nvPr/>
        </p:nvSpPr>
        <p:spPr>
          <a:xfrm>
            <a:off x="1794248" y="1371600"/>
            <a:ext cx="8603197" cy="429768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Figure 1 pipeline" descr="fig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408" y="1508760"/>
            <a:ext cx="8328877" cy="402336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841248" y="5760720"/>
            <a:ext cx="7680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66666"/>
                </a:solidFill>
                <a:latin typeface="Arial"/>
              </a:rPr>
              <a:t>Figure 1. Overall five-stage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Four signal-to-image transformations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Method card"/>
          <p:cNvSpPr/>
          <p:nvPr/>
        </p:nvSpPr>
        <p:spPr>
          <a:xfrm>
            <a:off x="84124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badge"/>
          <p:cNvSpPr/>
          <p:nvPr/>
        </p:nvSpPr>
        <p:spPr>
          <a:xfrm>
            <a:off x="1709928" y="18288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img" descr="img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2" y="1975104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" y="26060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GASF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0"/>
            <a:ext cx="2286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cos(φᵢ + φⱼ)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84048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Summed angles; preserves global temporal correlation</a:t>
            </a:r>
          </a:p>
        </p:txBody>
      </p:sp>
      <p:sp>
        <p:nvSpPr>
          <p:cNvPr id="14" name="Method card"/>
          <p:cNvSpPr/>
          <p:nvPr/>
        </p:nvSpPr>
        <p:spPr>
          <a:xfrm>
            <a:off x="349300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on badge"/>
          <p:cNvSpPr/>
          <p:nvPr/>
        </p:nvSpPr>
        <p:spPr>
          <a:xfrm>
            <a:off x="4361688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 layer" descr="lay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1975104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4448" y="26060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GADF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108960"/>
            <a:ext cx="2286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sin(φᵢ − φⱼ)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84048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Difference of angles; less globally coherent</a:t>
            </a:r>
          </a:p>
        </p:txBody>
      </p:sp>
      <p:sp>
        <p:nvSpPr>
          <p:cNvPr id="20" name="Method card"/>
          <p:cNvSpPr/>
          <p:nvPr/>
        </p:nvSpPr>
        <p:spPr>
          <a:xfrm>
            <a:off x="614476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con badge"/>
          <p:cNvSpPr/>
          <p:nvPr/>
        </p:nvSpPr>
        <p:spPr>
          <a:xfrm>
            <a:off x="7013448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 cogs" descr="cog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1975104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36207" y="26060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MTF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3108960"/>
            <a:ext cx="2286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Markov transition probs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84048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32 bins; quantisation loss, slow (5 s/epoch)</a:t>
            </a:r>
          </a:p>
        </p:txBody>
      </p:sp>
      <p:sp>
        <p:nvSpPr>
          <p:cNvPr id="26" name="Method card"/>
          <p:cNvSpPr/>
          <p:nvPr/>
        </p:nvSpPr>
        <p:spPr>
          <a:xfrm>
            <a:off x="879652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con badge"/>
          <p:cNvSpPr/>
          <p:nvPr/>
        </p:nvSpPr>
        <p:spPr>
          <a:xfrm>
            <a:off x="9665207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 wave" descr="wav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1511" y="1975104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87967" y="26060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Spectrogram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3108960"/>
            <a:ext cx="2286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STFT, Hamming 256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384048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Fixed time–frequency resolution</a:t>
            </a:r>
          </a:p>
        </p:txBody>
      </p:sp>
      <p:sp>
        <p:nvSpPr>
          <p:cNvPr id="32" name="Takeaway card"/>
          <p:cNvSpPr/>
          <p:nvPr/>
        </p:nvSpPr>
        <p:spPr>
          <a:xfrm>
            <a:off x="841248" y="516636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 bolt" descr="bo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848" y="5330952"/>
            <a:ext cx="493776" cy="493776"/>
          </a:xfrm>
          <a:prstGeom prst="rect">
            <a:avLst/>
          </a:prstGeom>
        </p:spPr>
      </p:pic>
      <p:sp>
        <p:nvSpPr>
          <p:cNvPr id="34" name="Takeaway"/>
          <p:cNvSpPr txBox="1"/>
          <p:nvPr/>
        </p:nvSpPr>
        <p:spPr>
          <a:xfrm>
            <a:off x="1728216" y="5166360"/>
            <a:ext cx="93268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16 images → 4×4 grid → 224×224×3 → ViT-B/16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GASF performs best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78.5%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GASF accuracy (macro-F1 0.773)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5.0 s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MTF time per epoch vs 0.2 s for GASF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GASF ≈ GADF; both clearly beat MTF and spectrogram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DWT at 128 Hz is optimal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80.3%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DWT @ 128 Hz (macro-F1 0.791)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+1.8 pp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over original 512 Hz signals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DWT beats FFT at every reduced rate; peak at 128 Hz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Pre-training adds 11+ points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+11.4 pp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balanced: 86.2% vs 74.8%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+12.2 pp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imbalanced: 80.5% vs 68.3%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Balancing (DCGAN, training folds only) adds ≈ 5.7 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ViT-B/16 beats other models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86.2%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ViT-B/16 (macro-F1 0.853)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+10.0 pp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over ResNet-50 CNN baseline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Transformers outperform the CNN; PVT-Small is the efficient 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Class-wise results and limitations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graphicFrame>
        <p:nvGraphicFramePr>
          <p:cNvPr id="8" name="Chart"/>
          <p:cNvGraphicFramePr>
            <a:graphicFrameLocks noGrp="1"/>
          </p:cNvGraphicFramePr>
          <p:nvPr/>
        </p:nvGraphicFramePr>
        <p:xfrm>
          <a:off x="548640" y="1554480"/>
          <a:ext cx="6492240" cy="4480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Icon badge"/>
          <p:cNvSpPr/>
          <p:nvPr/>
        </p:nvSpPr>
        <p:spPr>
          <a:xfrm>
            <a:off x="7498079" y="164592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warn" descr="war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7" y="175564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164592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Limitations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7498079" y="23774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S1 (6.5% of data) is weakest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Single database; no cross-dataset test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R&amp;K labels, not AASM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No formal significance tests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4×4 channel layout not ablated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Conclusions and future 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sp>
        <p:nvSpPr>
          <p:cNvPr id="8" name="Conclusion card"/>
          <p:cNvSpPr/>
          <p:nvPr/>
        </p:nvSpPr>
        <p:spPr>
          <a:xfrm>
            <a:off x="841248" y="1645920"/>
            <a:ext cx="6400800" cy="438912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Best pipeline</a:t>
            </a:r>
          </a:p>
        </p:txBody>
      </p:sp>
      <p:sp>
        <p:nvSpPr>
          <p:cNvPr id="10" name="Icon badge"/>
          <p:cNvSpPr/>
          <p:nvPr/>
        </p:nvSpPr>
        <p:spPr>
          <a:xfrm>
            <a:off x="1097280" y="25603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 img" descr="img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65" y="2673705"/>
            <a:ext cx="340156" cy="3401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2514600"/>
            <a:ext cx="521208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GASF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image encoding</a:t>
            </a:r>
          </a:p>
        </p:txBody>
      </p:sp>
      <p:sp>
        <p:nvSpPr>
          <p:cNvPr id="13" name="Icon badge"/>
          <p:cNvSpPr/>
          <p:nvPr/>
        </p:nvSpPr>
        <p:spPr>
          <a:xfrm>
            <a:off x="1097280" y="342900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ilter" descr="filter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665" y="3542385"/>
            <a:ext cx="340156" cy="340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28800" y="3383280"/>
            <a:ext cx="521208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DWT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resampling to 128 Hz</a:t>
            </a:r>
          </a:p>
        </p:txBody>
      </p:sp>
      <p:sp>
        <p:nvSpPr>
          <p:cNvPr id="16" name="Icon badge"/>
          <p:cNvSpPr/>
          <p:nvPr/>
        </p:nvSpPr>
        <p:spPr>
          <a:xfrm>
            <a:off x="1097280" y="4297679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 brain" descr="brain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665" y="4411065"/>
            <a:ext cx="340156" cy="3401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0" y="4251959"/>
            <a:ext cx="521208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Fine-tuned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ImageNet ViT-B/16</a:t>
            </a:r>
          </a:p>
        </p:txBody>
      </p:sp>
      <p:sp>
        <p:nvSpPr>
          <p:cNvPr id="19" name="Icon badge"/>
          <p:cNvSpPr/>
          <p:nvPr/>
        </p:nvSpPr>
        <p:spPr>
          <a:xfrm>
            <a:off x="1097280" y="5166359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 medal" descr="medal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665" y="5279745"/>
            <a:ext cx="340156" cy="3401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0" y="5120640"/>
            <a:ext cx="521208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86.2%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accuracy, 0.853 macro-F1</a:t>
            </a:r>
          </a:p>
        </p:txBody>
      </p:sp>
      <p:sp>
        <p:nvSpPr>
          <p:cNvPr id="22" name="Future card"/>
          <p:cNvSpPr/>
          <p:nvPr/>
        </p:nvSpPr>
        <p:spPr>
          <a:xfrm>
            <a:off x="7498079" y="1645920"/>
            <a:ext cx="3858768" cy="438912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1737360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A2C91"/>
                </a:solidFill>
                <a:latin typeface="Arial"/>
              </a:rPr>
              <a:t>Future work</a:t>
            </a:r>
          </a:p>
        </p:txBody>
      </p:sp>
      <p:sp>
        <p:nvSpPr>
          <p:cNvPr id="24" name="Icon badge"/>
          <p:cNvSpPr/>
          <p:nvPr/>
        </p:nvSpPr>
        <p:spPr>
          <a:xfrm>
            <a:off x="7726679" y="2651760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layer" descr="lay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065" y="2765145"/>
            <a:ext cx="340156" cy="3401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0" y="2560320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Multimodal fusion</a:t>
            </a:r>
          </a:p>
        </p:txBody>
      </p:sp>
      <p:sp>
        <p:nvSpPr>
          <p:cNvPr id="27" name="Icon badge"/>
          <p:cNvSpPr/>
          <p:nvPr/>
        </p:nvSpPr>
        <p:spPr>
          <a:xfrm>
            <a:off x="7726679" y="3749039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 bolt" descr="bol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065" y="3862425"/>
            <a:ext cx="340156" cy="3401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12480" y="3657599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Lightweight ViTs for edge use</a:t>
            </a:r>
          </a:p>
        </p:txBody>
      </p:sp>
      <p:sp>
        <p:nvSpPr>
          <p:cNvPr id="30" name="Icon badge"/>
          <p:cNvSpPr/>
          <p:nvPr/>
        </p:nvSpPr>
        <p:spPr>
          <a:xfrm>
            <a:off x="7726679" y="4846320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 db" descr="db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0065" y="4959705"/>
            <a:ext cx="340156" cy="3401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12480" y="4754880"/>
            <a:ext cx="28346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Cross-dataset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1828800"/>
            <a:ext cx="9966960" cy="1828800"/>
          </a:xfrm>
        </p:spPr>
        <p:txBody>
          <a:bodyPr anchor="ctr">
            <a:noAutofit/>
          </a:bodyPr>
          <a:lstStyle/>
          <a:p>
            <a:r>
              <a:rPr sz="6000" b="1" i="0">
                <a:solidFill>
                  <a:srgbClr val="6A2C91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A496-4F77-3583-3F8B-718D9DBA80B5}"/>
              </a:ext>
            </a:extLst>
          </p:cNvPr>
          <p:cNvSpPr txBox="1"/>
          <p:nvPr/>
        </p:nvSpPr>
        <p:spPr>
          <a:xfrm>
            <a:off x="639297" y="32826"/>
            <a:ext cx="715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BioMed Frontiers 2026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Biomedical Innovation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D04B73-364B-763C-6356-6B65E41FDF88}"/>
              </a:ext>
            </a:extLst>
          </p:cNvPr>
          <p:cNvSpPr txBox="1">
            <a:spLocks/>
          </p:cNvSpPr>
          <p:nvPr/>
        </p:nvSpPr>
        <p:spPr>
          <a:xfrm>
            <a:off x="1280160" y="3840480"/>
            <a:ext cx="996696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0" i="0">
                <a:solidFill>
                  <a:srgbClr val="222222"/>
                </a:solidFill>
                <a:latin typeface="Arial"/>
              </a:rPr>
              <a:t>Questions?</a:t>
            </a:r>
          </a:p>
          <a:p>
            <a:pPr algn="ctr">
              <a:spcBef>
                <a:spcPts val="1400"/>
              </a:spcBef>
            </a:pPr>
            <a:r>
              <a:rPr sz="2000" b="0" i="0">
                <a:solidFill>
                  <a:srgbClr val="666666"/>
                </a:solidFill>
                <a:latin typeface="Arial"/>
              </a:rPr>
              <a:t>janithramanayake523@gmail.com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911C-0848-35C2-F1D9-7C0729DF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51" y="160642"/>
            <a:ext cx="1393723" cy="480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B16FE5-67AF-EC55-1026-D554106B541F}"/>
              </a:ext>
            </a:extLst>
          </p:cNvPr>
          <p:cNvSpPr txBox="1"/>
          <p:nvPr/>
        </p:nvSpPr>
        <p:spPr>
          <a:xfrm>
            <a:off x="639297" y="617537"/>
            <a:ext cx="6626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Paper ID: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627C2F-1A9D-9FB5-8032-6FE0A548C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94" y="-60006"/>
            <a:ext cx="712435" cy="6947502"/>
          </a:xfrm>
          <a:prstGeom prst="rect">
            <a:avLst/>
          </a:prstGeom>
        </p:spPr>
      </p:pic>
      <p:pic>
        <p:nvPicPr>
          <p:cNvPr id="3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5E5E8475-DC2F-14D7-48F2-CF6706CC06D3}"/>
              </a:ext>
            </a:extLst>
          </p:cNvPr>
          <p:cNvPicPr>
            <a:picLocks/>
          </p:cNvPicPr>
          <p:nvPr/>
        </p:nvPicPr>
        <p:blipFill>
          <a:blip r:embed="rId4" cstate="print"/>
          <a:srcRect r="55514"/>
          <a:stretch>
            <a:fillRect/>
          </a:stretch>
        </p:blipFill>
        <p:spPr>
          <a:xfrm>
            <a:off x="6877516" y="106423"/>
            <a:ext cx="2109170" cy="711201"/>
          </a:xfrm>
          <a:prstGeom prst="rect">
            <a:avLst/>
          </a:prstGeom>
        </p:spPr>
      </p:pic>
      <p:pic>
        <p:nvPicPr>
          <p:cNvPr id="7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CFBF7450-3208-9B32-2482-51B84D6C3A78}"/>
              </a:ext>
            </a:extLst>
          </p:cNvPr>
          <p:cNvPicPr>
            <a:picLocks/>
          </p:cNvPicPr>
          <p:nvPr/>
        </p:nvPicPr>
        <p:blipFill>
          <a:blip r:embed="rId4" cstate="print"/>
          <a:srcRect l="72390" t="24311"/>
          <a:stretch>
            <a:fillRect/>
          </a:stretch>
        </p:blipFill>
        <p:spPr>
          <a:xfrm>
            <a:off x="9045683" y="170912"/>
            <a:ext cx="1393723" cy="711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</TotalTime>
  <Words>58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ARIAL 45</vt:lpstr>
      <vt:lpstr>Heading Arial 40</vt:lpstr>
      <vt:lpstr>Heading Arial 40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AP02  BIOMOLECULES</dc:title>
  <dc:creator>Suvini Karunaratne</dc:creator>
  <cp:lastModifiedBy>Suvini Karunaratne</cp:lastModifiedBy>
  <cp:revision>43</cp:revision>
  <dcterms:created xsi:type="dcterms:W3CDTF">2020-02-23T10:07:47Z</dcterms:created>
  <dcterms:modified xsi:type="dcterms:W3CDTF">2026-10-02T07:57:25Z</dcterms:modified>
</cp:coreProperties>
</file>